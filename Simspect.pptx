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7" r:id="rId4"/>
    <p:sldId id="263" r:id="rId5"/>
    <p:sldId id="265" r:id="rId6"/>
    <p:sldId id="266" r:id="rId7"/>
    <p:sldId id="335" r:id="rId8"/>
    <p:sldId id="336" r:id="rId9"/>
    <p:sldId id="259" r:id="rId10"/>
    <p:sldId id="264" r:id="rId11"/>
    <p:sldId id="338" r:id="rId12"/>
    <p:sldId id="340" r:id="rId13"/>
    <p:sldId id="341" r:id="rId14"/>
    <p:sldId id="342" r:id="rId15"/>
    <p:sldId id="343" r:id="rId16"/>
    <p:sldId id="344" r:id="rId17"/>
    <p:sldId id="26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67"/>
    <p:restoredTop sz="83979"/>
  </p:normalViewPr>
  <p:slideViewPr>
    <p:cSldViewPr snapToGrid="0">
      <p:cViewPr>
        <p:scale>
          <a:sx n="104" d="100"/>
          <a:sy n="104" d="100"/>
        </p:scale>
        <p:origin x="108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4:31.270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1261 0,'77'4,"0"0,5 0,1-2,4-1,1-2,0 1,-2 0,-11 0,-4 0,-12 0,-3 0,29 0,-24 0,-6 0,-17 0,-15 5,-21 11,-40 37,-1-9,-7 5,-15 13,-7 2,11-12,-4 2,-2 0,-8 2,-3 0,-3 0,12-10,-3 0,0 0,-3 0,-5 2,-1 0,-2 0,2-2,3-4,1-1,1-1,1 0,-19 8,2-2,3-2,13-6,3-3,2-2,-14 8,4-4,11-6,4-2,-24 7,31-14,27-8,27-4,50-3,3-5,10-2,-1-1,7-1,4-1,18 0,6-2,2-1,-20 2,1-1,2-1,0-1,5-1,0-1,2 0,0-1,2 1,0-2,0 1,-2 1,-5 0,-3 0,0 1,0-1,20-2,0 1,-5 1,-13 3,-3 0,-5 2,16-1,-6 2,-11 0,-5 0,29 3,-37 0,-28 0,-17 0,-67 27,-28 8,5-4,-7 3,-3 1,-2 1,2-2,0-1,3-2,2-1,3-1,2-1,6-5,2 0,2-1,3-1,12-2,4-1,-22 8,21-3,9-7,6-3,5 1,7-1,7-1,4 1,26 7,24-3,25 6,25-4,-3 0,-5 5,-3 2,-10 2,-4-1,-11-4,-11-2,-13-5,-7-4,-6-4,-7-2,-1-2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4:33.249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1408 0,'51'4,"1"-1,12 0,10-1,6-1,11 0,8-2,4 1,2 0,-12 0,2 0,2 0,2 0,2 0,-5 0,1 0,3 0,1 0,0 0,0 0,-13 0,2 0,0 0,1 0,-1 0,-2 0,0 0,6 0,-2 0,0 0,-1 0,1 0,0 0,5 0,0 0,1 0,-1 0,0 0,-1 0,-4 0,-1 0,-1 0,0 0,-1 0,-1 0,11 0,-1 0,0 0,-1 0,1 0,-13 0,2 0,0 0,-2 0,-1 0,-4 0,18 0,-3 0,-3 0,-4 0,11 0,-5 0,-6 0,12 0,-10 0,-25 0,-5 0,-6 0,-6 0,6 0,-26 0,-25 0,-50 10,-12 9,-16 8,6-2,-10 5,-8 2,-7 4,14-6,-7 3,-4 2,-4 1,-3 1,-2 1,-1 1,16-8,-1 2,-2 0,-2 1,-1 0,-1 1,-2-1,1 2,-2-1,1 0,8-3,-2 1,0 0,-1 0,-1 1,-1 0,1 0,0-1,0 1,1-1,0 0,2-1,-2 1,0 0,1 0,-1-1,2 1,-1-1,2 0,0-1,1 1,0-2,2 1,-9 2,1 0,1 0,0-1,2 0,0-1,2 0,2-1,0 1,-10 3,2-1,2 1,1-2,1 0,3-1,1 0,-14 4,4-2,1-1,2 0,0 1,3 0,-1 0,2 0,2 0,3-2,-1 2,3-1,2-1,2 0,3-1,2-2,1 0,1 0,-13 5,2 0,4-3,-14 6,7-3,22-7,7-3,-16 9,29-12,22-8,24-5,53-3,4-2,12-2,-10 0,5-2,5 0,-2-1,3 0,4-1,2 0,-4 0,2-1,3 0,2 0,1 0,-1 0,2 1,3-1,0 0,2 1,2 0,-4 0,1 1,2-1,0 1,2 0,0 0,0 1,-7 0,0 0,1 0,1 0,0 1,-1-1,0 1,-2 0,9 0,0 0,-1 1,0-1,-1 1,0 0,-1 0,10-1,-1 0,-1 1,0-1,-1 1,-1 1,-5 0,-1 1,0 0,-1 0,-1 1,0 1,-4 0,-1 1,-1 1,-1 0,0 0,-1 0,9 2,0 0,-2 0,-2 2,-2-1,6 4,-2 0,-3 1,-4-1,8 3,-5 0,-4 0,10 3,-5 0,-8-1,-6-1,25 6,-35-8,-26-2,-13-1,-6 4,-10 3,-30 12,-14-2,-12 3,-4-2,-6 2,-6 1,2 0,-5 2,-4 0,-2 2,1-2,-4 1,-2 1,-2 1,-2-1,3-2,-1 1,-3 0,-1 0,-1 0,-2 0,5-2,-1 1,-2 0,-1-1,0 1,1 0,0-2,3 0,0 0,0-1,0 0,1-1,-1 1,1-1,-11 4,0 0,-1-1,2 0,1-1,3 0,-6 1,3-1,1 0,2-1,1 0,10-3,1 0,1-1,2 0,-1-1,-12 6,-1-1,3 0,2 0,-12 5,3 0,0 0,3 0,1 0,2-2,9-3,2-1,2 0,2-1,1-1,3 0,-13 6,6-2,13-8,6-1,-22 8,27-9,18-7,16-4,97-6,-27-6,9-2,6-2,10-2,3-1,-11 1,3-2,2 1,3-1,14-2,3 0,4 0,3 1,-25 2,2 1,2 0,2 0,0 0,1 1,8 0,2 0,0 1,2 0,0 0,1 1,-12 0,2 1,0-1,0 1,0 1,0-1,-1 1,13 0,-1 0,0 0,-1 0,0 1,-1-1,-3 1,0-1,-1 1,-1 0,-1 0,-3-1,7 1,-3 0,-1 0,-3 0,-1 0,7 0,-2 0,-3 0,-2-1,-9 1,-1 0,-2 0,-4 0,5 0,-4 0,-2 0,23 0,-7 0,-25 1,-8 1,15 3,-31 1,-17 2,-12 2,-31 18,-45 23,-2-9,-12 2,3-3,-6 3,-3-1,17-8,-1 1,-2-1,-2 2,-10 4,-1 1,-3 0,0 1,15-8,-1 0,0 0,-1 0,1 0,-2 1,-1 1,1-1,0 1,1-1,-15 7,2-1,1 0,3 0,9-4,1-1,3 0,2-1,-12 8,4-2,2-1,13-5,1-2,2 0,-1 2,1 0,3-2,-6 5,5-3,15-5,3-2,-17 12,18-14,8-3,11-7,7-2,13-4,59-3,25-4,-11-3,15-1,4 0,-11 0,3 0,2 0,0 0,5 0,2 0,0 0,-2 0,-2-1,1 0,-4-1,-6 1,-6-1,-5 0,-6-1,4-1,-7-1,31-4,-31 4,-25 1,-15 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4:38.131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1031 1,'61'0,"-1"0,0 0,0 0,-1 0,1 0,1 0,1 0,6 0,0 0,3 0,0 0,-1 0,2 0,1 0,0 0,-8 0,-1 0,0 0,-1 0,-4 0,-1 0,-2 0,-1 0,3 0,1 0,8 0,2 0,-3 0,0 0,4 0,0 0,-2 0,-1 0,-7 0,0 0,6 0,0 0,-1 0,-2 0,-3 0,-1 0,-3 0,-1 0,-4 0,-1 0,49 0,-6 0,-16 0,3 0,-9 0,1 0,3 0,-15 0,6 3,0 1,1 1,6 2,-1-1,7-1,2-1,13 1,-9 1,-3 4,-10 0,-8-5,9 2,-4-3,7 4,-4 0,-2 0,-1 1,-5-4,-6 2,1-2,-3 0,5-2,0-2,0-1,10 4,1 1,6 1,-8-2,-11-4,-3 0,-3 0,3 0,3 3,-2 1,4 1,1 2,0-2,5 4,1-1,3-3,0 3,-8-3,-5-1,-6 3,-5-4,-1 1,-5 0,-2-3,0-1,2 0,2 0,0 0,2 0,-1 0,-4 0,-6 3,-9 1,-5 0,-5-1,0-3,-109 29,14-2,21-9,-9 2,0-1,5 0,1 0,-6 0,-5-1,-5 0,-5 1,1-1,-7 2,-2-1,-1 0,0 0,-4 0,-1-1,-1-1,1-1,2-2,-1-1,2-1,4-2,-10-1,4-2,-1-2,20-1,-1-1,-1-1,2-1,-21 1,1-2,3 0,11 1,2-1,2-1,10-1,1-1,3-2,-18-5,4-3,8-3,2-3,2-1,1-1,8 4,1 0,7 1,1 1,-45-13,45 15,1-1,-47-11,-2 4,1 4,46 8,0 2,0 1,0 1,-4 0,0-1,-1 0,0 1,0 2,0 0,1-2,1 0,-45 0,7-4,10-3,2 2,-1-2,-9 3,-8-2,-1 1,46 7,-1 0,0 0,-1 1,0 1,-2 0,-1 1,-1 0,2-1,0 1,0 0,0 0,4 0,2 0,-44 0,2 0,0 0,4 0,4 0,0 0,0 3,-2 1,4 4,10 0,8 1,6-1,6-3,6-1,1 0,1 1,0-1,-10 0,1-4,3 0,4 0,7 0,4 0,4 0,7 0,7 2,5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01.273"/>
    </inkml:context>
    <inkml:brush xml:id="br0">
      <inkml:brushProperty name="width" value="0.3" units="cm"/>
      <inkml:brushProperty name="height" value="0.6" units="cm"/>
      <inkml:brushProperty name="color" value="#00B44B"/>
      <inkml:brushProperty name="tip" value="rectangle"/>
      <inkml:brushProperty name="rasterOp" value="maskPen"/>
    </inkml:brush>
  </inkml:definitions>
  <inkml:trace contextRef="#ctx0" brushRef="#br0">0 1,'82'0,"-31"0,4 0,15 0,9 0,-1 0,8 0,4 0,-13 0,3 0,1 0,0 0,1 0,-1 0,1 0,-2 0,19 0,-1 0,-2 0,-9 0,-2 0,0 0,-3 0,-1 0,4 0,-9 0,2 0,2 0,1 0,5 0,2 0,0 0,0 0,-1 0,-1 0,1 0,1 0,2 0,1 0,-1 0,-2 0,-9 0,-1 0,-1 0,-2 0,19 0,-1-1,-3 2,-8 1,-2 1,-2 2,-7 0,-2 1,-2 1,23 4,-3 1,-5 2,-2 0,-7 0,-1 0,-4 0,-1 0,0 0,-3-1,-11-1,-3 0,38 5,-18-1,-9-4,-7-2,-11-4,-9-4,-9-2,-7 0,-4 0,4 0,-5 0,24 0,15 0,18 0,18 0,-2 0,0 3,6 2,-5 3,2 1,0 1,-10-1,-8 0,-13-1,-6-3,-5 2,-3-2,-4-1,-5 2,-1-2,-5 0,-1-1,-4 0,-5 0,-5 0,2 0,-4-3,-62 0,40 0,-53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06.1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1,'70'0,"1"0,-1 0,10 0,1 0,1 0,1 0,1 0,3 0,-10 0,3 0,3 0,0 0,10 0,2 0,1 0,-1 0,-2 0,-1 0,0 0,2 0,4 0,1 0,0 0,-2 0,-7 0,-2 0,-1 0,0 0,-4 0,-1 0,0 0,0 0,2 0,2 0,-2 0,-1 0,18 0,-2 0,-1 0,-6 0,-1 0,-3 0,-6 0,-2 0,-2 0,-8 0,-1 0,-1 0,28 0,-2 0,-5 0,-1 0,-3 0,-1 0,-2 0,0 0,-11 0,-2 0,-5 0,-1 0,2 0,2 0,1 0,2 0,15 0,3 0,6 0,3 0,-27 0,1 0,0 0,6 0,0 0,1 0,1 0,1 0,0 0,3 0,1 0,-2 0,-6 0,-3 0,-1 0,28 0,-3 0,-10 0,-2 0,-10 2,-2 1,2-1,-2 1,-7 2,-3 1,-12 0,-2 0,32 3,-13 2,-5-2,7-3,-2-1,-5-1,-7 0,-8 1,-7-2,-9-2,-6-1,-4 0,-5 0,-72 0,44 0,-55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11.0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0,'75'0,"17"0,-33 0,3 0,12 0,2 0,4 0,2 0,1 0,0 0,2 0,-2 0,-13 0,1 0,14 0,2 0,-8 0,-1 0,-3 0,-1 0,4 0,-3 0,-17 0,-2 0,4 0,0 0,-1 0,-1 0,-2 0,0 0,2 0,0 0,-3 0,0 0,2 0,1 0,-1 0,-1 0,44 0,-17 0,-18 0,-9 0,-2 0,2 0,-2 0,-3 0,-1 0,-1 0,0 0,0 0,0 0,0 0,0 0,-5 0,-2 0,-4 0,-4 0,-1 0,-4 0,-2 0,-5 0,-3 0,-5 0,5 0,-5 0,4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17.3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0 183,'85'-6,"-33"3,0 0,44 3,-37 0,3 0,4 0,5 0,-2 0,4 0,-3 0,7 0,0 0,15 0,-4 0,-34 0,-5 0,42 0,5 0,-8 0,-11 0,-9 0,4 0,-2 0,-6 0,4 0,-5 0,8 0,-4 0,0 0,-4 0,-9 0,-4 0,-9 0,-5 0,-2 0,-5 0,-4 0,-4 0,-6 0,0 0,4 0,-2 0,0 0,7 0,13-6,21-7,21-5,5-7,2 1,-6 0,-15 5,-12 6,-17 4,-14 5,-6-2,-86 2,-4 1,-17 0,31 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23.783"/>
    </inkml:context>
    <inkml:brush xml:id="br0">
      <inkml:brushProperty name="width" value="0.3" units="cm"/>
      <inkml:brushProperty name="height" value="0.6" units="cm"/>
      <inkml:brushProperty name="color" value="#EF0C4D"/>
      <inkml:brushProperty name="tip" value="rectangle"/>
      <inkml:brushProperty name="rasterOp" value="maskPen"/>
    </inkml:brush>
  </inkml:definitions>
  <inkml:trace contextRef="#ctx0" brushRef="#br0">0 1,'82'0,"9"0,-28 0,4 0,10 0,3 0,13 0,3 0,-27 0,2 0,1 0,0 0,0 0,1 0,7 0,2 0,1 0,2 0,0 0,-1 0,-6 0,-1 0,-1 0,-3 0,0 0,-1 0,-1 0,-1 0,1 0,4 0,1 0,2 0,8 0,1 0,1 0,1 0,0 0,-1 0,0 0,-1 0,-2 0,-5 0,-1 0,-1 0,-1 0,-1 0,-1 0,-4 0,-1 0,0 0,-3 0,0 0,0 0,4 0,0 0,0 0,2 0,1 0,0 0,6 0,1 0,-2 0,-9 0,-1 0,-1 0,27 0,-4 0,-13 0,-3 0,-5 0,0 0,7 0,-1 0,-8 0,-1 0,-1 0,-1 0,-9 0,-3 0,42 0,-10 0,-9 0,-6 0,-2 0,-6 0,0 0,-5 0,-7 0,-6 0,-15 0,-6 0,-9 0,-4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34.8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530 0,'57'0,"1"0,4 0,1 0,7 0,3 0,12 0,2 0,7 0,2 0,3 0,1 0,-2 0,-2 0,-2 0,-4 0,-12 0,-4 0,-11 0,-5 0,35 0,-18 0,-2 0,-6 0,-17 0,-14 0,-16 2,-11 3,-26 25,-14 13,-15 21,0 4,0 1,-2 3,-7 6,-5 2,28-39,0-2,-27 33,4-8,8-15,10-9,1-2,8-5,3 0,5-7,5-6,1-3,3-4,1 1,1-4,-25-3,-10-4,-21-3,-18 0,32 0,-3 0,-10 0,-3 0,-14 0,-3 0,0 0,0 0,-1 0,0 0,-1 1,1-2,9-2,2-2,4 1,3-2,9-1,4-1,-31-9,20 7,23-1,16 4,11 3,83 1,-6 3,6 0,7 0,-8 1,0-2,6-3,2-1,0 0,3-1,15-2,3-2,-27 2,2 0,-1 1,-1 1,-1 1,1 0,0 0,0 0,-2 0,16-1,-3 1,-2-1,-2 0,-7 0,-3-1,-9 1,-3 1,30-3,-26 4,-5 0,-17 0,-9 1,-8-1,-5 1,-1-2,3-2,9-1,9-2,5-1,3-1,-4-3,-8 4,-4 1,-8 2,-3 2,-4-2,0 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36.1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12,'52'-3,"1"0,5 0,2 1,-1 1,1 2,8-1,-4 0,16 0,-21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42.9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501 1,'92'0,"-38"0,1 0,5 0,2 0,14 0,5 0,10 0,2 0,1 0,0 0,-11 0,-2 0,-4 0,-2 0,-8 0,-2 0,-6 0,1 0,1 0,0 0,-6 0,-2 0,1 0,-2 0,45 3,-12 7,-13 9,-2 6,0 9,-2 1,1 2,0 3,6 2,-1 1,0 0,-7-4,-12-8,-15-6,-10-5,-8-5,-4 0,-6-2,-6 0,-7 3,-15 5,-21 3,-31 11,18-14,-6 0,-9 2,-4 0,-12 6,-3-1,-2-2,-2-2,-3 1,1-2,11-2,1-2,5-5,1-1,3 0,1-1,5-2,0 0,-3-1,0 0,8-2,2-1,-40 1,15-5,4-1,11-1,-8 0,-1 0,-1-4,-1-5,5-4,7-5,13 3,12 2,14 2,7 2,2 2,85 1,-17 6,12 3,5 2,-17 2,-2 1,3 2,-1 0,-1-1,-1 1,43 9,-8 0,-16-3,-4 0,-12 1,-4 1,1 5,-3-1,-5 1,-8-1,-5-3,-10-2,-4-6,-1-2,0-2,-3 6,-4 3,-4 13,-2 3,0 2,0-2,0-3,0-4,0-4,0-4,-5-2,-12 1,-20 6,-25-1,-18 1,-11-2,40-11,0-1,-1-1,1 0,0-1,-1-1,0-1,2-1,-40 2,11-5,12 0,14 0,5 0,2 0,-3 0,-4 0,-5-3,-2-4,2-1,2 0,5 3,4 4,7 0,5 1,4 0,1 0,-3-1,-5 1,-1 0,2 0,4 0,3 0,3 0,4 0,5 0,5 3,2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7:25:59.8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1,'57'0,"0"0,18 0,5 0,-12 0,3 0,4 0,12 0,4 0,0 0,-5 0,0 0,1 0,5 0,0 0,0 0,-3 0,1 0,-1 0,1 0,-1 0,-1 0,-7 0,0 0,-4 0,22 0,-6 0,-15 0,-6 0,-19 0,-4 0,46 0,-29 0,-23 0,-15 0,-9 0,-10 2,-38 34,-29 13,4-6,-6 4,-14 5,-7 2,18-14,-3 2,-3-1,-11 6,-4 0,-1 0,15-10,-1 0,0-1,0-2,-18 7,0-1,1-3,3-3,2-2,2-2,14-8,3-2,1 0,-21 5,5-2,15-4,5 0,-22 8,25-8,25-9,4 2,17-4,49 3,18-6,-8-1,3-1,0-2,0-2,-1 1,-2 0,44 3,3 5,2 2,-42-3,2 0,4 1,-1 0,-2-1,-1 2,-4 0,-2 1,41 9,-10-1,-6 1,3 0,2 0,-1-4,-7-2,-14-5,-11 0,-15-1,-8-3,-8-1,-3-3,-1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8:47:18.978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520 0,'57'0,"-1"0,1 0,0 0,3 0,0 0,-3 0,0 0,-1 0,0 0,-1 0,-1 0,4 0,0 0,-3 0,-2 0,36 0,-31 0,-34 2,-24 4,-36 5,-21 3,-27 4,-11 1,44-11,-1 0,-6 0,-2-1,-2 1,0 0,-1-1,1-1,0 0,0-1,0 0,0 0,2-2,1 1,1 0,0 2,7-1,1 0,-30 4,20-1,16-1,13 0,8-4,4 2,6 2,45 20,18 1,-2-3,5 1,6-2,2-1,8 4,0 1,2 1,-1 1,-4-3,-2 0,-4 0,-2 1,-2-1,0 0,1 0,0-1,0 1,-2-1,-7-3,-2 0,29 12,-22-8,-15-6,-10-6,-12-2,-5 0,-24 6,-27 2,-23 8,-19-2,-8 7,-5-2,44-14,0 0,-3 1,1-2,-42 11,14-3,19-7,22-2,11-4,15-5,58-3,8-4,10 0,8 0,5 0,0 0,3 0,0 0,4 0,-2 0,-12 0,-2 0,-5 0,-1 0,-7 2,-2 0,30 2,-22 4,-21 1,-9 1,-12 2,-10 2,-16 6,-32 10,-35 20,16-18,-5 1,-13 6,-2 2,-2 0,-1 1,-1-2,1-1,5-1,3-1,6-4,3-2,5-3,3-2,-27 14,25-14,22-9,16-5,18-2,38-4,35-2,-16-3,5-1,14 0,4 0,15 0,2 0,0 0,-1 0,-1 0,-2 0,-5 0,-2 0,-10 0,-3 0,-3 0,-3 0,-10 0,-3 0,27 0,-20 0,-11 0,-14 3,-12 2,-10 3,-59 22,-28 6,6-9,-9 3,-6 2,-3 1,25-10,-1 0,0 1,-6 1,0 1,2 0,-26 10,4 1,15-6,3 1,10-5,3 0,14-4,2-1,-40 16,12-4,26-7,18-8,12-3,10-2,59-3,33-4,0-5,11-1,-26 0,1-2,3 1,12 0,3 0,0 0,7 0,0 0,-3 0,-11 1,-3 0,0 0,-5 0,-1 0,-3 1,20 2,-5 1,-12 2,-2 0,4 1,-2 0,-14 0,-5 0,28 6,-28-3,-27 0,-16 4,-21 7,-36 8,-45 8,23-16,-7 0,-11 2,-3 0,-7 3,-2 1,28-9,-1 0,0 0,-27 8,2-1,8-1,3-1,8-4,4 1,8-2,2 1,2-1,1 0,5-2,1-1,-32 10,26-7,17-3,22-4,92-5,7-3,4-3,9-2,-2 1,0 0,-1 1,-1 2,-2 0,-2 3,-6 0,-4 3,-13 1,-2 0,-1 0,-3 1,32 8,-27-2,-22-2,-15-1,-13-2,-7 4,-13 0,-21 4,-32 4,15-11,-5 1,-10 2,-5 0,-6-1,-3 0,2-1,0 1,0-3,0 0,3-1,1 1,5-1,1 0,3 0,3-1,-34 10,22-2,23-5,14-5,12-2,12 0,34 15,5-4,58 15,-29-17,4-1,6 2,3 1,8 0,1 0,-1 0,0 0,-10-1,1 0,5 1,0 1,-3-1,-1 0,-9-1,-1 0,-2 0,-3 0,32 9,-24-3,-18-5,-18-3,-12 0,-9-2,-10 6,-14-4,-18 4,-32-2,-18 1,36-9,-2 0,-3 0,-2-1,4-1,-1 0,-2-2,0-1,2 2,3-1,-36 2,15-1,17-1,17-3,11-1,15 0,6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25:59.255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499 44,'69'0,"0"0,25 0,8 0,-9 0,6 0,2 0,-19 0,1 0,1 0,-1 0,-1 0,1-1,-1 1,-1 1,1 0,-1 0,0 0,-1 1,-1 1,-2 0,1 0,-2 1,19 2,-1 0,-1 1,-3-1,-1 0,-7 1,4 0,-6 1,-6 0,-3-1,-6-1,-5 0,20 4,-27-5,-144-5,40-1,-4-1,-38-1,-5 0,7-4,-2-2,23 2,-3-1,-1 0,-5-1,-2 0,-1 0,-2 0,-2 0,0 1,-2 0,-1 1,-1 0,0 1,0 1,0 0,1 2,0 0,1 0,-1 0,1 1,2 0,9 1,1 1,3 0,-23 0,4 0,8 0,2 0,11-1,3 2,6 0,2 2,-38 11,25 7,19 6,9 0,14-2,11 0,9-1,6 4,6-3,21 7,21 4,30 6,-21-17,3-1,10 2,4 0,11 3,4-2,-1-1,2 0,5 2,2-2,0-1,1 0,2-2,1 0,-2-2,-1-2,-5 0,-1-1,-4-2,0 0,-2-1,-1 0,-1 1,-2 1,-6-4,-3 1,-8 1,-3 0,37 12,-20-4,-25-4,-12-5,-14-1,-7-2,-7 0,-22 10,-37 0,5-3,-7-1,-21 0,-7-1,13-1,-4-1,-2 0,-9 0,-2 0,-2 0,-8 3,-3-1,1 0,5-2,1 1,1-1,5-1,2 1,1 0,5-1,2 1,2-1,-20 2,5 1,4-2,4 0,18-4,5 0,-21 6,27-3,19-2,16-5,108-2,-10-3,7 0,6-1,-21 0,0 0,7 1,2 3,4 3,1 3,7 2,1 1,-30-2,1 2,-2-1,27 6,-3 1,-10-2,-2 1,-8 0,-3 2,-2-1,0 0,4 2,0 0,-1 0,-1 0,-7-1,-2-2,36 13,-26-5,-22-6,-17-2,-13-2,-9-4,-4 3,-23 7,-32 7,-32 4,18-13,-7-1,-16 2,-7 0,20-5,-3 0,-2 1,-10 1,-3 1,0-1,20-5,-1 1,0-2,1 1,-18 2,2-1,2 1,5-2,1 1,3-1,8-2,2 0,3 0,-14 4,3 0,7-1,5 0,-26 5,31-2,26-3,30-4,89-1,-31-3,6 1,4-2,6 1,1 0,0 1,2 1,1 0,10 1,2-1,1 1,5 0,1 1,1-1,4 0,0 1,-1-1,-9 0,-1 0,-1 1,-6 0,-2 0,-2 1,-6-1,-2 1,-2-1,24 6,-2-1,-4-1,-5 0,-18-3,-5-2,27 6,-34-5,-19-4,-9-1,-7 1,-1-2,-1-1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27:21.481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1061 1,'63'0,"8"0,8 0,-6 0,14 0,-2 0,-14 0,3 0,-24 0,2 0,4 0,-14 0,-6 0,-11 0,-6 0,-67 28,-5 5,-14 3,-10 6,5 2,-4 2,15-10,-2 2,-2 1,-4 2,-2 2,1-1,3-2,-1-1,1 0,0 1,0-1,2-1,5-3,0-1,2 0,-23 13,2-1,7-4,3-1,16-10,3-2,-28 16,31-21,20-6,13-6,12-1,48 2,9-3,-3-3,6-2,3-1,2-2,12 0,5 0,13-1,4-1,-26 0,1 0,1 0,5 0,1 0,-1 0,-6 0,0 0,-2 0,30 0,-3 0,-7 0,-4 0,-13 0,-2 0,-8 0,-4 0,31 0,-24 2,-12 2,-10 2,-15 2,-14 1,-8 8,-23 12,-31 13,8-11,-6 2,-19 10,-6 2,14-9,-4 2,-1 0,-5 4,-2 1,0-1,3-3,0-2,1-1,5-2,0-1,3-2,-11 6,5-2,12-8,3 0,2-1,3-2,-19 9,9-5,17-9,21-6,70-9,11-13,-2-2,6-4,-5-2,1-3,10-2,2 0,3-1,-1 1,-6 3,-1 0,-7 3,-2 2,-5 2,-1 1,0 1,-1 1,3-1,0 0,-3 1,-2 1,41-4,-23 5,-19 5,-17 1,-15 1,-5 0,-5 0,-1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34:01.306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52,'55'0,"-5"0,-14 0,1 0,0 0,0 0,14 0,0 0,7 0,-3 0,-11 0,7 0,-3 0,8 0,-5 0,-6 0,3 0,0 0,7 0,5 0,2 0,3 0,-1 0,-1 0,1 0,-4 0,3 0,-4 0,-1 0,-2 0,-6 0,-1 0,-1-3,7-1,7-3,4-1,3-1,1 0,-1 4,1 1,-1 3,1 0,5 1,-3 0,-3 0,-2 0,-10 0,-6 0,-3 0,-6 0,0 2,4 2,-2 0,-2 2,0-2,-1 0,2-1,3-3,0 0,0 0,-4 0,-2 0,-4 0,-1 0,1 0,-3 0,0 0,-4 0,-1 0,0 0,3 0,1 0,4 0,4 3,3 1,3 1,0 1,-1-2,0 0,-4 2,-2-3,0 0,1 1,2-3,0 0,-4-1,-3 0,1 0,-2 3,-1 0,-1 1,-4-1,-5-3,0 0,-5 0,-4 2,4 1,-7 0,11 0,-10-1,2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9T19:45:32.710"/>
    </inkml:context>
    <inkml:brush xml:id="br0">
      <inkml:brushProperty name="width" value="0.3" units="cm"/>
      <inkml:brushProperty name="height" value="0.6" units="cm"/>
      <inkml:brushProperty name="color" value="#FF40FF"/>
      <inkml:brushProperty name="tip" value="rectangle"/>
      <inkml:brushProperty name="rasterOp" value="maskPen"/>
    </inkml:brush>
  </inkml:definitions>
  <inkml:trace contextRef="#ctx0" brushRef="#br0">0 227,'61'0,"7"0,19 0,6 0,-41 0,1 0,12 0,2 0,-2 0,0 0,15 0,2 0,-6 0,-2 0,-11 0,0 0,1 0,-1 0,-8 0,-1 0,3 0,-1 0,-5 0,-1 0,44 0,-11 0,-11 0,-9 0,-15 0,-5 1,-1 2,-2 2,2 0,-1-1,1 2,0-2,4 0,4-1,1 0,4 1,1 2,-1 1,0 0,-1 0,-1-4,-5 2,2-2,5 0,4 3,8-2,2 0,3 2,-1-2,0 4,-4-1,-4 0,2 0,-4 0,0 0,-3 0,-9-1,-5 0,-6 1,1 2,-2 0,2 0,-4-2,-7 0,-1-1,-4 0,0-1,-1-1,1 0,-1-1,-1 0,0 0,0-1,0 1,1 0,0-1,1 0,2 1,1-1,0 1,-1-3,-2 0,-1 0,0 2,0 1,-3 0,0-1,-1-2,-4 0,2 0,2 0,-4 0,5 0,-1 0,-5 0,6 0,-5 0,3 0,1 0,-5 0,11 0,-6 0,9 0,-6 0,1-2,3-1,1-2,0-3,1-1,-4-1,0 1,-2 1,-2 1,2 1,1 0,-3 0,-2 3,-4 0,1-5,-16-14,-18-13,-21-15,-10 2,-2 3,8 8,1 4,3 4,8 5,2 8,0 1,0 3,-7 0,-3 2,-5 1,-3 2,-3 2,-3 1,0 4,0-1,-6 1,-9 0,-13 0,5 0,-2 0,3 2,1 4,-13 5,0 6,0 3,-4 3,3 1,5-1,2 1,8-4,4 2,-1 0,0 2,-3-2,0 0,6-4,9 1,5-1,1-2,-3 0,-3 1,3 1,0-1,3 0,0-2,-6-1,2 0,-4 1,2-1,0 0,5-1,1-2,6-3,8-3,-3 1,2 0,-5 1,1 0,-2-2,-3 1,-1-2,-8 3,-2 0,0-3,5-1,5-2,6-1,0 0,4 0,2 0,1 0,-1 0,-8 0,0 0,1 0,3 2,4 1,1 0,3 0,4-3,1 0,3 0,1 0,2 0,5 0,2 0,1 0,2 0,-4 0,4-2,-7-6,7-3,-4-5,6 3,1 0,2 4,-1-1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E9B03D-DEF5-024A-BD3E-FE428BF8D543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1DC94-EC44-6747-96C1-E36C99C47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7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647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92F34-44FD-2796-A881-46D1FF286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59F9F-2E21-D23D-310A-CE7DF79B7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2BD29-8379-4C8C-AC32-64667B362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7C2CED-A974-BFAB-4AE0-72EA9B374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729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96A7-90D3-9D6D-4FF3-89ED9EE6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9C325-391C-D115-1B2E-BABB7C898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7F9D9-704C-9DBF-A0D8-B381D998E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A344D-D7F3-C35A-37EA-B0295A702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670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all design decisions we are making</a:t>
            </a:r>
          </a:p>
          <a:p>
            <a:r>
              <a:rPr lang="en-US" dirty="0"/>
              <a:t>Most of them figured out, but I want to be able to defend why we did each thing in the paper or if someone 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745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7151C-F1C0-01DA-BE5A-6DAD212EF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27E46-0A49-56A0-55CA-20A87BF49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B43CF-8D06-2E8B-8AC3-5211127468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all design decisions we are making</a:t>
            </a:r>
          </a:p>
          <a:p>
            <a:r>
              <a:rPr lang="en-US" dirty="0"/>
              <a:t>Most of them figured out, but I want to be able to defend why we did each thing in the paper or if someone 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390EB-DE30-D6AB-7BA4-CA4B64781B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4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order commits changing </a:t>
            </a:r>
            <a:r>
              <a:rPr lang="en-US" dirty="0" err="1"/>
              <a:t>prot</a:t>
            </a:r>
            <a:r>
              <a:rPr lang="en-US" dirty="0"/>
              <a:t> set in different order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526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12FE8-5B19-A37B-5BFD-15B88F6E1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5BAF4-517E-8BA4-AD04-876AB23D9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83456-6A59-2C5A-7CC9-4614C0EF7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1279A-43FB-1670-3675-5E0829D03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1DC94-EC44-6747-96C1-E36C99C471B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03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D477-A583-D32A-BA7A-0AA54AF0A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1A1FE-852D-8644-4193-91E0A0F48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F6EB6-545A-6009-AC7A-2776CE3B1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A1787-3CF0-9465-BC59-CE95A407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34F2F-E7FF-2460-7FD0-2EBBA3882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088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13AC5-2A14-B49E-F2AB-C55802453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FC901-4A45-2C05-DFDC-04CDDE40D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F014C-2961-B157-79D0-7F2AEB94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78904-AEFB-85B6-8BDB-321FB9FC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5B1F-7AC1-679E-B5AB-93C8FE91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82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98ACA-E88C-228E-6412-04682D77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77E31-5128-4B00-5768-B99B6280E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18943-252B-82C6-EAF5-E3BD093FF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03FA0-4FD0-C7BA-BF8A-DFA3ECCEB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5B265-BCCE-107B-E240-7917E1C7D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0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8135-8E58-4384-54E8-A00DBED98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D76E-1B7A-D32C-D4FC-3CC1B7C734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53306-8ACD-5B2C-46CB-53CC36D8F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751DB-FD55-D620-0710-834BF12AB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99C88E-5DEE-F281-B271-8BB30528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79FB-AC58-800D-3951-45D5F9299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651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2B180-D3EC-C86E-936F-903FC9159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E70C6-2439-F97F-3F5A-70AAF1ECB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87F28-F484-E99A-3A9F-53E8A42D58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0B37D2-8E1B-71AC-5006-342753F556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8CDD09-E197-1351-73A9-BA9C0124F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30D06-2D8F-3BEF-E876-64735E1D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ACE24A-165E-9438-8D5E-BB35F5886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F65C4D-9D53-0ADC-1735-7CA76CF0F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89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CA35F-3359-E85E-58C4-80400452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398522-CFDD-9EEC-FEE4-DB90104A1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C381C3-308C-A38B-481C-E07753D2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513E-2380-26B7-FBEF-6AA07898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CE485E-5E7D-D201-6674-C1C7F318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B7F30-290C-4F34-5A12-6C399D893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7B30E-7222-0AE1-C215-0BCB0D7B0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66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D1E1-CD3D-08DD-164F-CB43BDEE5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8A5CA-E800-317D-78A1-ACFC3CF1C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B9E93E-46AC-55B9-7926-08740D7FB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AE017-E5CF-BB28-89B3-6A73156F9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2E8B7-0BCC-50AB-DD93-44F805EB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F7131-FD0B-A750-E2C0-44200063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8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F9492-D88E-B6C5-A236-6107BBBA2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4A195-CCDB-1FB4-737B-70A56B38A9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F1737-1055-103E-B433-53F1EDDFE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8158D-170C-4B28-2E38-541054BF7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120CA-9711-FC31-F43C-D182682F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220DB3-EB89-155F-68FD-9511AFA0C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42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7E8EB-C165-533E-0A81-DB31B0603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5D3A8-9248-92A8-56E6-033C45764B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58F37-B6A9-A0A7-832C-B39E563E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F6239-C6DC-91C4-F2BB-367934A2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77629-701A-F835-770F-1B0B15668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524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B62AC9-A421-D2DC-70D2-3F56CAFDA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AF1B0E-52D2-7A7C-40D0-C16A7467F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F5695-C985-05EA-BE36-9340AC83C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C780B-248E-41DF-D7AB-890062EF5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47779-5EC9-777D-3A31-48BB41B0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398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035" y="669276"/>
            <a:ext cx="10277149" cy="650699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1274237" y="1401469"/>
            <a:ext cx="10267951" cy="4548593"/>
          </a:xfrm>
        </p:spPr>
        <p:txBody>
          <a:bodyPr/>
          <a:lstStyle>
            <a:lvl1pPr>
              <a:defRPr sz="2400" cap="none"/>
            </a:lvl1pPr>
          </a:lstStyle>
          <a:p>
            <a:pPr lvl="0"/>
            <a:r>
              <a:rPr lang="en-US" dirty="0"/>
              <a:t>Click to edit text, or click icon to insert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9393" y="6415618"/>
            <a:ext cx="1128183" cy="3619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33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C8580F89-A3EA-CF4C-A13C-CD8A0A8D4F1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84504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8986E-39CD-DD24-E557-BCCA6CFED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E02F6D-2338-E0A5-9DD2-5C6FDD5E0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C9F99-81BC-3087-A859-0B5D7276F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ED57-0CA1-0F47-9679-F5624C40A512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3DB029-1E39-1D00-3EDB-11C16789D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91A32-ACA0-D645-5456-223565DE0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7A8DE7-9092-B946-8FD8-3BDCCAABB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530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8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customXml" Target="../ink/ink3.xml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36.png"/><Relationship Id="rId47" Type="http://schemas.openxmlformats.org/officeDocument/2006/relationships/customXml" Target="../ink/ink7.xml"/><Relationship Id="rId50" Type="http://schemas.openxmlformats.org/officeDocument/2006/relationships/image" Target="../media/image40.png"/><Relationship Id="rId55" Type="http://schemas.openxmlformats.org/officeDocument/2006/relationships/customXml" Target="../ink/ink1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customXml" Target="../ink/ink2.xml"/><Relationship Id="rId40" Type="http://schemas.openxmlformats.org/officeDocument/2006/relationships/image" Target="../media/image35.png"/><Relationship Id="rId45" Type="http://schemas.openxmlformats.org/officeDocument/2006/relationships/customXml" Target="../ink/ink6.xml"/><Relationship Id="rId53" Type="http://schemas.openxmlformats.org/officeDocument/2006/relationships/customXml" Target="../ink/ink10.xml"/><Relationship Id="rId58" Type="http://schemas.openxmlformats.org/officeDocument/2006/relationships/image" Target="../media/image44.png"/><Relationship Id="rId5" Type="http://schemas.openxmlformats.org/officeDocument/2006/relationships/image" Target="../media/image3.pn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customXml" Target="../ink/ink1.xml"/><Relationship Id="rId43" Type="http://schemas.openxmlformats.org/officeDocument/2006/relationships/customXml" Target="../ink/ink5.xml"/><Relationship Id="rId48" Type="http://schemas.openxmlformats.org/officeDocument/2006/relationships/image" Target="../media/image39.png"/><Relationship Id="rId56" Type="http://schemas.openxmlformats.org/officeDocument/2006/relationships/image" Target="../media/image43.png"/><Relationship Id="rId8" Type="http://schemas.openxmlformats.org/officeDocument/2006/relationships/image" Target="../media/image6.svg"/><Relationship Id="rId51" Type="http://schemas.openxmlformats.org/officeDocument/2006/relationships/customXml" Target="../ink/ink9.xml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4.png"/><Relationship Id="rId46" Type="http://schemas.openxmlformats.org/officeDocument/2006/relationships/image" Target="../media/image38.png"/><Relationship Id="rId20" Type="http://schemas.openxmlformats.org/officeDocument/2006/relationships/image" Target="../media/image18.svg"/><Relationship Id="rId41" Type="http://schemas.openxmlformats.org/officeDocument/2006/relationships/customXml" Target="../ink/ink4.xml"/><Relationship Id="rId54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3.png"/><Relationship Id="rId49" Type="http://schemas.openxmlformats.org/officeDocument/2006/relationships/customXml" Target="../ink/ink8.xml"/><Relationship Id="rId57" Type="http://schemas.openxmlformats.org/officeDocument/2006/relationships/customXml" Target="../ink/ink12.xml"/><Relationship Id="rId10" Type="http://schemas.openxmlformats.org/officeDocument/2006/relationships/image" Target="../media/image8.svg"/><Relationship Id="rId31" Type="http://schemas.openxmlformats.org/officeDocument/2006/relationships/image" Target="../media/image29.png"/><Relationship Id="rId44" Type="http://schemas.openxmlformats.org/officeDocument/2006/relationships/image" Target="../media/image37.png"/><Relationship Id="rId52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dl.acm.org/doi/10.1145/3613424.3623770" TargetMode="External"/><Relationship Id="rId3" Type="http://schemas.openxmlformats.org/officeDocument/2006/relationships/hyperlink" Target="https://dl.acm.org/doi/10.1109/PACT.2019.00020" TargetMode="External"/><Relationship Id="rId7" Type="http://schemas.openxmlformats.org/officeDocument/2006/relationships/hyperlink" Target="https://cwfletcher.github.io/content/research/2021.micro.spt.paper.pdf" TargetMode="External"/><Relationship Id="rId2" Type="http://schemas.openxmlformats.org/officeDocument/2006/relationships/hyperlink" Target="https://iacoma.cs.uiuc.edu/iacoma-papers/micro19_2.pdf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iacoma.cs.uiuc.edu/iacoma-papers/isca20_2.pdf" TargetMode="External"/><Relationship Id="rId5" Type="http://schemas.openxmlformats.org/officeDocument/2006/relationships/hyperlink" Target="https://dl.acm.org/doi/pdf/10.1145/3307650.3322216" TargetMode="External"/><Relationship Id="rId4" Type="http://schemas.openxmlformats.org/officeDocument/2006/relationships/hyperlink" Target="https://dl.acm.org/doi/10.1145/3352460.3358306" TargetMode="External"/><Relationship Id="rId9" Type="http://schemas.openxmlformats.org/officeDocument/2006/relationships/hyperlink" Target="https://dl.acm.org/doi/abs/10.1145/3579371.3589088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17.xml"/><Relationship Id="rId4" Type="http://schemas.openxmlformats.org/officeDocument/2006/relationships/image" Target="../media/image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19.xml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21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customXml" Target="../ink/ink23.xml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8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E29D6-3800-352E-F509-60A6740DC2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SimSpect 1/9/2026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47D2AB-A931-6BE4-186E-01365F15F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Where are we?</a:t>
            </a:r>
          </a:p>
        </p:txBody>
      </p:sp>
    </p:spTree>
    <p:extLst>
      <p:ext uri="{BB962C8B-B14F-4D97-AF65-F5344CB8AC3E}">
        <p14:creationId xmlns:p14="http://schemas.microsoft.com/office/powerpoint/2010/main" val="1413356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466A6-4B4D-C2DA-B043-04FCE303E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SimSpect final pipeline design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161F5BAF-17A2-2CBE-4558-17570B999AA8}"/>
              </a:ext>
            </a:extLst>
          </p:cNvPr>
          <p:cNvGrpSpPr/>
          <p:nvPr/>
        </p:nvGrpSpPr>
        <p:grpSpPr>
          <a:xfrm>
            <a:off x="251872" y="1452133"/>
            <a:ext cx="11529758" cy="5344596"/>
            <a:chOff x="251872" y="1452133"/>
            <a:chExt cx="11529758" cy="534459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8D95068A-F9BB-CA1D-506D-E9BE1978EB1C}"/>
                </a:ext>
              </a:extLst>
            </p:cNvPr>
            <p:cNvSpPr txBox="1"/>
            <p:nvPr/>
          </p:nvSpPr>
          <p:spPr>
            <a:xfrm>
              <a:off x="9595436" y="231762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implementation </a:t>
              </a:r>
              <a:endParaRPr lang="en-US" sz="1400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7303AC0-26F7-B31C-4D14-26E0588428B0}"/>
                </a:ext>
              </a:extLst>
            </p:cNvPr>
            <p:cNvSpPr/>
            <p:nvPr/>
          </p:nvSpPr>
          <p:spPr>
            <a:xfrm>
              <a:off x="8779397" y="3289008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4B279D12-5E83-7A56-6D66-451D7ABF1F7C}"/>
                </a:ext>
              </a:extLst>
            </p:cNvPr>
            <p:cNvSpPr/>
            <p:nvPr/>
          </p:nvSpPr>
          <p:spPr>
            <a:xfrm>
              <a:off x="433277" y="3276676"/>
              <a:ext cx="2198054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2BD30E6D-A01F-BCB4-1EDA-A1ADD8E11363}"/>
                </a:ext>
              </a:extLst>
            </p:cNvPr>
            <p:cNvSpPr/>
            <p:nvPr/>
          </p:nvSpPr>
          <p:spPr>
            <a:xfrm>
              <a:off x="5725226" y="1484348"/>
              <a:ext cx="709827" cy="8952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 descr="Document outline">
              <a:extLst>
                <a:ext uri="{FF2B5EF4-FFF2-40B4-BE49-F238E27FC236}">
                  <a16:creationId xmlns:a16="http://schemas.microsoft.com/office/drawing/2014/main" id="{89247A61-E62F-7A21-FB09-29600D0EC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7167" y="1452133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0C017804-3E35-B8E6-8DA6-CB7D7EDA9C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07462" y="1452133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Tuning Fork outline">
              <a:extLst>
                <a:ext uri="{FF2B5EF4-FFF2-40B4-BE49-F238E27FC236}">
                  <a16:creationId xmlns:a16="http://schemas.microsoft.com/office/drawing/2014/main" id="{846BA61D-80B6-AF95-76E4-EB2383EE2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57537" y="1514769"/>
              <a:ext cx="836132" cy="836132"/>
            </a:xfrm>
            <a:prstGeom prst="rect">
              <a:avLst/>
            </a:prstGeom>
          </p:spPr>
        </p:pic>
        <p:pic>
          <p:nvPicPr>
            <p:cNvPr id="10" name="Graphic 9" descr="Processor outline">
              <a:extLst>
                <a:ext uri="{FF2B5EF4-FFF2-40B4-BE49-F238E27FC236}">
                  <a16:creationId xmlns:a16="http://schemas.microsoft.com/office/drawing/2014/main" id="{D88D8F42-F015-F725-93B7-08869BD01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91454" y="1452133"/>
              <a:ext cx="914400" cy="9144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FEEE389-F921-6CDA-F06A-2C2C42945A93}"/>
                </a:ext>
              </a:extLst>
            </p:cNvPr>
            <p:cNvGrpSpPr/>
            <p:nvPr/>
          </p:nvGrpSpPr>
          <p:grpSpPr>
            <a:xfrm>
              <a:off x="2926050" y="3805271"/>
              <a:ext cx="502412" cy="512263"/>
              <a:chOff x="3343834" y="3429000"/>
              <a:chExt cx="914400" cy="93232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509A4517-D42F-9BF0-A516-7B2431870868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Graphic 11" descr="Workflow outline">
                <a:extLst>
                  <a:ext uri="{FF2B5EF4-FFF2-40B4-BE49-F238E27FC236}">
                    <a16:creationId xmlns:a16="http://schemas.microsoft.com/office/drawing/2014/main" id="{19BB7C1D-8F77-3B46-1642-CEC0EE77DB0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EB90ADA-A18B-8EF9-0877-4746A2C8825C}"/>
                </a:ext>
              </a:extLst>
            </p:cNvPr>
            <p:cNvGrpSpPr/>
            <p:nvPr/>
          </p:nvGrpSpPr>
          <p:grpSpPr>
            <a:xfrm>
              <a:off x="3150166" y="4011458"/>
              <a:ext cx="502412" cy="512263"/>
              <a:chOff x="3343834" y="3429000"/>
              <a:chExt cx="914400" cy="9323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04819C19-5EB2-A34A-2259-B0974A779998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5" name="Graphic 24" descr="Workflow outline">
                <a:extLst>
                  <a:ext uri="{FF2B5EF4-FFF2-40B4-BE49-F238E27FC236}">
                    <a16:creationId xmlns:a16="http://schemas.microsoft.com/office/drawing/2014/main" id="{258673A8-D3B3-342D-324F-073C4D7B7F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7C4B956-FF9F-27A7-8C67-2AFF9399DC48}"/>
                </a:ext>
              </a:extLst>
            </p:cNvPr>
            <p:cNvGrpSpPr/>
            <p:nvPr/>
          </p:nvGrpSpPr>
          <p:grpSpPr>
            <a:xfrm>
              <a:off x="3369418" y="4246171"/>
              <a:ext cx="502412" cy="512263"/>
              <a:chOff x="3343834" y="3429000"/>
              <a:chExt cx="914400" cy="93232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9629758-05EF-1983-8B0F-4EC37A3BE3F0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8" name="Graphic 27" descr="Workflow outline">
                <a:extLst>
                  <a:ext uri="{FF2B5EF4-FFF2-40B4-BE49-F238E27FC236}">
                    <a16:creationId xmlns:a16="http://schemas.microsoft.com/office/drawing/2014/main" id="{AD9303B3-CCE9-7708-A91D-2645090430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DA31633-3508-2EAB-7C51-529D3ADD1894}"/>
                </a:ext>
              </a:extLst>
            </p:cNvPr>
            <p:cNvGrpSpPr/>
            <p:nvPr/>
          </p:nvGrpSpPr>
          <p:grpSpPr>
            <a:xfrm>
              <a:off x="549452" y="3477915"/>
              <a:ext cx="653979" cy="653978"/>
              <a:chOff x="7252450" y="3428999"/>
              <a:chExt cx="914402" cy="91440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662EAFCA-744F-2000-4FA2-D21B6EF051EA}"/>
                  </a:ext>
                </a:extLst>
              </p:cNvPr>
              <p:cNvSpPr/>
              <p:nvPr/>
            </p:nvSpPr>
            <p:spPr>
              <a:xfrm>
                <a:off x="7252452" y="34290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4" name="Graphic 43" descr="Workflow with solid fill">
                <a:extLst>
                  <a:ext uri="{FF2B5EF4-FFF2-40B4-BE49-F238E27FC236}">
                    <a16:creationId xmlns:a16="http://schemas.microsoft.com/office/drawing/2014/main" id="{F48D6A45-BFD8-6CD4-1830-BE1B31C0A0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252450" y="342899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521B810-CEFC-2247-9898-4FEEB8D2B90F}"/>
                </a:ext>
              </a:extLst>
            </p:cNvPr>
            <p:cNvSpPr txBox="1"/>
            <p:nvPr/>
          </p:nvSpPr>
          <p:spPr>
            <a:xfrm>
              <a:off x="1201459" y="2285017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specification</a:t>
              </a:r>
              <a:endParaRPr lang="en-US" sz="1400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14B3B746-1EDB-5D7C-1853-1BE134696460}"/>
                </a:ext>
              </a:extLst>
            </p:cNvPr>
            <p:cNvGrpSpPr/>
            <p:nvPr/>
          </p:nvGrpSpPr>
          <p:grpSpPr>
            <a:xfrm>
              <a:off x="7272582" y="4685085"/>
              <a:ext cx="785536" cy="785536"/>
              <a:chOff x="7215714" y="5337944"/>
              <a:chExt cx="914400" cy="9144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F780303-159E-9AD7-AA1F-E361AF5EFED9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7" name="Graphic 46" descr="Checklist outline">
                <a:extLst>
                  <a:ext uri="{FF2B5EF4-FFF2-40B4-BE49-F238E27FC236}">
                    <a16:creationId xmlns:a16="http://schemas.microsoft.com/office/drawing/2014/main" id="{B464930F-F36D-9CD0-13A8-452438498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8E7FF0C1-C8BC-9C83-E586-C490C490319E}"/>
                </a:ext>
              </a:extLst>
            </p:cNvPr>
            <p:cNvGrpSpPr/>
            <p:nvPr/>
          </p:nvGrpSpPr>
          <p:grpSpPr>
            <a:xfrm>
              <a:off x="7424982" y="4837485"/>
              <a:ext cx="785536" cy="785536"/>
              <a:chOff x="7215714" y="5337944"/>
              <a:chExt cx="914400" cy="9144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BC880B1C-C2AE-6393-0A23-92B526DC6F1C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0" name="Graphic 59" descr="Checklist outline">
                <a:extLst>
                  <a:ext uri="{FF2B5EF4-FFF2-40B4-BE49-F238E27FC236}">
                    <a16:creationId xmlns:a16="http://schemas.microsoft.com/office/drawing/2014/main" id="{1159137B-1483-9AEF-8C57-1B920BE165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A6CDDF8-4EF5-B2E1-2F69-D2B5B0A531AD}"/>
                </a:ext>
              </a:extLst>
            </p:cNvPr>
            <p:cNvGrpSpPr/>
            <p:nvPr/>
          </p:nvGrpSpPr>
          <p:grpSpPr>
            <a:xfrm>
              <a:off x="7577382" y="4989885"/>
              <a:ext cx="785536" cy="785536"/>
              <a:chOff x="7215714" y="5337944"/>
              <a:chExt cx="914400" cy="91440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021E0502-4CB9-3CC0-164F-63C257B6263F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Graphic 62" descr="Checklist outline">
                <a:extLst>
                  <a:ext uri="{FF2B5EF4-FFF2-40B4-BE49-F238E27FC236}">
                    <a16:creationId xmlns:a16="http://schemas.microsoft.com/office/drawing/2014/main" id="{9612955A-93AE-9408-979B-294438AD9C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C72557C-1D57-EE39-44C9-6A7F330C7265}"/>
                </a:ext>
              </a:extLst>
            </p:cNvPr>
            <p:cNvGrpSpPr/>
            <p:nvPr/>
          </p:nvGrpSpPr>
          <p:grpSpPr>
            <a:xfrm>
              <a:off x="7729782" y="5142285"/>
              <a:ext cx="785536" cy="785536"/>
              <a:chOff x="7215714" y="5337944"/>
              <a:chExt cx="914400" cy="9144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6E7F96C1-5582-3893-9C90-A0437254E364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6" name="Graphic 65" descr="Checklist outline">
                <a:extLst>
                  <a:ext uri="{FF2B5EF4-FFF2-40B4-BE49-F238E27FC236}">
                    <a16:creationId xmlns:a16="http://schemas.microsoft.com/office/drawing/2014/main" id="{CD84D28C-A65F-24C4-9B01-37C1248601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7465AB68-BBEA-9B36-211F-C1221B5A8125}"/>
                </a:ext>
              </a:extLst>
            </p:cNvPr>
            <p:cNvGrpSpPr/>
            <p:nvPr/>
          </p:nvGrpSpPr>
          <p:grpSpPr>
            <a:xfrm>
              <a:off x="7882182" y="5294685"/>
              <a:ext cx="785536" cy="785536"/>
              <a:chOff x="7215714" y="5337944"/>
              <a:chExt cx="914400" cy="9144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DBB3AB99-7CB7-CBE2-D2B3-6A19DE9BBED4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9" name="Graphic 68" descr="Checklist outline">
                <a:extLst>
                  <a:ext uri="{FF2B5EF4-FFF2-40B4-BE49-F238E27FC236}">
                    <a16:creationId xmlns:a16="http://schemas.microsoft.com/office/drawing/2014/main" id="{92323AE8-6762-F1AD-F037-E727CBEFD6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99C5843-4D11-CB59-1893-B236F037D15D}"/>
                </a:ext>
              </a:extLst>
            </p:cNvPr>
            <p:cNvGrpSpPr/>
            <p:nvPr/>
          </p:nvGrpSpPr>
          <p:grpSpPr>
            <a:xfrm>
              <a:off x="7380214" y="2919073"/>
              <a:ext cx="671391" cy="671391"/>
              <a:chOff x="7081281" y="1974524"/>
              <a:chExt cx="914400" cy="91440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8CE98C01-EF8C-861C-602F-A05518BCA089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1" name="Graphic 70" descr="Web design outline">
                <a:extLst>
                  <a:ext uri="{FF2B5EF4-FFF2-40B4-BE49-F238E27FC236}">
                    <a16:creationId xmlns:a16="http://schemas.microsoft.com/office/drawing/2014/main" id="{70F0D470-7E52-449F-EE01-E5182070F0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07423AA-FF70-758F-963B-0BFBFAD0243F}"/>
                </a:ext>
              </a:extLst>
            </p:cNvPr>
            <p:cNvGrpSpPr/>
            <p:nvPr/>
          </p:nvGrpSpPr>
          <p:grpSpPr>
            <a:xfrm>
              <a:off x="7532614" y="3071473"/>
              <a:ext cx="671391" cy="671391"/>
              <a:chOff x="7081281" y="1974524"/>
              <a:chExt cx="914400" cy="9144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87A83B40-E53A-D32B-5748-136327FCEE16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6" name="Graphic 75" descr="Web design outline">
                <a:extLst>
                  <a:ext uri="{FF2B5EF4-FFF2-40B4-BE49-F238E27FC236}">
                    <a16:creationId xmlns:a16="http://schemas.microsoft.com/office/drawing/2014/main" id="{CFF21D9B-B03C-3E21-9B14-323B34D1B3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9FFC5C0C-28E0-3EEC-0C1A-3AD090BE3797}"/>
                </a:ext>
              </a:extLst>
            </p:cNvPr>
            <p:cNvGrpSpPr/>
            <p:nvPr/>
          </p:nvGrpSpPr>
          <p:grpSpPr>
            <a:xfrm>
              <a:off x="7685014" y="3223873"/>
              <a:ext cx="671391" cy="671391"/>
              <a:chOff x="7081281" y="1974524"/>
              <a:chExt cx="914400" cy="9144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78344496-8540-A93C-C0CC-AB2B3B954F91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9" name="Graphic 78" descr="Web design outline">
                <a:extLst>
                  <a:ext uri="{FF2B5EF4-FFF2-40B4-BE49-F238E27FC236}">
                    <a16:creationId xmlns:a16="http://schemas.microsoft.com/office/drawing/2014/main" id="{0004123B-35F6-14B2-5267-3E33CF4CCA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B61B3951-EFD4-7BF6-659B-9A175D62D026}"/>
                </a:ext>
              </a:extLst>
            </p:cNvPr>
            <p:cNvGrpSpPr/>
            <p:nvPr/>
          </p:nvGrpSpPr>
          <p:grpSpPr>
            <a:xfrm>
              <a:off x="7837414" y="3376273"/>
              <a:ext cx="671391" cy="671391"/>
              <a:chOff x="7081281" y="1974524"/>
              <a:chExt cx="914400" cy="91440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0581B7F8-63A0-BDFD-EAAB-00B1044A8033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2" name="Graphic 81" descr="Web design outline">
                <a:extLst>
                  <a:ext uri="{FF2B5EF4-FFF2-40B4-BE49-F238E27FC236}">
                    <a16:creationId xmlns:a16="http://schemas.microsoft.com/office/drawing/2014/main" id="{D50B15C5-FAD9-99E9-1CBE-6E3FFD4F49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1075D0A6-9C8E-5B4C-60D4-4072E9791F08}"/>
                </a:ext>
              </a:extLst>
            </p:cNvPr>
            <p:cNvGrpSpPr/>
            <p:nvPr/>
          </p:nvGrpSpPr>
          <p:grpSpPr>
            <a:xfrm>
              <a:off x="7989814" y="3528673"/>
              <a:ext cx="671391" cy="671391"/>
              <a:chOff x="7081281" y="1974524"/>
              <a:chExt cx="914400" cy="9144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CE7DF4B-A510-9CD7-4D8B-283D79A57055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 descr="Web design outline">
                <a:extLst>
                  <a:ext uri="{FF2B5EF4-FFF2-40B4-BE49-F238E27FC236}">
                    <a16:creationId xmlns:a16="http://schemas.microsoft.com/office/drawing/2014/main" id="{E8AC9E04-BA86-1C68-4DDB-EAB1848046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519DE01-FBA9-B680-F2F7-165CF30852E8}"/>
                </a:ext>
              </a:extLst>
            </p:cNvPr>
            <p:cNvSpPr txBox="1"/>
            <p:nvPr/>
          </p:nvSpPr>
          <p:spPr>
            <a:xfrm>
              <a:off x="4464285" y="237341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Implementation ISA</a:t>
              </a:r>
              <a:endParaRPr lang="en-US" sz="1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491234C8-56B8-B022-6830-CA220D448343}"/>
                </a:ext>
              </a:extLst>
            </p:cNvPr>
            <p:cNvSpPr txBox="1"/>
            <p:nvPr/>
          </p:nvSpPr>
          <p:spPr>
            <a:xfrm>
              <a:off x="5425521" y="2390909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Tuning parameters</a:t>
              </a:r>
              <a:endParaRPr lang="en-US" sz="14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FABA8CBD-21BC-F73C-0212-A5BB16B33FEB}"/>
                </a:ext>
              </a:extLst>
            </p:cNvPr>
            <p:cNvSpPr/>
            <p:nvPr/>
          </p:nvSpPr>
          <p:spPr>
            <a:xfrm>
              <a:off x="4131392" y="3270999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775694A0-AA47-E4C2-822E-9EDFE0B4367B}"/>
                </a:ext>
              </a:extLst>
            </p:cNvPr>
            <p:cNvSpPr txBox="1"/>
            <p:nvPr/>
          </p:nvSpPr>
          <p:spPr>
            <a:xfrm>
              <a:off x="2725675" y="4762508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n abstract litmus tests </a:t>
              </a:r>
              <a:endParaRPr lang="en-US" sz="1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F58D4E67-B7C5-4CC0-6CCB-E63F9F69F748}"/>
                </a:ext>
              </a:extLst>
            </p:cNvPr>
            <p:cNvSpPr txBox="1"/>
            <p:nvPr/>
          </p:nvSpPr>
          <p:spPr>
            <a:xfrm>
              <a:off x="7182675" y="4044973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concrete litmus tests (m&gt;&gt;n) </a:t>
              </a:r>
              <a:endParaRPr lang="en-US" sz="1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615B1E7-0065-B4C5-F3E6-AFC07A86F201}"/>
                </a:ext>
              </a:extLst>
            </p:cNvPr>
            <p:cNvSpPr txBox="1"/>
            <p:nvPr/>
          </p:nvSpPr>
          <p:spPr>
            <a:xfrm>
              <a:off x="7163011" y="6030902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speculation annotations</a:t>
              </a:r>
              <a:endParaRPr lang="en-US" sz="1400" dirty="0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47D8D4DA-77B7-BA43-738E-FE5683F12AA6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62" y="2746682"/>
              <a:ext cx="0" cy="73835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F3977B7-8F9D-B87A-C3C2-EA378A4EC4DB}"/>
                </a:ext>
              </a:extLst>
            </p:cNvPr>
            <p:cNvSpPr txBox="1"/>
            <p:nvPr/>
          </p:nvSpPr>
          <p:spPr>
            <a:xfrm>
              <a:off x="1834195" y="2746682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Translation to modeling syntax (manual)</a:t>
              </a:r>
              <a:endParaRPr lang="en-US" sz="1000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A7AE66F-A3E0-DD2A-E6FE-940763FDE0DD}"/>
                </a:ext>
              </a:extLst>
            </p:cNvPr>
            <p:cNvSpPr/>
            <p:nvPr/>
          </p:nvSpPr>
          <p:spPr>
            <a:xfrm>
              <a:off x="1523740" y="3477915"/>
              <a:ext cx="1032808" cy="6539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- Leakage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Exec.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set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mechanism</a:t>
              </a:r>
            </a:p>
            <a:p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9D5E654C-BD00-D1C2-3E5F-114478674858}"/>
                </a:ext>
              </a:extLst>
            </p:cNvPr>
            <p:cNvSpPr txBox="1"/>
            <p:nvPr/>
          </p:nvSpPr>
          <p:spPr>
            <a:xfrm>
              <a:off x="251872" y="4107888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Initial execution model</a:t>
              </a:r>
              <a:endParaRPr lang="en-US" sz="1000" dirty="0"/>
            </a:p>
          </p:txBody>
        </p:sp>
        <p:pic>
          <p:nvPicPr>
            <p:cNvPr id="110" name="Graphic 109" descr="Add with solid fill">
              <a:extLst>
                <a:ext uri="{FF2B5EF4-FFF2-40B4-BE49-F238E27FC236}">
                  <a16:creationId xmlns:a16="http://schemas.microsoft.com/office/drawing/2014/main" id="{B505AF6E-7C76-AE37-5B06-23D5B6BE2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79016" y="3693731"/>
              <a:ext cx="181318" cy="181318"/>
            </a:xfrm>
            <a:prstGeom prst="rect">
              <a:avLst/>
            </a:prstGeom>
          </p:spPr>
        </p:pic>
        <p:sp>
          <p:nvSpPr>
            <p:cNvPr id="112" name="Manual Operation 111">
              <a:extLst>
                <a:ext uri="{FF2B5EF4-FFF2-40B4-BE49-F238E27FC236}">
                  <a16:creationId xmlns:a16="http://schemas.microsoft.com/office/drawing/2014/main" id="{9F663169-E72D-814C-8318-6C371E1FDD27}"/>
                </a:ext>
              </a:extLst>
            </p:cNvPr>
            <p:cNvSpPr/>
            <p:nvPr/>
          </p:nvSpPr>
          <p:spPr>
            <a:xfrm>
              <a:off x="655093" y="4623593"/>
              <a:ext cx="1779225" cy="924628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- Defense is </a:t>
              </a:r>
              <a:r>
                <a:rPr lang="en-US" sz="900" b="1" dirty="0">
                  <a:solidFill>
                    <a:schemeClr val="tx1"/>
                  </a:solidFill>
                </a:rPr>
                <a:t>minimally leaky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 Defense is unique along certain axes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F06E7FB-09EA-468D-3177-86FF565B39BD}"/>
                </a:ext>
              </a:extLst>
            </p:cNvPr>
            <p:cNvSpPr txBox="1"/>
            <p:nvPr/>
          </p:nvSpPr>
          <p:spPr>
            <a:xfrm>
              <a:off x="1388577" y="4101861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Defense-specific allowed leakage</a:t>
              </a:r>
              <a:endParaRPr lang="en-US" sz="1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28173D0B-C8CA-3466-3F2B-932B5CA6706B}"/>
                </a:ext>
              </a:extLst>
            </p:cNvPr>
            <p:cNvSpPr txBox="1"/>
            <p:nvPr/>
          </p:nvSpPr>
          <p:spPr>
            <a:xfrm>
              <a:off x="927847" y="5523980"/>
              <a:ext cx="12491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Litmus test filters</a:t>
              </a:r>
              <a:endParaRPr lang="en-US" sz="10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4612F3D6-2065-6FAB-54CD-9CDBDFB8563D}"/>
                </a:ext>
              </a:extLst>
            </p:cNvPr>
            <p:cNvCxnSpPr>
              <a:cxnSpLocks/>
            </p:cNvCxnSpPr>
            <p:nvPr/>
          </p:nvCxnSpPr>
          <p:spPr>
            <a:xfrm>
              <a:off x="1575763" y="4430613"/>
              <a:ext cx="0" cy="1929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E0038660-C333-19AC-F849-006E2D5DDCDE}"/>
                </a:ext>
              </a:extLst>
            </p:cNvPr>
            <p:cNvSpPr txBox="1"/>
            <p:nvPr/>
          </p:nvSpPr>
          <p:spPr>
            <a:xfrm>
              <a:off x="3667259" y="2746682"/>
              <a:ext cx="146961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Sort into modeling syntax-specific buckets (decide granularity)</a:t>
              </a:r>
              <a:endParaRPr lang="en-US" sz="1000" dirty="0"/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A2507933-BA63-0F85-B609-13FD3A709C0B}"/>
                </a:ext>
              </a:extLst>
            </p:cNvPr>
            <p:cNvCxnSpPr>
              <a:cxnSpLocks/>
            </p:cNvCxnSpPr>
            <p:nvPr/>
          </p:nvCxnSpPr>
          <p:spPr>
            <a:xfrm>
              <a:off x="5114366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CBF9A8E7-9FC9-8FD8-2B4D-4457A07AED10}"/>
                </a:ext>
              </a:extLst>
            </p:cNvPr>
            <p:cNvCxnSpPr>
              <a:cxnSpLocks/>
            </p:cNvCxnSpPr>
            <p:nvPr/>
          </p:nvCxnSpPr>
          <p:spPr>
            <a:xfrm>
              <a:off x="5910821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7DB63F04-B814-C285-719C-8071A0A356B4}"/>
                </a:ext>
              </a:extLst>
            </p:cNvPr>
            <p:cNvSpPr txBox="1"/>
            <p:nvPr/>
          </p:nvSpPr>
          <p:spPr>
            <a:xfrm>
              <a:off x="5891819" y="2747728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Defense-specific choices for expansion priorities</a:t>
              </a:r>
              <a:endParaRPr lang="en-US" sz="1000" dirty="0"/>
            </a:p>
          </p:txBody>
        </p:sp>
        <p:pic>
          <p:nvPicPr>
            <p:cNvPr id="123" name="Graphic 122" descr="Add with solid fill">
              <a:extLst>
                <a:ext uri="{FF2B5EF4-FFF2-40B4-BE49-F238E27FC236}">
                  <a16:creationId xmlns:a16="http://schemas.microsoft.com/office/drawing/2014/main" id="{2616B423-AD59-7E38-EAD1-6759C471A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17256" y="4504430"/>
              <a:ext cx="181318" cy="181318"/>
            </a:xfrm>
            <a:prstGeom prst="rect">
              <a:avLst/>
            </a:prstGeom>
          </p:spPr>
        </p:pic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52F6394C-A725-8689-1944-DB6484A24052}"/>
                </a:ext>
              </a:extLst>
            </p:cNvPr>
            <p:cNvSpPr/>
            <p:nvPr/>
          </p:nvSpPr>
          <p:spPr>
            <a:xfrm>
              <a:off x="2637715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ight Arrow 124">
              <a:extLst>
                <a:ext uri="{FF2B5EF4-FFF2-40B4-BE49-F238E27FC236}">
                  <a16:creationId xmlns:a16="http://schemas.microsoft.com/office/drawing/2014/main" id="{1327A1B9-685D-6D6F-C653-88E8E7B76A01}"/>
                </a:ext>
              </a:extLst>
            </p:cNvPr>
            <p:cNvSpPr/>
            <p:nvPr/>
          </p:nvSpPr>
          <p:spPr>
            <a:xfrm>
              <a:off x="3946517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ight Arrow 125">
              <a:extLst>
                <a:ext uri="{FF2B5EF4-FFF2-40B4-BE49-F238E27FC236}">
                  <a16:creationId xmlns:a16="http://schemas.microsoft.com/office/drawing/2014/main" id="{F441C088-6C6E-817B-C853-E751EE350683}"/>
                </a:ext>
              </a:extLst>
            </p:cNvPr>
            <p:cNvSpPr/>
            <p:nvPr/>
          </p:nvSpPr>
          <p:spPr>
            <a:xfrm>
              <a:off x="7151372" y="4435399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ight Arrow 127">
              <a:extLst>
                <a:ext uri="{FF2B5EF4-FFF2-40B4-BE49-F238E27FC236}">
                  <a16:creationId xmlns:a16="http://schemas.microsoft.com/office/drawing/2014/main" id="{E6E10657-3C14-AD61-4C8E-15D5C1EDD08E}"/>
                </a:ext>
              </a:extLst>
            </p:cNvPr>
            <p:cNvSpPr/>
            <p:nvPr/>
          </p:nvSpPr>
          <p:spPr>
            <a:xfrm>
              <a:off x="8598482" y="4438910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1E1C58A-90BB-2F5A-E8E7-36E5B5E728D2}"/>
                </a:ext>
              </a:extLst>
            </p:cNvPr>
            <p:cNvSpPr txBox="1"/>
            <p:nvPr/>
          </p:nvSpPr>
          <p:spPr>
            <a:xfrm>
              <a:off x="349024" y="5714382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1: Alloy Analyzer</a:t>
              </a:r>
              <a:endParaRPr lang="en-US" sz="14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4030EC2F-D787-6310-2872-16BBEE32871A}"/>
                </a:ext>
              </a:extLst>
            </p:cNvPr>
            <p:cNvSpPr txBox="1"/>
            <p:nvPr/>
          </p:nvSpPr>
          <p:spPr>
            <a:xfrm>
              <a:off x="4057038" y="5713308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2: Python and Java</a:t>
              </a:r>
              <a:endParaRPr lang="en-US" sz="1400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F068554-B508-F6A3-7060-823E724FFC9D}"/>
                </a:ext>
              </a:extLst>
            </p:cNvPr>
            <p:cNvSpPr txBox="1"/>
            <p:nvPr/>
          </p:nvSpPr>
          <p:spPr>
            <a:xfrm>
              <a:off x="8720405" y="5727110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3: C++, a bit of python</a:t>
              </a:r>
              <a:endParaRPr lang="en-US" sz="1400" dirty="0"/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930CD507-33B9-5F6D-C9AF-9DCAD139FC3D}"/>
                </a:ext>
              </a:extLst>
            </p:cNvPr>
            <p:cNvSpPr/>
            <p:nvPr/>
          </p:nvSpPr>
          <p:spPr>
            <a:xfrm rot="5400000">
              <a:off x="10965905" y="5699661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3" name="Graphic 142" descr="Clipboard Mixed outline">
              <a:extLst>
                <a:ext uri="{FF2B5EF4-FFF2-40B4-BE49-F238E27FC236}">
                  <a16:creationId xmlns:a16="http://schemas.microsoft.com/office/drawing/2014/main" id="{211066A1-2E29-B498-C673-560D33993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41217" y="4735917"/>
              <a:ext cx="914400" cy="914400"/>
            </a:xfrm>
            <a:prstGeom prst="rect">
              <a:avLst/>
            </a:prstGeom>
          </p:spPr>
        </p:pic>
        <p:pic>
          <p:nvPicPr>
            <p:cNvPr id="149" name="Graphic 148" descr="Question Mark with solid fill">
              <a:extLst>
                <a:ext uri="{FF2B5EF4-FFF2-40B4-BE49-F238E27FC236}">
                  <a16:creationId xmlns:a16="http://schemas.microsoft.com/office/drawing/2014/main" id="{703E8E6C-82F2-6D76-49B5-C59F21172F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074716" y="6080221"/>
              <a:ext cx="524045" cy="524045"/>
            </a:xfrm>
            <a:prstGeom prst="rect">
              <a:avLst/>
            </a:prstGeom>
          </p:spPr>
        </p:pic>
        <p:pic>
          <p:nvPicPr>
            <p:cNvPr id="151" name="Graphic 150" descr="Checkbox Checked with solid fill">
              <a:extLst>
                <a:ext uri="{FF2B5EF4-FFF2-40B4-BE49-F238E27FC236}">
                  <a16:creationId xmlns:a16="http://schemas.microsoft.com/office/drawing/2014/main" id="{B9950804-1E0E-907D-E851-5DC3E051E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373981" y="5882329"/>
              <a:ext cx="914400" cy="914400"/>
            </a:xfrm>
            <a:prstGeom prst="rect">
              <a:avLst/>
            </a:prstGeom>
          </p:spPr>
        </p:pic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CB292859-ABAD-F186-59A9-9030C128B0A8}"/>
                </a:ext>
              </a:extLst>
            </p:cNvPr>
            <p:cNvSpPr/>
            <p:nvPr/>
          </p:nvSpPr>
          <p:spPr>
            <a:xfrm>
              <a:off x="4194157" y="3333175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1: Specify instructions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Start with speculation primitives, add them to annotation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Then flesh out other ISA instructions from respective buckets, including xmits, add them to annotation</a:t>
              </a: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1C4BA3D1-621C-E75D-C053-1887A2D28782}"/>
                </a:ext>
              </a:extLst>
            </p:cNvPr>
            <p:cNvCxnSpPr>
              <a:cxnSpLocks/>
            </p:cNvCxnSpPr>
            <p:nvPr/>
          </p:nvCxnSpPr>
          <p:spPr>
            <a:xfrm>
              <a:off x="10246774" y="2788929"/>
              <a:ext cx="0" cy="195965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8" name="Graphic 157" descr="Processor with solid fill">
              <a:extLst>
                <a:ext uri="{FF2B5EF4-FFF2-40B4-BE49-F238E27FC236}">
                  <a16:creationId xmlns:a16="http://schemas.microsoft.com/office/drawing/2014/main" id="{93AE4A60-E530-DABA-369D-5EA5B2772C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804089" y="4700298"/>
              <a:ext cx="914400" cy="914400"/>
            </a:xfrm>
            <a:prstGeom prst="rect">
              <a:avLst/>
            </a:prstGeom>
          </p:spPr>
        </p:pic>
        <p:pic>
          <p:nvPicPr>
            <p:cNvPr id="162" name="Graphic 161" descr="Web design with solid fill">
              <a:extLst>
                <a:ext uri="{FF2B5EF4-FFF2-40B4-BE49-F238E27FC236}">
                  <a16:creationId xmlns:a16="http://schemas.microsoft.com/office/drawing/2014/main" id="{ED6256DC-ECF3-7C27-4A39-F379982689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217350" y="3350830"/>
              <a:ext cx="914400" cy="914400"/>
            </a:xfrm>
            <a:prstGeom prst="rect">
              <a:avLst/>
            </a:prstGeom>
          </p:spPr>
        </p:pic>
        <p:pic>
          <p:nvPicPr>
            <p:cNvPr id="164" name="Graphic 163" descr="Badge 1 outline">
              <a:extLst>
                <a:ext uri="{FF2B5EF4-FFF2-40B4-BE49-F238E27FC236}">
                  <a16:creationId xmlns:a16="http://schemas.microsoft.com/office/drawing/2014/main" id="{77334121-2C07-6400-D300-8FAB630D5C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370933" y="3491853"/>
              <a:ext cx="224148" cy="224148"/>
            </a:xfrm>
            <a:prstGeom prst="rect">
              <a:avLst/>
            </a:prstGeom>
          </p:spPr>
        </p:pic>
        <p:pic>
          <p:nvPicPr>
            <p:cNvPr id="166" name="Graphic 165" descr="Badge outline">
              <a:extLst>
                <a:ext uri="{FF2B5EF4-FFF2-40B4-BE49-F238E27FC236}">
                  <a16:creationId xmlns:a16="http://schemas.microsoft.com/office/drawing/2014/main" id="{8514C501-2693-3943-017F-429C68DCC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873330" y="4120402"/>
              <a:ext cx="224148" cy="224148"/>
            </a:xfrm>
            <a:prstGeom prst="rect">
              <a:avLst/>
            </a:prstGeom>
          </p:spPr>
        </p:pic>
        <p:pic>
          <p:nvPicPr>
            <p:cNvPr id="168" name="Graphic 167" descr="Badge 3 outline">
              <a:extLst>
                <a:ext uri="{FF2B5EF4-FFF2-40B4-BE49-F238E27FC236}">
                  <a16:creationId xmlns:a16="http://schemas.microsoft.com/office/drawing/2014/main" id="{8F057B27-2B02-76B0-4E0B-8991316F6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867611" y="4993169"/>
              <a:ext cx="224148" cy="224148"/>
            </a:xfrm>
            <a:prstGeom prst="rect">
              <a:avLst/>
            </a:prstGeom>
          </p:spPr>
        </p:pic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3E67D22D-3B15-708D-A06F-1BB4C39C02A2}"/>
                </a:ext>
              </a:extLst>
            </p:cNvPr>
            <p:cNvSpPr txBox="1"/>
            <p:nvPr/>
          </p:nvSpPr>
          <p:spPr>
            <a:xfrm>
              <a:off x="10515611" y="3443731"/>
              <a:ext cx="1119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Consolidate and repeat tests into one large testing program</a:t>
              </a:r>
              <a:endParaRPr lang="en-US" sz="10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CD07D24-277C-2AA2-5C20-22D00EFB39B3}"/>
                </a:ext>
              </a:extLst>
            </p:cNvPr>
            <p:cNvSpPr txBox="1"/>
            <p:nvPr/>
          </p:nvSpPr>
          <p:spPr>
            <a:xfrm>
              <a:off x="9003833" y="4078949"/>
              <a:ext cx="11191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Instrument simulator with annotation- and testing program-derived prediction values</a:t>
              </a:r>
              <a:endParaRPr lang="en-US" sz="10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49B652E6-B7A2-A5A0-7421-2DE541476012}"/>
                </a:ext>
              </a:extLst>
            </p:cNvPr>
            <p:cNvSpPr txBox="1"/>
            <p:nvPr/>
          </p:nvSpPr>
          <p:spPr>
            <a:xfrm>
              <a:off x="8995111" y="4943034"/>
              <a:ext cx="101678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Run test program and inspect instruction order and predictions </a:t>
              </a:r>
              <a:endParaRPr lang="en-US" sz="1000" dirty="0"/>
            </a:p>
          </p:txBody>
        </p:sp>
        <p:sp>
          <p:nvSpPr>
            <p:cNvPr id="179" name="Rounded Rectangle 178">
              <a:extLst>
                <a:ext uri="{FF2B5EF4-FFF2-40B4-BE49-F238E27FC236}">
                  <a16:creationId xmlns:a16="http://schemas.microsoft.com/office/drawing/2014/main" id="{166065C5-1196-091E-F3F0-E762B9E22385}"/>
                </a:ext>
              </a:extLst>
            </p:cNvPr>
            <p:cNvSpPr/>
            <p:nvPr/>
          </p:nvSpPr>
          <p:spPr>
            <a:xfrm>
              <a:off x="4192059" y="3931567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2:  Add interleave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Add both on- (ALU) and off-path (any) interleaved instructions, priming downstream state to demonstrate change</a:t>
              </a:r>
              <a:endParaRPr lang="en-US" sz="800" b="1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7A5A2A3B-5F3B-FF8B-BF20-200D9EF5BD16}"/>
                </a:ext>
              </a:extLst>
            </p:cNvPr>
            <p:cNvSpPr/>
            <p:nvPr/>
          </p:nvSpPr>
          <p:spPr>
            <a:xfrm>
              <a:off x="4192059" y="4530396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3: Specify state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Allocate reg and mem state from allowed list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Note priming for interleaves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Floating reg and mem should be unique or shared</a:t>
              </a:r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3CDEFAE8-F52C-D96F-A656-381ECC6EE60F}"/>
                </a:ext>
              </a:extLst>
            </p:cNvPr>
            <p:cNvSpPr/>
            <p:nvPr/>
          </p:nvSpPr>
          <p:spPr>
            <a:xfrm>
              <a:off x="4192059" y="5129804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4: Filtration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Assign some method of prioritization based on including all test cases at a bare minimum, then which ISA instructions to expand upon, then can cut off testing at any point </a:t>
              </a:r>
              <a:endParaRPr lang="en-US" sz="8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893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F65F-FB8B-18B8-1E62-67218BF09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2583-AEA4-2D32-E262-ABAF2568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Rough progress</a:t>
            </a:r>
          </a:p>
        </p:txBody>
      </p: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ECBEB64-7C01-827F-0EF5-1E35734C4163}"/>
              </a:ext>
            </a:extLst>
          </p:cNvPr>
          <p:cNvGrpSpPr/>
          <p:nvPr/>
        </p:nvGrpSpPr>
        <p:grpSpPr>
          <a:xfrm>
            <a:off x="251872" y="1452133"/>
            <a:ext cx="11529758" cy="5344596"/>
            <a:chOff x="251872" y="1452133"/>
            <a:chExt cx="11529758" cy="5344596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31F7153-0047-1407-72DD-3A87A6A85C3A}"/>
                </a:ext>
              </a:extLst>
            </p:cNvPr>
            <p:cNvSpPr txBox="1"/>
            <p:nvPr/>
          </p:nvSpPr>
          <p:spPr>
            <a:xfrm>
              <a:off x="9595436" y="231762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implementation </a:t>
              </a:r>
              <a:endParaRPr lang="en-US" sz="1400" dirty="0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0CDCB788-059C-4A85-D346-E19615836C5E}"/>
                </a:ext>
              </a:extLst>
            </p:cNvPr>
            <p:cNvSpPr/>
            <p:nvPr/>
          </p:nvSpPr>
          <p:spPr>
            <a:xfrm>
              <a:off x="8779397" y="3289008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B3F4C948-3DC6-6F8A-4D00-5C82CDD761C9}"/>
                </a:ext>
              </a:extLst>
            </p:cNvPr>
            <p:cNvSpPr/>
            <p:nvPr/>
          </p:nvSpPr>
          <p:spPr>
            <a:xfrm>
              <a:off x="433277" y="3276676"/>
              <a:ext cx="2198054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40AAA08A-DC40-7CDA-E550-FBE0EEDF701A}"/>
                </a:ext>
              </a:extLst>
            </p:cNvPr>
            <p:cNvSpPr/>
            <p:nvPr/>
          </p:nvSpPr>
          <p:spPr>
            <a:xfrm>
              <a:off x="5725226" y="1484348"/>
              <a:ext cx="709827" cy="8952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Graphic 4" descr="Document outline">
              <a:extLst>
                <a:ext uri="{FF2B5EF4-FFF2-40B4-BE49-F238E27FC236}">
                  <a16:creationId xmlns:a16="http://schemas.microsoft.com/office/drawing/2014/main" id="{EBF08F88-01DF-64D2-8B44-FE42EF5C0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657167" y="1452133"/>
              <a:ext cx="914400" cy="914400"/>
            </a:xfrm>
            <a:prstGeom prst="rect">
              <a:avLst/>
            </a:prstGeom>
          </p:spPr>
        </p:pic>
        <p:pic>
          <p:nvPicPr>
            <p:cNvPr id="6" name="Graphic 5" descr="Document outline">
              <a:extLst>
                <a:ext uri="{FF2B5EF4-FFF2-40B4-BE49-F238E27FC236}">
                  <a16:creationId xmlns:a16="http://schemas.microsoft.com/office/drawing/2014/main" id="{9E4FF638-A9F4-4CD2-F6CB-D707797BC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07462" y="1452133"/>
              <a:ext cx="914400" cy="914400"/>
            </a:xfrm>
            <a:prstGeom prst="rect">
              <a:avLst/>
            </a:prstGeom>
          </p:spPr>
        </p:pic>
        <p:pic>
          <p:nvPicPr>
            <p:cNvPr id="8" name="Graphic 7" descr="Tuning Fork outline">
              <a:extLst>
                <a:ext uri="{FF2B5EF4-FFF2-40B4-BE49-F238E27FC236}">
                  <a16:creationId xmlns:a16="http://schemas.microsoft.com/office/drawing/2014/main" id="{C5819425-EF70-03B6-B148-4CA537FE50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657537" y="1514769"/>
              <a:ext cx="836132" cy="836132"/>
            </a:xfrm>
            <a:prstGeom prst="rect">
              <a:avLst/>
            </a:prstGeom>
          </p:spPr>
        </p:pic>
        <p:pic>
          <p:nvPicPr>
            <p:cNvPr id="10" name="Graphic 9" descr="Processor outline">
              <a:extLst>
                <a:ext uri="{FF2B5EF4-FFF2-40B4-BE49-F238E27FC236}">
                  <a16:creationId xmlns:a16="http://schemas.microsoft.com/office/drawing/2014/main" id="{6C2C5522-D4CD-26B8-3711-9D5415540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791454" y="1452133"/>
              <a:ext cx="914400" cy="914400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A233144-84AC-D9D0-A5B8-F21EF1444CCF}"/>
                </a:ext>
              </a:extLst>
            </p:cNvPr>
            <p:cNvGrpSpPr/>
            <p:nvPr/>
          </p:nvGrpSpPr>
          <p:grpSpPr>
            <a:xfrm>
              <a:off x="2926050" y="3805271"/>
              <a:ext cx="502412" cy="512263"/>
              <a:chOff x="3343834" y="3429000"/>
              <a:chExt cx="914400" cy="932329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DFB54EA-FE7C-5E1D-EF3C-28F4AB55DD87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12" name="Graphic 11" descr="Workflow outline">
                <a:extLst>
                  <a:ext uri="{FF2B5EF4-FFF2-40B4-BE49-F238E27FC236}">
                    <a16:creationId xmlns:a16="http://schemas.microsoft.com/office/drawing/2014/main" id="{71954186-B8D4-43EB-B117-3C936ED66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A94F1B0-574B-C56A-3A90-92314BC50F8A}"/>
                </a:ext>
              </a:extLst>
            </p:cNvPr>
            <p:cNvGrpSpPr/>
            <p:nvPr/>
          </p:nvGrpSpPr>
          <p:grpSpPr>
            <a:xfrm>
              <a:off x="3150166" y="4011458"/>
              <a:ext cx="502412" cy="512263"/>
              <a:chOff x="3343834" y="3429000"/>
              <a:chExt cx="914400" cy="932329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ED61E08-8B92-F6A6-DAC6-023F8BF47366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5" name="Graphic 24" descr="Workflow outline">
                <a:extLst>
                  <a:ext uri="{FF2B5EF4-FFF2-40B4-BE49-F238E27FC236}">
                    <a16:creationId xmlns:a16="http://schemas.microsoft.com/office/drawing/2014/main" id="{187DABAB-0042-EF75-81EF-D7B8964262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37341F5-6136-6709-E984-5A065A3E7620}"/>
                </a:ext>
              </a:extLst>
            </p:cNvPr>
            <p:cNvGrpSpPr/>
            <p:nvPr/>
          </p:nvGrpSpPr>
          <p:grpSpPr>
            <a:xfrm>
              <a:off x="3369418" y="4246171"/>
              <a:ext cx="502412" cy="512263"/>
              <a:chOff x="3343834" y="3429000"/>
              <a:chExt cx="914400" cy="932329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AEE32C8D-D593-0C89-EAEA-3D72A54709B3}"/>
                  </a:ext>
                </a:extLst>
              </p:cNvPr>
              <p:cNvSpPr/>
              <p:nvPr/>
            </p:nvSpPr>
            <p:spPr>
              <a:xfrm>
                <a:off x="3343834" y="3446929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28" name="Graphic 27" descr="Workflow outline">
                <a:extLst>
                  <a:ext uri="{FF2B5EF4-FFF2-40B4-BE49-F238E27FC236}">
                    <a16:creationId xmlns:a16="http://schemas.microsoft.com/office/drawing/2014/main" id="{292A1057-49ED-4E9D-9D4F-F827C062F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343834" y="3429000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31D16EE-1812-2FA9-45F1-3AA5716B2A86}"/>
                </a:ext>
              </a:extLst>
            </p:cNvPr>
            <p:cNvGrpSpPr/>
            <p:nvPr/>
          </p:nvGrpSpPr>
          <p:grpSpPr>
            <a:xfrm>
              <a:off x="549452" y="3477915"/>
              <a:ext cx="653979" cy="653978"/>
              <a:chOff x="7252450" y="3428999"/>
              <a:chExt cx="914402" cy="91440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CD7AF09-1F0E-BD97-53CB-A985D942DB90}"/>
                  </a:ext>
                </a:extLst>
              </p:cNvPr>
              <p:cNvSpPr/>
              <p:nvPr/>
            </p:nvSpPr>
            <p:spPr>
              <a:xfrm>
                <a:off x="7252452" y="3429000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4" name="Graphic 43" descr="Workflow with solid fill">
                <a:extLst>
                  <a:ext uri="{FF2B5EF4-FFF2-40B4-BE49-F238E27FC236}">
                    <a16:creationId xmlns:a16="http://schemas.microsoft.com/office/drawing/2014/main" id="{B953C841-6994-5332-ADA9-FEF32312FD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7252450" y="3428999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5C69384-2531-011B-E9A9-727A2F4B4662}"/>
                </a:ext>
              </a:extLst>
            </p:cNvPr>
            <p:cNvSpPr txBox="1"/>
            <p:nvPr/>
          </p:nvSpPr>
          <p:spPr>
            <a:xfrm>
              <a:off x="1201459" y="2285017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Defense specification</a:t>
              </a:r>
              <a:endParaRPr lang="en-US" sz="1400" dirty="0"/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9AB61DFD-7003-B621-7057-64141A88DC03}"/>
                </a:ext>
              </a:extLst>
            </p:cNvPr>
            <p:cNvGrpSpPr/>
            <p:nvPr/>
          </p:nvGrpSpPr>
          <p:grpSpPr>
            <a:xfrm>
              <a:off x="7272582" y="4685085"/>
              <a:ext cx="785536" cy="785536"/>
              <a:chOff x="7215714" y="5337944"/>
              <a:chExt cx="914400" cy="91440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16870D54-385A-4941-BE19-79FE6E0C8183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47" name="Graphic 46" descr="Checklist outline">
                <a:extLst>
                  <a:ext uri="{FF2B5EF4-FFF2-40B4-BE49-F238E27FC236}">
                    <a16:creationId xmlns:a16="http://schemas.microsoft.com/office/drawing/2014/main" id="{47436626-118A-75A4-F0F4-ADACA34265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D385D75-AD31-CE54-4ED2-398DD7499EC9}"/>
                </a:ext>
              </a:extLst>
            </p:cNvPr>
            <p:cNvGrpSpPr/>
            <p:nvPr/>
          </p:nvGrpSpPr>
          <p:grpSpPr>
            <a:xfrm>
              <a:off x="7424982" y="4837485"/>
              <a:ext cx="785536" cy="785536"/>
              <a:chOff x="7215714" y="5337944"/>
              <a:chExt cx="914400" cy="914400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8ED7C348-D442-4BE2-DDED-79596512D4C5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0" name="Graphic 59" descr="Checklist outline">
                <a:extLst>
                  <a:ext uri="{FF2B5EF4-FFF2-40B4-BE49-F238E27FC236}">
                    <a16:creationId xmlns:a16="http://schemas.microsoft.com/office/drawing/2014/main" id="{6D14A32F-6A0F-550A-CC6E-036066670C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9839E652-AAB0-3EBA-D304-C2FA2F096408}"/>
                </a:ext>
              </a:extLst>
            </p:cNvPr>
            <p:cNvGrpSpPr/>
            <p:nvPr/>
          </p:nvGrpSpPr>
          <p:grpSpPr>
            <a:xfrm>
              <a:off x="7577382" y="4989885"/>
              <a:ext cx="785536" cy="785536"/>
              <a:chOff x="7215714" y="5337944"/>
              <a:chExt cx="914400" cy="914400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66554B8A-FFFE-9215-543F-4E192AE079BE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3" name="Graphic 62" descr="Checklist outline">
                <a:extLst>
                  <a:ext uri="{FF2B5EF4-FFF2-40B4-BE49-F238E27FC236}">
                    <a16:creationId xmlns:a16="http://schemas.microsoft.com/office/drawing/2014/main" id="{8D5F1164-4EE0-5A10-6508-D201233602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A6756DFE-608F-EB3C-FF35-5F97B39D35AB}"/>
                </a:ext>
              </a:extLst>
            </p:cNvPr>
            <p:cNvGrpSpPr/>
            <p:nvPr/>
          </p:nvGrpSpPr>
          <p:grpSpPr>
            <a:xfrm>
              <a:off x="7729782" y="5142285"/>
              <a:ext cx="785536" cy="785536"/>
              <a:chOff x="7215714" y="5337944"/>
              <a:chExt cx="914400" cy="9144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9199C93-063A-AB01-94ED-EC40D04C65DA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6" name="Graphic 65" descr="Checklist outline">
                <a:extLst>
                  <a:ext uri="{FF2B5EF4-FFF2-40B4-BE49-F238E27FC236}">
                    <a16:creationId xmlns:a16="http://schemas.microsoft.com/office/drawing/2014/main" id="{C39AB543-50E9-7B3F-D2DF-5D8A23A877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B6283204-DB75-9332-8BC1-12042EDB95E9}"/>
                </a:ext>
              </a:extLst>
            </p:cNvPr>
            <p:cNvGrpSpPr/>
            <p:nvPr/>
          </p:nvGrpSpPr>
          <p:grpSpPr>
            <a:xfrm>
              <a:off x="7882182" y="5294685"/>
              <a:ext cx="785536" cy="785536"/>
              <a:chOff x="7215714" y="5337944"/>
              <a:chExt cx="914400" cy="914400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0ADFBFD9-0BA4-80C2-FF40-28F8CB52FEB0}"/>
                  </a:ext>
                </a:extLst>
              </p:cNvPr>
              <p:cNvSpPr/>
              <p:nvPr/>
            </p:nvSpPr>
            <p:spPr>
              <a:xfrm>
                <a:off x="7398327" y="5420591"/>
                <a:ext cx="550718" cy="7446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69" name="Graphic 68" descr="Checklist outline">
                <a:extLst>
                  <a:ext uri="{FF2B5EF4-FFF2-40B4-BE49-F238E27FC236}">
                    <a16:creationId xmlns:a16="http://schemas.microsoft.com/office/drawing/2014/main" id="{5F43CA90-BACE-5E3B-BCEE-15DEEE9D07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7215714" y="533794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DF3DC451-DD92-378A-75B0-3C1F23DC96B6}"/>
                </a:ext>
              </a:extLst>
            </p:cNvPr>
            <p:cNvGrpSpPr/>
            <p:nvPr/>
          </p:nvGrpSpPr>
          <p:grpSpPr>
            <a:xfrm>
              <a:off x="7380214" y="2919073"/>
              <a:ext cx="671391" cy="671391"/>
              <a:chOff x="7081281" y="1974524"/>
              <a:chExt cx="914400" cy="914400"/>
            </a:xfrm>
          </p:grpSpPr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167D09C5-315A-9215-53A5-0C7FF812C777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1" name="Graphic 70" descr="Web design outline">
                <a:extLst>
                  <a:ext uri="{FF2B5EF4-FFF2-40B4-BE49-F238E27FC236}">
                    <a16:creationId xmlns:a16="http://schemas.microsoft.com/office/drawing/2014/main" id="{E27E1E99-C4C6-9AF8-7A29-4725D3E921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16FBDA06-1DBA-29D6-8E08-79E836795365}"/>
                </a:ext>
              </a:extLst>
            </p:cNvPr>
            <p:cNvGrpSpPr/>
            <p:nvPr/>
          </p:nvGrpSpPr>
          <p:grpSpPr>
            <a:xfrm>
              <a:off x="7532614" y="3071473"/>
              <a:ext cx="671391" cy="671391"/>
              <a:chOff x="7081281" y="1974524"/>
              <a:chExt cx="914400" cy="914400"/>
            </a:xfrm>
          </p:grpSpPr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AE97CD70-A9E2-7C21-4595-AF85CCC33B0F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6" name="Graphic 75" descr="Web design outline">
                <a:extLst>
                  <a:ext uri="{FF2B5EF4-FFF2-40B4-BE49-F238E27FC236}">
                    <a16:creationId xmlns:a16="http://schemas.microsoft.com/office/drawing/2014/main" id="{A9C4BA97-E975-F98B-8948-1ED22542FD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6F776BEA-3900-E247-55B1-22B01D0F66F4}"/>
                </a:ext>
              </a:extLst>
            </p:cNvPr>
            <p:cNvGrpSpPr/>
            <p:nvPr/>
          </p:nvGrpSpPr>
          <p:grpSpPr>
            <a:xfrm>
              <a:off x="7685014" y="3223873"/>
              <a:ext cx="671391" cy="671391"/>
              <a:chOff x="7081281" y="1974524"/>
              <a:chExt cx="914400" cy="9144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FEDC6304-C783-3119-AD4F-E41B1551A8A6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79" name="Graphic 78" descr="Web design outline">
                <a:extLst>
                  <a:ext uri="{FF2B5EF4-FFF2-40B4-BE49-F238E27FC236}">
                    <a16:creationId xmlns:a16="http://schemas.microsoft.com/office/drawing/2014/main" id="{5CF35BD5-2DBF-7BC1-24DC-4928799370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44373D4-C9DA-2086-C958-EEBC1B04E0DE}"/>
                </a:ext>
              </a:extLst>
            </p:cNvPr>
            <p:cNvGrpSpPr/>
            <p:nvPr/>
          </p:nvGrpSpPr>
          <p:grpSpPr>
            <a:xfrm>
              <a:off x="7837414" y="3376273"/>
              <a:ext cx="671391" cy="671391"/>
              <a:chOff x="7081281" y="1974524"/>
              <a:chExt cx="914400" cy="914400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B94CE32F-2848-6AF1-0034-5FA677CCD598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2" name="Graphic 81" descr="Web design outline">
                <a:extLst>
                  <a:ext uri="{FF2B5EF4-FFF2-40B4-BE49-F238E27FC236}">
                    <a16:creationId xmlns:a16="http://schemas.microsoft.com/office/drawing/2014/main" id="{91022CA9-0F67-38F5-CB06-B9570FAB4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2AD9E0E0-E2CD-0269-124E-8AE30A90AA53}"/>
                </a:ext>
              </a:extLst>
            </p:cNvPr>
            <p:cNvGrpSpPr/>
            <p:nvPr/>
          </p:nvGrpSpPr>
          <p:grpSpPr>
            <a:xfrm>
              <a:off x="7989814" y="3528673"/>
              <a:ext cx="671391" cy="671391"/>
              <a:chOff x="7081281" y="1974524"/>
              <a:chExt cx="914400" cy="9144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FF7426DD-5FE1-CD6A-7248-E5E057E6DE29}"/>
                  </a:ext>
                </a:extLst>
              </p:cNvPr>
              <p:cNvSpPr/>
              <p:nvPr/>
            </p:nvSpPr>
            <p:spPr>
              <a:xfrm>
                <a:off x="7167418" y="2142836"/>
                <a:ext cx="743527" cy="5730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pic>
            <p:nvPicPr>
              <p:cNvPr id="85" name="Graphic 84" descr="Web design outline">
                <a:extLst>
                  <a:ext uri="{FF2B5EF4-FFF2-40B4-BE49-F238E27FC236}">
                    <a16:creationId xmlns:a16="http://schemas.microsoft.com/office/drawing/2014/main" id="{40CE7B6B-06F1-8BF1-8983-844D756129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7081281" y="1974524"/>
                <a:ext cx="914400" cy="914400"/>
              </a:xfrm>
              <a:prstGeom prst="rect">
                <a:avLst/>
              </a:prstGeom>
            </p:spPr>
          </p:pic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7535B525-1870-AD20-9926-336F4A03A427}"/>
                </a:ext>
              </a:extLst>
            </p:cNvPr>
            <p:cNvSpPr txBox="1"/>
            <p:nvPr/>
          </p:nvSpPr>
          <p:spPr>
            <a:xfrm>
              <a:off x="4464285" y="2373416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Implementation ISA</a:t>
              </a:r>
              <a:endParaRPr lang="en-US" sz="1400" dirty="0"/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7AF37F4-3C96-644F-A6AC-537F2F91EB26}"/>
                </a:ext>
              </a:extLst>
            </p:cNvPr>
            <p:cNvSpPr txBox="1"/>
            <p:nvPr/>
          </p:nvSpPr>
          <p:spPr>
            <a:xfrm>
              <a:off x="5425521" y="2390909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Tuning parameters</a:t>
              </a:r>
              <a:endParaRPr lang="en-US" sz="1400" dirty="0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B3CDF750-1230-842A-B4CB-B0DB0B9B5FDF}"/>
                </a:ext>
              </a:extLst>
            </p:cNvPr>
            <p:cNvSpPr/>
            <p:nvPr/>
          </p:nvSpPr>
          <p:spPr>
            <a:xfrm>
              <a:off x="4131392" y="3270999"/>
              <a:ext cx="3002233" cy="24760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10489C4-B430-1943-DD69-A818C794100D}"/>
                </a:ext>
              </a:extLst>
            </p:cNvPr>
            <p:cNvSpPr txBox="1"/>
            <p:nvPr/>
          </p:nvSpPr>
          <p:spPr>
            <a:xfrm>
              <a:off x="2725675" y="4762508"/>
              <a:ext cx="13001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n abstract litmus tests </a:t>
              </a:r>
              <a:endParaRPr lang="en-US" sz="14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6C80B374-DC3F-350A-D3A8-757ACBA13F69}"/>
                </a:ext>
              </a:extLst>
            </p:cNvPr>
            <p:cNvSpPr txBox="1"/>
            <p:nvPr/>
          </p:nvSpPr>
          <p:spPr>
            <a:xfrm>
              <a:off x="7182675" y="4044973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concrete litmus tests (m&gt;&gt;n) </a:t>
              </a:r>
              <a:endParaRPr lang="en-US" sz="14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4DC37DD-D296-5F97-595D-084BB40ED65F}"/>
                </a:ext>
              </a:extLst>
            </p:cNvPr>
            <p:cNvSpPr txBox="1"/>
            <p:nvPr/>
          </p:nvSpPr>
          <p:spPr>
            <a:xfrm>
              <a:off x="7163011" y="6030902"/>
              <a:ext cx="16760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m speculation annotations</a:t>
              </a:r>
              <a:endParaRPr lang="en-US" sz="1400" dirty="0"/>
            </a:p>
          </p:txBody>
        </p: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1C7C1DA-1F5C-08E8-FB3D-C990ED4E3111}"/>
                </a:ext>
              </a:extLst>
            </p:cNvPr>
            <p:cNvCxnSpPr>
              <a:cxnSpLocks/>
            </p:cNvCxnSpPr>
            <p:nvPr/>
          </p:nvCxnSpPr>
          <p:spPr>
            <a:xfrm>
              <a:off x="1864662" y="2746682"/>
              <a:ext cx="0" cy="73835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8597929B-3FCD-EBE9-5E1C-33E66A8A5A88}"/>
                </a:ext>
              </a:extLst>
            </p:cNvPr>
            <p:cNvSpPr txBox="1"/>
            <p:nvPr/>
          </p:nvSpPr>
          <p:spPr>
            <a:xfrm>
              <a:off x="1834195" y="2746682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Translation to modeling syntax (manual)</a:t>
              </a:r>
              <a:endParaRPr lang="en-US" sz="1000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577FB35-A351-400F-20EB-4E05177CB018}"/>
                </a:ext>
              </a:extLst>
            </p:cNvPr>
            <p:cNvSpPr/>
            <p:nvPr/>
          </p:nvSpPr>
          <p:spPr>
            <a:xfrm>
              <a:off x="1523740" y="3477915"/>
              <a:ext cx="1032808" cy="6539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- Leakage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Exec. contract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set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Prot. mechanism</a:t>
              </a:r>
            </a:p>
            <a:p>
              <a:endParaRPr 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3E6C33A-F9D1-0041-EE82-0DAE9387070F}"/>
                </a:ext>
              </a:extLst>
            </p:cNvPr>
            <p:cNvSpPr txBox="1"/>
            <p:nvPr/>
          </p:nvSpPr>
          <p:spPr>
            <a:xfrm>
              <a:off x="251872" y="4107888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Initial execution model</a:t>
              </a:r>
              <a:endParaRPr lang="en-US" sz="1000" dirty="0"/>
            </a:p>
          </p:txBody>
        </p:sp>
        <p:pic>
          <p:nvPicPr>
            <p:cNvPr id="110" name="Graphic 109" descr="Add with solid fill">
              <a:extLst>
                <a:ext uri="{FF2B5EF4-FFF2-40B4-BE49-F238E27FC236}">
                  <a16:creationId xmlns:a16="http://schemas.microsoft.com/office/drawing/2014/main" id="{DC1113A4-8EC1-57CF-1E69-F7E3878AE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279016" y="3693731"/>
              <a:ext cx="181318" cy="181318"/>
            </a:xfrm>
            <a:prstGeom prst="rect">
              <a:avLst/>
            </a:prstGeom>
          </p:spPr>
        </p:pic>
        <p:sp>
          <p:nvSpPr>
            <p:cNvPr id="112" name="Manual Operation 111">
              <a:extLst>
                <a:ext uri="{FF2B5EF4-FFF2-40B4-BE49-F238E27FC236}">
                  <a16:creationId xmlns:a16="http://schemas.microsoft.com/office/drawing/2014/main" id="{4659386D-EF41-37BC-ABE8-C5CE703A9CFC}"/>
                </a:ext>
              </a:extLst>
            </p:cNvPr>
            <p:cNvSpPr/>
            <p:nvPr/>
          </p:nvSpPr>
          <p:spPr>
            <a:xfrm>
              <a:off x="655093" y="4623593"/>
              <a:ext cx="1779225" cy="924628"/>
            </a:xfrm>
            <a:prstGeom prst="flowChartManualOperat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900" dirty="0">
                  <a:solidFill>
                    <a:schemeClr val="tx1"/>
                  </a:solidFill>
                </a:rPr>
                <a:t>- Defense is </a:t>
              </a:r>
              <a:r>
                <a:rPr lang="en-US" sz="900" b="1" dirty="0">
                  <a:solidFill>
                    <a:schemeClr val="tx1"/>
                  </a:solidFill>
                </a:rPr>
                <a:t>minimally leaky</a:t>
              </a:r>
            </a:p>
            <a:p>
              <a:r>
                <a:rPr lang="en-US" sz="900" dirty="0">
                  <a:solidFill>
                    <a:schemeClr val="tx1"/>
                  </a:solidFill>
                </a:rPr>
                <a:t>- Defense is unique along certain axes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08AF72C0-1BC8-F21D-FBD3-5E8562A4565C}"/>
                </a:ext>
              </a:extLst>
            </p:cNvPr>
            <p:cNvSpPr txBox="1"/>
            <p:nvPr/>
          </p:nvSpPr>
          <p:spPr>
            <a:xfrm>
              <a:off x="1388577" y="4101861"/>
              <a:ext cx="12491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Defense-specific allowed leakage</a:t>
              </a:r>
              <a:endParaRPr lang="en-US" sz="1000" dirty="0"/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52C5F51E-617F-CA75-AFEE-DDA43373CFA9}"/>
                </a:ext>
              </a:extLst>
            </p:cNvPr>
            <p:cNvSpPr txBox="1"/>
            <p:nvPr/>
          </p:nvSpPr>
          <p:spPr>
            <a:xfrm>
              <a:off x="927847" y="5523980"/>
              <a:ext cx="124913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/>
                <a:t>Litmus test filters</a:t>
              </a:r>
              <a:endParaRPr lang="en-US" sz="1000" dirty="0"/>
            </a:p>
          </p:txBody>
        </p:sp>
        <p:cxnSp>
          <p:nvCxnSpPr>
            <p:cNvPr id="115" name="Straight Arrow Connector 114">
              <a:extLst>
                <a:ext uri="{FF2B5EF4-FFF2-40B4-BE49-F238E27FC236}">
                  <a16:creationId xmlns:a16="http://schemas.microsoft.com/office/drawing/2014/main" id="{D77B9AED-89EF-2213-1397-35D3CC12DF2D}"/>
                </a:ext>
              </a:extLst>
            </p:cNvPr>
            <p:cNvCxnSpPr>
              <a:cxnSpLocks/>
            </p:cNvCxnSpPr>
            <p:nvPr/>
          </p:nvCxnSpPr>
          <p:spPr>
            <a:xfrm>
              <a:off x="1575763" y="4430613"/>
              <a:ext cx="0" cy="1929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A5AF2EE1-1A3A-F8D1-1803-81B40B33CA84}"/>
                </a:ext>
              </a:extLst>
            </p:cNvPr>
            <p:cNvSpPr txBox="1"/>
            <p:nvPr/>
          </p:nvSpPr>
          <p:spPr>
            <a:xfrm>
              <a:off x="3667259" y="2746682"/>
              <a:ext cx="1469618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Sort into modeling syntax-specific buckets (decide granularity)</a:t>
              </a:r>
              <a:endParaRPr lang="en-US" sz="1000" dirty="0"/>
            </a:p>
          </p:txBody>
        </p:sp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BD95302D-A71B-5E5F-C509-EB95F5A39B53}"/>
                </a:ext>
              </a:extLst>
            </p:cNvPr>
            <p:cNvCxnSpPr>
              <a:cxnSpLocks/>
            </p:cNvCxnSpPr>
            <p:nvPr/>
          </p:nvCxnSpPr>
          <p:spPr>
            <a:xfrm>
              <a:off x="5114366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6490BF91-917F-86C1-10BA-0EAE49F7E38D}"/>
                </a:ext>
              </a:extLst>
            </p:cNvPr>
            <p:cNvCxnSpPr>
              <a:cxnSpLocks/>
            </p:cNvCxnSpPr>
            <p:nvPr/>
          </p:nvCxnSpPr>
          <p:spPr>
            <a:xfrm>
              <a:off x="5910821" y="2815056"/>
              <a:ext cx="0" cy="43494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39BC0356-BE1F-12C7-7673-154A57578C2E}"/>
                </a:ext>
              </a:extLst>
            </p:cNvPr>
            <p:cNvSpPr txBox="1"/>
            <p:nvPr/>
          </p:nvSpPr>
          <p:spPr>
            <a:xfrm>
              <a:off x="5891819" y="2747728"/>
              <a:ext cx="14696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Defense-specific choices for expansion priorities</a:t>
              </a:r>
              <a:endParaRPr lang="en-US" sz="1000" dirty="0"/>
            </a:p>
          </p:txBody>
        </p:sp>
        <p:pic>
          <p:nvPicPr>
            <p:cNvPr id="123" name="Graphic 122" descr="Add with solid fill">
              <a:extLst>
                <a:ext uri="{FF2B5EF4-FFF2-40B4-BE49-F238E27FC236}">
                  <a16:creationId xmlns:a16="http://schemas.microsoft.com/office/drawing/2014/main" id="{397D3265-43B9-E115-03A9-D57F926A3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917256" y="4504430"/>
              <a:ext cx="181318" cy="181318"/>
            </a:xfrm>
            <a:prstGeom prst="rect">
              <a:avLst/>
            </a:prstGeom>
          </p:spPr>
        </p:pic>
        <p:sp>
          <p:nvSpPr>
            <p:cNvPr id="124" name="Right Arrow 123">
              <a:extLst>
                <a:ext uri="{FF2B5EF4-FFF2-40B4-BE49-F238E27FC236}">
                  <a16:creationId xmlns:a16="http://schemas.microsoft.com/office/drawing/2014/main" id="{35A2E78D-B7B0-D00C-29FD-00C20319FD75}"/>
                </a:ext>
              </a:extLst>
            </p:cNvPr>
            <p:cNvSpPr/>
            <p:nvPr/>
          </p:nvSpPr>
          <p:spPr>
            <a:xfrm>
              <a:off x="2637715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ight Arrow 124">
              <a:extLst>
                <a:ext uri="{FF2B5EF4-FFF2-40B4-BE49-F238E27FC236}">
                  <a16:creationId xmlns:a16="http://schemas.microsoft.com/office/drawing/2014/main" id="{3EA4E949-2362-B661-8137-A883200DC590}"/>
                </a:ext>
              </a:extLst>
            </p:cNvPr>
            <p:cNvSpPr/>
            <p:nvPr/>
          </p:nvSpPr>
          <p:spPr>
            <a:xfrm>
              <a:off x="3946517" y="4430613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ight Arrow 125">
              <a:extLst>
                <a:ext uri="{FF2B5EF4-FFF2-40B4-BE49-F238E27FC236}">
                  <a16:creationId xmlns:a16="http://schemas.microsoft.com/office/drawing/2014/main" id="{F9AA2D0E-1B84-ED8C-6A38-38F1082DD07E}"/>
                </a:ext>
              </a:extLst>
            </p:cNvPr>
            <p:cNvSpPr/>
            <p:nvPr/>
          </p:nvSpPr>
          <p:spPr>
            <a:xfrm>
              <a:off x="7151372" y="4435399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Right Arrow 127">
              <a:extLst>
                <a:ext uri="{FF2B5EF4-FFF2-40B4-BE49-F238E27FC236}">
                  <a16:creationId xmlns:a16="http://schemas.microsoft.com/office/drawing/2014/main" id="{DD78A08D-181C-D32A-85BB-A3CFC43EF639}"/>
                </a:ext>
              </a:extLst>
            </p:cNvPr>
            <p:cNvSpPr/>
            <p:nvPr/>
          </p:nvSpPr>
          <p:spPr>
            <a:xfrm>
              <a:off x="8598482" y="4438910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64B3733D-A11C-BDA0-3F61-58878FB81CD5}"/>
                </a:ext>
              </a:extLst>
            </p:cNvPr>
            <p:cNvSpPr txBox="1"/>
            <p:nvPr/>
          </p:nvSpPr>
          <p:spPr>
            <a:xfrm>
              <a:off x="349024" y="5714382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1: Alloy Analyzer</a:t>
              </a:r>
              <a:endParaRPr lang="en-US" sz="14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500FBC3E-BDF3-57F5-8229-82054007CC84}"/>
                </a:ext>
              </a:extLst>
            </p:cNvPr>
            <p:cNvSpPr txBox="1"/>
            <p:nvPr/>
          </p:nvSpPr>
          <p:spPr>
            <a:xfrm>
              <a:off x="4057038" y="5713308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2: Python and Java</a:t>
              </a:r>
              <a:endParaRPr lang="en-US" sz="1400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603FEDC-F1DB-187D-082C-08CFAF424909}"/>
                </a:ext>
              </a:extLst>
            </p:cNvPr>
            <p:cNvSpPr txBox="1"/>
            <p:nvPr/>
          </p:nvSpPr>
          <p:spPr>
            <a:xfrm>
              <a:off x="8720405" y="5727110"/>
              <a:ext cx="20747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Stage 3: C++, a bit of python</a:t>
              </a:r>
              <a:endParaRPr lang="en-US" sz="1400" dirty="0"/>
            </a:p>
          </p:txBody>
        </p:sp>
        <p:sp>
          <p:nvSpPr>
            <p:cNvPr id="139" name="Right Arrow 138">
              <a:extLst>
                <a:ext uri="{FF2B5EF4-FFF2-40B4-BE49-F238E27FC236}">
                  <a16:creationId xmlns:a16="http://schemas.microsoft.com/office/drawing/2014/main" id="{C4C3FDFD-8DCA-FD3F-9C72-355D564762C5}"/>
                </a:ext>
              </a:extLst>
            </p:cNvPr>
            <p:cNvSpPr/>
            <p:nvPr/>
          </p:nvSpPr>
          <p:spPr>
            <a:xfrm rot="5400000">
              <a:off x="10965905" y="5699661"/>
              <a:ext cx="162589" cy="331895"/>
            </a:xfrm>
            <a:prstGeom prst="righ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3" name="Graphic 142" descr="Clipboard Mixed outline">
              <a:extLst>
                <a:ext uri="{FF2B5EF4-FFF2-40B4-BE49-F238E27FC236}">
                  <a16:creationId xmlns:a16="http://schemas.microsoft.com/office/drawing/2014/main" id="{9F290012-EBED-9A79-FFBE-312ECD99E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0841217" y="4735917"/>
              <a:ext cx="914400" cy="914400"/>
            </a:xfrm>
            <a:prstGeom prst="rect">
              <a:avLst/>
            </a:prstGeom>
          </p:spPr>
        </p:pic>
        <p:pic>
          <p:nvPicPr>
            <p:cNvPr id="149" name="Graphic 148" descr="Question Mark with solid fill">
              <a:extLst>
                <a:ext uri="{FF2B5EF4-FFF2-40B4-BE49-F238E27FC236}">
                  <a16:creationId xmlns:a16="http://schemas.microsoft.com/office/drawing/2014/main" id="{D72B7F96-0556-2408-D138-EC62E079B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1074716" y="6080221"/>
              <a:ext cx="524045" cy="524045"/>
            </a:xfrm>
            <a:prstGeom prst="rect">
              <a:avLst/>
            </a:prstGeom>
          </p:spPr>
        </p:pic>
        <p:pic>
          <p:nvPicPr>
            <p:cNvPr id="151" name="Graphic 150" descr="Checkbox Checked with solid fill">
              <a:extLst>
                <a:ext uri="{FF2B5EF4-FFF2-40B4-BE49-F238E27FC236}">
                  <a16:creationId xmlns:a16="http://schemas.microsoft.com/office/drawing/2014/main" id="{61FDC56E-9B9B-641F-BBB3-07701294F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373981" y="5882329"/>
              <a:ext cx="914400" cy="914400"/>
            </a:xfrm>
            <a:prstGeom prst="rect">
              <a:avLst/>
            </a:prstGeom>
          </p:spPr>
        </p:pic>
        <p:sp>
          <p:nvSpPr>
            <p:cNvPr id="154" name="Rounded Rectangle 153">
              <a:extLst>
                <a:ext uri="{FF2B5EF4-FFF2-40B4-BE49-F238E27FC236}">
                  <a16:creationId xmlns:a16="http://schemas.microsoft.com/office/drawing/2014/main" id="{901A2C21-F686-01C5-712A-D3D2D4C80049}"/>
                </a:ext>
              </a:extLst>
            </p:cNvPr>
            <p:cNvSpPr/>
            <p:nvPr/>
          </p:nvSpPr>
          <p:spPr>
            <a:xfrm>
              <a:off x="4194157" y="3333175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1: Add interleave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Add both on- (ALU) and off-path (any) interleaved instructions, priming downstream state to demonstrate change</a:t>
              </a:r>
              <a:endParaRPr lang="en-US" sz="8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B85BC4F2-52B4-23FD-4D02-1E1103040B67}"/>
                </a:ext>
              </a:extLst>
            </p:cNvPr>
            <p:cNvCxnSpPr>
              <a:cxnSpLocks/>
            </p:cNvCxnSpPr>
            <p:nvPr/>
          </p:nvCxnSpPr>
          <p:spPr>
            <a:xfrm>
              <a:off x="10246774" y="2788929"/>
              <a:ext cx="0" cy="1959654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58" name="Graphic 157" descr="Processor with solid fill">
              <a:extLst>
                <a:ext uri="{FF2B5EF4-FFF2-40B4-BE49-F238E27FC236}">
                  <a16:creationId xmlns:a16="http://schemas.microsoft.com/office/drawing/2014/main" id="{8F7A0150-6A02-A21D-A274-DA313BE89D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9804089" y="4700298"/>
              <a:ext cx="914400" cy="914400"/>
            </a:xfrm>
            <a:prstGeom prst="rect">
              <a:avLst/>
            </a:prstGeom>
          </p:spPr>
        </p:pic>
        <p:pic>
          <p:nvPicPr>
            <p:cNvPr id="162" name="Graphic 161" descr="Web design with solid fill">
              <a:extLst>
                <a:ext uri="{FF2B5EF4-FFF2-40B4-BE49-F238E27FC236}">
                  <a16:creationId xmlns:a16="http://schemas.microsoft.com/office/drawing/2014/main" id="{F143F5E8-750A-E7C4-994B-59614B662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9217350" y="3350830"/>
              <a:ext cx="914400" cy="914400"/>
            </a:xfrm>
            <a:prstGeom prst="rect">
              <a:avLst/>
            </a:prstGeom>
          </p:spPr>
        </p:pic>
        <p:pic>
          <p:nvPicPr>
            <p:cNvPr id="164" name="Graphic 163" descr="Badge 1 outline">
              <a:extLst>
                <a:ext uri="{FF2B5EF4-FFF2-40B4-BE49-F238E27FC236}">
                  <a16:creationId xmlns:a16="http://schemas.microsoft.com/office/drawing/2014/main" id="{834D4C9A-B016-60BB-8BD3-51D4A038DF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0370933" y="3491853"/>
              <a:ext cx="224148" cy="224148"/>
            </a:xfrm>
            <a:prstGeom prst="rect">
              <a:avLst/>
            </a:prstGeom>
          </p:spPr>
        </p:pic>
        <p:pic>
          <p:nvPicPr>
            <p:cNvPr id="166" name="Graphic 165" descr="Badge outline">
              <a:extLst>
                <a:ext uri="{FF2B5EF4-FFF2-40B4-BE49-F238E27FC236}">
                  <a16:creationId xmlns:a16="http://schemas.microsoft.com/office/drawing/2014/main" id="{053A1D51-CF07-E318-D3C6-9272DD4E68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8873330" y="4120402"/>
              <a:ext cx="224148" cy="224148"/>
            </a:xfrm>
            <a:prstGeom prst="rect">
              <a:avLst/>
            </a:prstGeom>
          </p:spPr>
        </p:pic>
        <p:pic>
          <p:nvPicPr>
            <p:cNvPr id="168" name="Graphic 167" descr="Badge 3 outline">
              <a:extLst>
                <a:ext uri="{FF2B5EF4-FFF2-40B4-BE49-F238E27FC236}">
                  <a16:creationId xmlns:a16="http://schemas.microsoft.com/office/drawing/2014/main" id="{70F79987-5C40-226A-2F17-41F193A39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8867611" y="4993169"/>
              <a:ext cx="224148" cy="224148"/>
            </a:xfrm>
            <a:prstGeom prst="rect">
              <a:avLst/>
            </a:prstGeom>
          </p:spPr>
        </p:pic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E41F0888-7901-DA2E-DB0A-921BE8799CB8}"/>
                </a:ext>
              </a:extLst>
            </p:cNvPr>
            <p:cNvSpPr txBox="1"/>
            <p:nvPr/>
          </p:nvSpPr>
          <p:spPr>
            <a:xfrm>
              <a:off x="10515611" y="3443731"/>
              <a:ext cx="11191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Consolidate and repeat tests into one large testing program</a:t>
              </a:r>
              <a:endParaRPr lang="en-US" sz="1000" dirty="0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D1E655BF-6605-DF86-6234-EC2AA79F4464}"/>
                </a:ext>
              </a:extLst>
            </p:cNvPr>
            <p:cNvSpPr txBox="1"/>
            <p:nvPr/>
          </p:nvSpPr>
          <p:spPr>
            <a:xfrm>
              <a:off x="9003833" y="4078949"/>
              <a:ext cx="111919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Instrument simulator with annotation- and testing program-derived prediction values</a:t>
              </a:r>
              <a:endParaRPr lang="en-US" sz="1000" dirty="0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4F7F21F-1AED-F489-81E1-CA666AFB67EE}"/>
                </a:ext>
              </a:extLst>
            </p:cNvPr>
            <p:cNvSpPr txBox="1"/>
            <p:nvPr/>
          </p:nvSpPr>
          <p:spPr>
            <a:xfrm>
              <a:off x="8995111" y="4943034"/>
              <a:ext cx="1016782" cy="784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0" dirty="0"/>
                <a:t>Run test program and inspect instruction order and predictions </a:t>
              </a:r>
              <a:endParaRPr lang="en-US" sz="1000" dirty="0"/>
            </a:p>
          </p:txBody>
        </p:sp>
        <p:sp>
          <p:nvSpPr>
            <p:cNvPr id="179" name="Rounded Rectangle 178">
              <a:extLst>
                <a:ext uri="{FF2B5EF4-FFF2-40B4-BE49-F238E27FC236}">
                  <a16:creationId xmlns:a16="http://schemas.microsoft.com/office/drawing/2014/main" id="{89C78B7C-7C5C-FDFB-1C57-F84C5298A63D}"/>
                </a:ext>
              </a:extLst>
            </p:cNvPr>
            <p:cNvSpPr/>
            <p:nvPr/>
          </p:nvSpPr>
          <p:spPr>
            <a:xfrm>
              <a:off x="4192059" y="3931567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2: Specify instructions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Start with speculation primitives, add them to annotation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Then flesh out other ISA instructions from respective buckets, including xmits, add them to annotation</a:t>
              </a:r>
            </a:p>
          </p:txBody>
        </p:sp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C550CF2E-DDFB-E500-04A1-789711AA209B}"/>
                </a:ext>
              </a:extLst>
            </p:cNvPr>
            <p:cNvSpPr/>
            <p:nvPr/>
          </p:nvSpPr>
          <p:spPr>
            <a:xfrm>
              <a:off x="4192059" y="4530396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3: Specify state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Allocate reg and mem state from allowed list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Note priming for interleaves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- Floating reg and mem should be unique (size issues)</a:t>
              </a:r>
            </a:p>
          </p:txBody>
        </p:sp>
        <p:sp>
          <p:nvSpPr>
            <p:cNvPr id="181" name="Rounded Rectangle 180">
              <a:extLst>
                <a:ext uri="{FF2B5EF4-FFF2-40B4-BE49-F238E27FC236}">
                  <a16:creationId xmlns:a16="http://schemas.microsoft.com/office/drawing/2014/main" id="{DD053854-931F-707E-669D-51CC68BADCDC}"/>
                </a:ext>
              </a:extLst>
            </p:cNvPr>
            <p:cNvSpPr/>
            <p:nvPr/>
          </p:nvSpPr>
          <p:spPr>
            <a:xfrm>
              <a:off x="4192059" y="5129804"/>
              <a:ext cx="2871765" cy="552125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800" b="1" dirty="0">
                  <a:solidFill>
                    <a:schemeClr val="tx1"/>
                  </a:solidFill>
                </a:rPr>
                <a:t>Pass 4: Filtration</a:t>
              </a:r>
              <a:endParaRPr lang="en-US" sz="800" dirty="0">
                <a:solidFill>
                  <a:schemeClr val="tx1"/>
                </a:solidFill>
              </a:endParaRPr>
            </a:p>
            <a:p>
              <a:r>
                <a:rPr lang="en-US" sz="800" dirty="0">
                  <a:solidFill>
                    <a:schemeClr val="tx1"/>
                  </a:solidFill>
                </a:rPr>
                <a:t>- Assign some method of prioritization based on including all test cases at a bare minimum, then which ISA instructions to expand upon, then can cut off testing at any point </a:t>
              </a:r>
              <a:endParaRPr lang="en-US" sz="800" b="1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5333B34-0443-648E-8363-224DBE5798AF}"/>
                  </a:ext>
                </a:extLst>
              </p14:cNvPr>
              <p14:cNvContentPartPr/>
              <p14:nvPr/>
            </p14:nvContentPartPr>
            <p14:xfrm>
              <a:off x="1106126" y="1773334"/>
              <a:ext cx="1096560" cy="851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5333B34-0443-648E-8363-224DBE5798AF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052486" y="1665334"/>
                <a:ext cx="1204200" cy="10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B49BC2-6AB8-2760-61CD-9751049A83B0}"/>
                  </a:ext>
                </a:extLst>
              </p14:cNvPr>
              <p14:cNvContentPartPr/>
              <p14:nvPr/>
            </p14:nvContentPartPr>
            <p14:xfrm>
              <a:off x="-30754" y="3461734"/>
              <a:ext cx="2758320" cy="2647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B49BC2-6AB8-2760-61CD-9751049A83B0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-84394" y="3353734"/>
                <a:ext cx="2865960" cy="28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463BF9A-EDDE-47D9-3C74-E4EB38432DE6}"/>
                  </a:ext>
                </a:extLst>
              </p14:cNvPr>
              <p14:cNvContentPartPr/>
              <p14:nvPr/>
            </p14:nvContentPartPr>
            <p14:xfrm>
              <a:off x="3915926" y="3565054"/>
              <a:ext cx="2936160" cy="262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463BF9A-EDDE-47D9-3C74-E4EB38432DE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862286" y="3457414"/>
                <a:ext cx="304380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2EDFF8F-2388-2D1E-8330-4AB878DA3682}"/>
                  </a:ext>
                </a:extLst>
              </p14:cNvPr>
              <p14:cNvContentPartPr/>
              <p14:nvPr/>
            </p14:nvContentPartPr>
            <p14:xfrm>
              <a:off x="4336406" y="4179574"/>
              <a:ext cx="2558880" cy="13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2EDFF8F-2388-2D1E-8330-4AB878DA3682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282406" y="4071574"/>
                <a:ext cx="266652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D10A0C5-5063-3DFA-85E8-73D59E700E86}"/>
                  </a:ext>
                </a:extLst>
              </p14:cNvPr>
              <p14:cNvContentPartPr/>
              <p14:nvPr/>
            </p14:nvContentPartPr>
            <p14:xfrm>
              <a:off x="4421006" y="4846294"/>
              <a:ext cx="3064680" cy="32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D10A0C5-5063-3DFA-85E8-73D59E700E8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367366" y="4738654"/>
                <a:ext cx="317232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2114069-D168-5CC0-E281-2CCDE5A8FD8C}"/>
                  </a:ext>
                </a:extLst>
              </p14:cNvPr>
              <p14:cNvContentPartPr/>
              <p14:nvPr/>
            </p14:nvContentPartPr>
            <p14:xfrm>
              <a:off x="5997086" y="2895094"/>
              <a:ext cx="138240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2114069-D168-5CC0-E281-2CCDE5A8FD8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943086" y="2787094"/>
                <a:ext cx="1490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14714FF-26B9-8E47-65FD-36E357947EC5}"/>
                  </a:ext>
                </a:extLst>
              </p14:cNvPr>
              <p14:cNvContentPartPr/>
              <p14:nvPr/>
            </p14:nvContentPartPr>
            <p14:xfrm>
              <a:off x="3962726" y="3007054"/>
              <a:ext cx="1163160" cy="66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14714FF-26B9-8E47-65FD-36E357947EC5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908726" y="2899054"/>
                <a:ext cx="127080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34E05EF0-6958-B3C1-CC51-BD45BEA29C0D}"/>
                  </a:ext>
                </a:extLst>
              </p14:cNvPr>
              <p14:cNvContentPartPr/>
              <p14:nvPr/>
            </p14:nvContentPartPr>
            <p14:xfrm>
              <a:off x="4396166" y="5426614"/>
              <a:ext cx="243540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34E05EF0-6958-B3C1-CC51-BD45BEA29C0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342166" y="5318974"/>
                <a:ext cx="2543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DCDAB37-3D59-757F-C9F2-85EDBD59DDFC}"/>
                  </a:ext>
                </a:extLst>
              </p14:cNvPr>
              <p14:cNvContentPartPr/>
              <p14:nvPr/>
            </p14:nvContentPartPr>
            <p14:xfrm>
              <a:off x="10360286" y="3607894"/>
              <a:ext cx="968760" cy="371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DCDAB37-3D59-757F-C9F2-85EDBD59DDF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0306646" y="3499894"/>
                <a:ext cx="1076400" cy="58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1B55842-0FD9-AD56-0257-20ABA32949E5}"/>
                  </a:ext>
                </a:extLst>
              </p14:cNvPr>
              <p14:cNvContentPartPr/>
              <p14:nvPr/>
            </p14:nvContentPartPr>
            <p14:xfrm>
              <a:off x="10573766" y="3760174"/>
              <a:ext cx="221400" cy="4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1B55842-0FD9-AD56-0257-20ABA32949E5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0520126" y="3652174"/>
                <a:ext cx="32904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9682239-CE74-B147-B337-377DAF8BADC4}"/>
                  </a:ext>
                </a:extLst>
              </p14:cNvPr>
              <p14:cNvContentPartPr/>
              <p14:nvPr/>
            </p14:nvContentPartPr>
            <p14:xfrm>
              <a:off x="8955926" y="4257334"/>
              <a:ext cx="1198440" cy="5864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9682239-CE74-B147-B337-377DAF8BADC4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902286" y="4149694"/>
                <a:ext cx="1306080" cy="80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D73DA24-734F-19EC-D798-1CAFEFD3272A}"/>
                  </a:ext>
                </a:extLst>
              </p14:cNvPr>
              <p14:cNvContentPartPr/>
              <p14:nvPr/>
            </p14:nvContentPartPr>
            <p14:xfrm>
              <a:off x="8806886" y="5237614"/>
              <a:ext cx="996120" cy="5007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D73DA24-734F-19EC-D798-1CAFEFD3272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753246" y="5129974"/>
                <a:ext cx="1103760" cy="71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844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D1AE2-9DD9-DA40-5212-0CEADF70C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46E6D-9587-5207-5E7C-CDAA6E5E1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Design questions</a:t>
            </a:r>
          </a:p>
        </p:txBody>
      </p:sp>
      <p:pic>
        <p:nvPicPr>
          <p:cNvPr id="3" name="Picture 2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20B6FCA4-764F-4E67-F78D-089F2164D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52" y="1285095"/>
            <a:ext cx="11979997" cy="5462544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2F9A07-C34F-CCC9-6BE8-11A45683C61D}"/>
              </a:ext>
            </a:extLst>
          </p:cNvPr>
          <p:cNvSpPr/>
          <p:nvPr/>
        </p:nvSpPr>
        <p:spPr>
          <a:xfrm>
            <a:off x="91951" y="3215508"/>
            <a:ext cx="1135117" cy="4269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What is model syntax?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216C786-7D13-F500-A072-29931167B38F}"/>
              </a:ext>
            </a:extLst>
          </p:cNvPr>
          <p:cNvSpPr/>
          <p:nvPr/>
        </p:nvSpPr>
        <p:spPr>
          <a:xfrm>
            <a:off x="2127572" y="4647236"/>
            <a:ext cx="1401777" cy="9803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Which dimensions to relax along, because not everything must be minimal, interesting compound cases?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609AED9-595C-764F-8988-67C34FD8A789}"/>
              </a:ext>
            </a:extLst>
          </p:cNvPr>
          <p:cNvSpPr/>
          <p:nvPr/>
        </p:nvSpPr>
        <p:spPr>
          <a:xfrm>
            <a:off x="1986455" y="5661900"/>
            <a:ext cx="1255986" cy="8309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Model-domain symmetry breaking – which axes do we care about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E69EC86-32E2-6089-5F2C-7CC458DE5B6B}"/>
              </a:ext>
            </a:extLst>
          </p:cNvPr>
          <p:cNvSpPr/>
          <p:nvPr/>
        </p:nvSpPr>
        <p:spPr>
          <a:xfrm>
            <a:off x="6024284" y="5512251"/>
            <a:ext cx="1255986" cy="8309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Enumeration-domain symmetry breaking – which axes do we care about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C6506F5-5FBC-6F40-135D-48876A38C57F}"/>
              </a:ext>
            </a:extLst>
          </p:cNvPr>
          <p:cNvSpPr/>
          <p:nvPr/>
        </p:nvSpPr>
        <p:spPr>
          <a:xfrm>
            <a:off x="4572454" y="5393543"/>
            <a:ext cx="1391804" cy="10993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Prioritization ranking? Iterate through abstract tests starting with a few of each, then prioritize other copies lower? 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FB1835E-ACF1-9987-8CC9-F806201E6C06}"/>
              </a:ext>
            </a:extLst>
          </p:cNvPr>
          <p:cNvSpPr/>
          <p:nvPr/>
        </p:nvSpPr>
        <p:spPr>
          <a:xfrm>
            <a:off x="6363651" y="4304651"/>
            <a:ext cx="1401778" cy="9803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Register list reaching capacity (</a:t>
            </a:r>
            <a:r>
              <a:rPr lang="en-US" sz="1000" dirty="0" err="1">
                <a:solidFill>
                  <a:schemeClr val="tx1"/>
                </a:solidFill>
              </a:rPr>
              <a:t>eg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en-US" sz="1000" dirty="0" err="1">
                <a:solidFill>
                  <a:schemeClr val="tx1"/>
                </a:solidFill>
              </a:rPr>
              <a:t>instr</a:t>
            </a:r>
            <a:r>
              <a:rPr lang="en-US" sz="1000" dirty="0">
                <a:solidFill>
                  <a:schemeClr val="tx1"/>
                </a:solidFill>
              </a:rPr>
              <a:t> execution of </a:t>
            </a:r>
            <a:r>
              <a:rPr lang="en-US" sz="1000" dirty="0" err="1">
                <a:solidFill>
                  <a:schemeClr val="tx1"/>
                </a:solidFill>
              </a:rPr>
              <a:t>len</a:t>
            </a:r>
            <a:r>
              <a:rPr lang="en-US" sz="1000" dirty="0">
                <a:solidFill>
                  <a:schemeClr val="tx1"/>
                </a:solidFill>
              </a:rPr>
              <a:t> 5, + 2 interleave can deal with 21 registers)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AF22E15-A34C-2664-8C59-03D6D77E344F}"/>
              </a:ext>
            </a:extLst>
          </p:cNvPr>
          <p:cNvSpPr/>
          <p:nvPr/>
        </p:nvSpPr>
        <p:spPr>
          <a:xfrm>
            <a:off x="4005123" y="2242738"/>
            <a:ext cx="903436" cy="21035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Which ISAs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7DDBA49-A8EB-39E5-D91D-63B7C03C4ECF}"/>
              </a:ext>
            </a:extLst>
          </p:cNvPr>
          <p:cNvSpPr/>
          <p:nvPr/>
        </p:nvSpPr>
        <p:spPr>
          <a:xfrm>
            <a:off x="2975109" y="2927055"/>
            <a:ext cx="1524227" cy="4677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How to categorize, do we use all instructions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CBAF4C8-CBF7-D8BC-FA95-EF51CD550503}"/>
              </a:ext>
            </a:extLst>
          </p:cNvPr>
          <p:cNvSpPr/>
          <p:nvPr/>
        </p:nvSpPr>
        <p:spPr>
          <a:xfrm>
            <a:off x="3891932" y="4046483"/>
            <a:ext cx="1226606" cy="7483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Annotation format – to check the correct </a:t>
            </a:r>
            <a:r>
              <a:rPr lang="en-US" sz="1000" dirty="0" err="1">
                <a:solidFill>
                  <a:schemeClr val="tx1"/>
                </a:solidFill>
              </a:rPr>
              <a:t>xmit</a:t>
            </a:r>
            <a:r>
              <a:rPr lang="en-US" sz="1000" dirty="0">
                <a:solidFill>
                  <a:schemeClr val="tx1"/>
                </a:solidFill>
              </a:rPr>
              <a:t> state later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A5A6FFC-ABB3-DD13-6776-7B915CCD5A64}"/>
              </a:ext>
            </a:extLst>
          </p:cNvPr>
          <p:cNvSpPr/>
          <p:nvPr/>
        </p:nvSpPr>
        <p:spPr>
          <a:xfrm>
            <a:off x="6024284" y="2170800"/>
            <a:ext cx="1129817" cy="46771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Which knobs to give to user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6E16C95-E8FA-CE9C-4238-36990968AEA6}"/>
              </a:ext>
            </a:extLst>
          </p:cNvPr>
          <p:cNvSpPr/>
          <p:nvPr/>
        </p:nvSpPr>
        <p:spPr>
          <a:xfrm>
            <a:off x="6363651" y="3550530"/>
            <a:ext cx="916619" cy="4269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Size of interleaves 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3673B3B-A575-B8F5-06DE-C847DB90015B}"/>
              </a:ext>
            </a:extLst>
          </p:cNvPr>
          <p:cNvSpPr/>
          <p:nvPr/>
        </p:nvSpPr>
        <p:spPr>
          <a:xfrm>
            <a:off x="9674603" y="5430994"/>
            <a:ext cx="1061883" cy="9803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Limit to transmitters we can track? No because not like </a:t>
            </a:r>
            <a:r>
              <a:rPr lang="en-US" sz="1000" dirty="0" err="1">
                <a:solidFill>
                  <a:schemeClr val="tx1"/>
                </a:solidFill>
              </a:rPr>
              <a:t>AMuLeT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AFFBA29-74A2-A443-FF73-0FD4CDFC9183}"/>
              </a:ext>
            </a:extLst>
          </p:cNvPr>
          <p:cNvSpPr/>
          <p:nvPr/>
        </p:nvSpPr>
        <p:spPr>
          <a:xfrm>
            <a:off x="7450809" y="5352558"/>
            <a:ext cx="1061883" cy="6186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Register and memory domains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41C92067-0ACA-D7A9-B8B9-90CCC6600E0E}"/>
              </a:ext>
            </a:extLst>
          </p:cNvPr>
          <p:cNvSpPr/>
          <p:nvPr/>
        </p:nvSpPr>
        <p:spPr>
          <a:xfrm>
            <a:off x="8131711" y="4647236"/>
            <a:ext cx="1061883" cy="4901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Cache initial state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7D4B2E8-DA8B-FDF3-5ECD-690C20696C5E}"/>
              </a:ext>
            </a:extLst>
          </p:cNvPr>
          <p:cNvSpPr/>
          <p:nvPr/>
        </p:nvSpPr>
        <p:spPr>
          <a:xfrm>
            <a:off x="3644275" y="4986407"/>
            <a:ext cx="1061883" cy="4901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Order of enumeration passes?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5B9F5BA-74E9-678B-C59C-7A0E2D0FDFC4}"/>
              </a:ext>
            </a:extLst>
          </p:cNvPr>
          <p:cNvSpPr/>
          <p:nvPr/>
        </p:nvSpPr>
        <p:spPr>
          <a:xfrm>
            <a:off x="10220201" y="4046483"/>
            <a:ext cx="1061883" cy="4901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Number of times to run things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58B45225-A32B-26E3-06E0-0D962AF82BE8}"/>
              </a:ext>
            </a:extLst>
          </p:cNvPr>
          <p:cNvSpPr/>
          <p:nvPr/>
        </p:nvSpPr>
        <p:spPr>
          <a:xfrm>
            <a:off x="1764273" y="3642491"/>
            <a:ext cx="1135117" cy="4269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Detail handled by protection mechanism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768CA36E-1B68-02DD-3A66-0AB0B10DD7A5}"/>
              </a:ext>
            </a:extLst>
          </p:cNvPr>
          <p:cNvSpPr/>
          <p:nvPr/>
        </p:nvSpPr>
        <p:spPr>
          <a:xfrm>
            <a:off x="629156" y="2570686"/>
            <a:ext cx="1135117" cy="42698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Which defenses to test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D26A654-D008-5CC5-5D5E-178B273FAA1A}"/>
              </a:ext>
            </a:extLst>
          </p:cNvPr>
          <p:cNvSpPr/>
          <p:nvPr/>
        </p:nvSpPr>
        <p:spPr>
          <a:xfrm>
            <a:off x="4989489" y="4485971"/>
            <a:ext cx="1255986" cy="8309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How to add relevant state without messing up leakage flow?</a:t>
            </a:r>
          </a:p>
        </p:txBody>
      </p:sp>
    </p:spTree>
    <p:extLst>
      <p:ext uri="{BB962C8B-B14F-4D97-AF65-F5344CB8AC3E}">
        <p14:creationId xmlns:p14="http://schemas.microsoft.com/office/powerpoint/2010/main" val="1829677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AE01-F3A1-87EA-FA04-4EF123E2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E1527-DFF0-C286-EB37-B84D6592B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89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Stage 1:</a:t>
            </a:r>
          </a:p>
          <a:p>
            <a:pPr lvl="1"/>
            <a:r>
              <a:rPr lang="en-US" dirty="0"/>
              <a:t>Model syntax</a:t>
            </a:r>
          </a:p>
          <a:p>
            <a:pPr lvl="1"/>
            <a:r>
              <a:rPr lang="en-US" dirty="0"/>
              <a:t>Which defenses to test</a:t>
            </a:r>
          </a:p>
          <a:p>
            <a:pPr lvl="1"/>
            <a:r>
              <a:rPr lang="en-US" dirty="0"/>
              <a:t>Detail of protection mechanism</a:t>
            </a:r>
          </a:p>
          <a:p>
            <a:pPr lvl="1"/>
            <a:r>
              <a:rPr lang="en-US" dirty="0"/>
              <a:t>Relaxation dimensions, compound minimal cases?</a:t>
            </a:r>
          </a:p>
          <a:p>
            <a:pPr lvl="1"/>
            <a:r>
              <a:rPr lang="en-US" dirty="0"/>
              <a:t>Model-domain symmetry breaking</a:t>
            </a:r>
          </a:p>
          <a:p>
            <a:r>
              <a:rPr lang="en-US" dirty="0"/>
              <a:t>Stage 2:</a:t>
            </a:r>
          </a:p>
          <a:p>
            <a:pPr lvl="1"/>
            <a:r>
              <a:rPr lang="en-US" dirty="0"/>
              <a:t>Which ISAs to support</a:t>
            </a:r>
          </a:p>
          <a:p>
            <a:pPr lvl="1"/>
            <a:r>
              <a:rPr lang="en-US" dirty="0"/>
              <a:t>How to categorize instructions, leave any out?</a:t>
            </a:r>
          </a:p>
          <a:p>
            <a:pPr lvl="1"/>
            <a:r>
              <a:rPr lang="en-US" dirty="0"/>
              <a:t>Which knobs to give a user</a:t>
            </a:r>
          </a:p>
          <a:p>
            <a:pPr lvl="1"/>
            <a:r>
              <a:rPr lang="en-US" dirty="0"/>
              <a:t>Order of the enumeration passes</a:t>
            </a:r>
          </a:p>
          <a:p>
            <a:pPr lvl="1"/>
            <a:r>
              <a:rPr lang="en-US" dirty="0"/>
              <a:t>Size of interleaves</a:t>
            </a:r>
          </a:p>
          <a:p>
            <a:pPr lvl="1"/>
            <a:r>
              <a:rPr lang="en-US" dirty="0"/>
              <a:t>How to add relevant state without messing up leakage flow</a:t>
            </a:r>
          </a:p>
          <a:p>
            <a:pPr lvl="1"/>
            <a:r>
              <a:rPr lang="en-US" dirty="0"/>
              <a:t>Annotation format compatible with later probing</a:t>
            </a:r>
          </a:p>
          <a:p>
            <a:pPr lvl="1"/>
            <a:r>
              <a:rPr lang="en-US" dirty="0"/>
              <a:t>Register list capacity if everything is unconstrained (don’t want extra dependencies)</a:t>
            </a:r>
          </a:p>
          <a:p>
            <a:pPr lvl="1"/>
            <a:r>
              <a:rPr lang="en-US" dirty="0"/>
              <a:t>Test prioritization after the fact</a:t>
            </a:r>
          </a:p>
          <a:p>
            <a:pPr lvl="1"/>
            <a:r>
              <a:rPr lang="en-US" dirty="0"/>
              <a:t>Repetitive tests (through multiple forms of modification converging)</a:t>
            </a:r>
          </a:p>
          <a:p>
            <a:r>
              <a:rPr lang="en-US" dirty="0"/>
              <a:t>Stage 3:</a:t>
            </a:r>
          </a:p>
          <a:p>
            <a:pPr lvl="1"/>
            <a:r>
              <a:rPr lang="en-US" dirty="0"/>
              <a:t>Register and memory domains</a:t>
            </a:r>
          </a:p>
          <a:p>
            <a:pPr lvl="1"/>
            <a:r>
              <a:rPr lang="en-US" dirty="0"/>
              <a:t>Cache initial state</a:t>
            </a:r>
          </a:p>
          <a:p>
            <a:pPr lvl="1"/>
            <a:r>
              <a:rPr lang="en-US" dirty="0"/>
              <a:t>Number of times to run things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604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61E34-71E2-E410-9EE7-AD024C58C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C0613-26AC-B47E-EFDB-ABA5AB9E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F9975-4D23-3C3C-A748-922F499752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9589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Stage 1:</a:t>
            </a:r>
          </a:p>
          <a:p>
            <a:pPr lvl="1"/>
            <a:r>
              <a:rPr lang="en-US" strike="sngStrike" dirty="0"/>
              <a:t>Model syntax</a:t>
            </a:r>
          </a:p>
          <a:p>
            <a:pPr lvl="1"/>
            <a:r>
              <a:rPr lang="en-US" strike="sngStrike" dirty="0"/>
              <a:t>Which defenses to test</a:t>
            </a:r>
          </a:p>
          <a:p>
            <a:pPr lvl="1"/>
            <a:r>
              <a:rPr lang="en-US" b="1" dirty="0"/>
              <a:t>Detail of protection mechanism (incl committed) (Protean complication)</a:t>
            </a:r>
          </a:p>
          <a:p>
            <a:pPr lvl="1"/>
            <a:r>
              <a:rPr lang="en-US" strike="sngStrike" dirty="0"/>
              <a:t>Relaxation dimensions, compound minimal cases?  </a:t>
            </a:r>
            <a:r>
              <a:rPr lang="en-US" dirty="0"/>
              <a:t>???</a:t>
            </a:r>
            <a:endParaRPr lang="en-US" strike="sngStrike" dirty="0"/>
          </a:p>
          <a:p>
            <a:pPr lvl="1"/>
            <a:r>
              <a:rPr lang="en-US" strike="sngStrike" dirty="0"/>
              <a:t>Model-domain symmetry breaking</a:t>
            </a:r>
          </a:p>
          <a:p>
            <a:r>
              <a:rPr lang="en-US" dirty="0"/>
              <a:t>Stage 2:</a:t>
            </a:r>
          </a:p>
          <a:p>
            <a:pPr lvl="1"/>
            <a:r>
              <a:rPr lang="en-US" dirty="0"/>
              <a:t>Which ISAs to support  - x86</a:t>
            </a:r>
          </a:p>
          <a:p>
            <a:pPr lvl="1"/>
            <a:r>
              <a:rPr lang="en-US" dirty="0"/>
              <a:t>How to categorize instructions, leave any out? </a:t>
            </a:r>
          </a:p>
          <a:p>
            <a:pPr lvl="1"/>
            <a:r>
              <a:rPr lang="en-US" b="1" dirty="0"/>
              <a:t>Which knobs to give a user</a:t>
            </a:r>
          </a:p>
          <a:p>
            <a:pPr lvl="1"/>
            <a:r>
              <a:rPr lang="en-US" strike="sngStrike" dirty="0"/>
              <a:t>Order of the enumeration passes </a:t>
            </a:r>
            <a:r>
              <a:rPr lang="en-US" dirty="0"/>
              <a:t>– I think this is fixed</a:t>
            </a:r>
          </a:p>
          <a:p>
            <a:pPr lvl="1"/>
            <a:r>
              <a:rPr lang="en-US" dirty="0"/>
              <a:t>Size of interleaves</a:t>
            </a:r>
          </a:p>
          <a:p>
            <a:pPr lvl="1"/>
            <a:r>
              <a:rPr lang="en-US" b="1" dirty="0"/>
              <a:t>How to add relevant state without messing up leakage flow (recalculating flow)</a:t>
            </a:r>
          </a:p>
          <a:p>
            <a:pPr lvl="1"/>
            <a:r>
              <a:rPr lang="en-US" strike="sngStrike" dirty="0"/>
              <a:t>Annotation format compatible with later probing</a:t>
            </a:r>
            <a:r>
              <a:rPr lang="en-US" dirty="0"/>
              <a:t> – I think done</a:t>
            </a:r>
          </a:p>
          <a:p>
            <a:pPr lvl="1"/>
            <a:r>
              <a:rPr lang="en-US" b="1" dirty="0"/>
              <a:t>Register list capacity if everything is unconstrained (don’t want extra dependencies)</a:t>
            </a:r>
          </a:p>
          <a:p>
            <a:pPr lvl="1"/>
            <a:r>
              <a:rPr lang="en-US" b="1" dirty="0"/>
              <a:t>Test prioritization after the fact</a:t>
            </a:r>
          </a:p>
          <a:p>
            <a:pPr lvl="1"/>
            <a:r>
              <a:rPr lang="en-US" strike="sngStrike" dirty="0"/>
              <a:t>Repetitive tests (through multiple forms of modification converging) </a:t>
            </a:r>
            <a:r>
              <a:rPr lang="en-US" dirty="0"/>
              <a:t>I think I designed so this won’t happen</a:t>
            </a:r>
            <a:endParaRPr lang="en-US" strike="sngStrike" dirty="0"/>
          </a:p>
          <a:p>
            <a:r>
              <a:rPr lang="en-US" dirty="0"/>
              <a:t>Stage 3:</a:t>
            </a:r>
          </a:p>
          <a:p>
            <a:pPr lvl="1"/>
            <a:r>
              <a:rPr lang="en-US" dirty="0"/>
              <a:t>Register and memory domains</a:t>
            </a:r>
          </a:p>
          <a:p>
            <a:pPr lvl="1"/>
            <a:r>
              <a:rPr lang="en-US" dirty="0"/>
              <a:t>Cache initial state</a:t>
            </a:r>
          </a:p>
          <a:p>
            <a:pPr lvl="1"/>
            <a:r>
              <a:rPr lang="en-US" dirty="0"/>
              <a:t>Number of times to run things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730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B7AF-469B-CA2D-7963-FF9FFEE51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7611E-1416-3856-8EB0-2502CAC0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11F0E-2578-BB00-0920-8981A05FA4F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74237" y="1401469"/>
            <a:ext cx="10267951" cy="4787255"/>
          </a:xfrm>
        </p:spPr>
        <p:txBody>
          <a:bodyPr numCol="2">
            <a:normAutofit fontScale="85000" lnSpcReduction="20000"/>
          </a:bodyPr>
          <a:lstStyle/>
          <a:p>
            <a:r>
              <a:rPr lang="en-US" sz="2133" dirty="0"/>
              <a:t>Nodes:</a:t>
            </a:r>
          </a:p>
          <a:p>
            <a:pPr marL="380990" indent="-380990"/>
            <a:r>
              <a:rPr lang="en-US" sz="2133" dirty="0"/>
              <a:t>Instructions: </a:t>
            </a:r>
          </a:p>
          <a:p>
            <a:pPr marL="683667" lvl="2" indent="-380990"/>
            <a:r>
              <a:rPr lang="en-US" sz="2133" dirty="0" err="1"/>
              <a:t>Xmit</a:t>
            </a:r>
            <a:r>
              <a:rPr lang="en-US" sz="2133" dirty="0"/>
              <a:t> </a:t>
            </a:r>
          </a:p>
          <a:p>
            <a:pPr marL="1142971" lvl="3" indent="-380990"/>
            <a:r>
              <a:rPr lang="en-US" sz="2133" dirty="0" err="1"/>
              <a:t>Ld</a:t>
            </a:r>
            <a:endParaRPr lang="en-US" sz="2133" dirty="0"/>
          </a:p>
          <a:p>
            <a:pPr marL="1142971" lvl="3" indent="-380990"/>
            <a:r>
              <a:rPr lang="en-US" sz="2133" dirty="0"/>
              <a:t>Str</a:t>
            </a:r>
          </a:p>
          <a:p>
            <a:pPr marL="1142971" lvl="3" indent="-380990"/>
            <a:r>
              <a:rPr lang="en-US" sz="2133" dirty="0"/>
              <a:t>Br</a:t>
            </a:r>
          </a:p>
          <a:p>
            <a:pPr marL="1142971" lvl="3" indent="-380990"/>
            <a:r>
              <a:rPr lang="en-US" sz="2133" dirty="0"/>
              <a:t>other</a:t>
            </a:r>
          </a:p>
          <a:p>
            <a:pPr marL="683667" lvl="2" indent="-380990"/>
            <a:r>
              <a:rPr lang="en-US" sz="2133" dirty="0"/>
              <a:t>Non-</a:t>
            </a:r>
            <a:r>
              <a:rPr lang="en-US" sz="2133" dirty="0" err="1"/>
              <a:t>xmit</a:t>
            </a:r>
            <a:endParaRPr lang="en-US" sz="2133" dirty="0"/>
          </a:p>
          <a:p>
            <a:pPr marL="1142971" lvl="3" indent="-380990"/>
            <a:r>
              <a:rPr lang="en-US" sz="2133" dirty="0"/>
              <a:t>Br</a:t>
            </a:r>
          </a:p>
          <a:p>
            <a:pPr marL="1142971" lvl="3" indent="-380990"/>
            <a:r>
              <a:rPr lang="en-US" sz="2133" dirty="0"/>
              <a:t>other</a:t>
            </a:r>
          </a:p>
          <a:p>
            <a:pPr marL="380990" indent="-380990"/>
            <a:r>
              <a:rPr lang="en-US" sz="2133" dirty="0"/>
              <a:t>State: reg, mem</a:t>
            </a:r>
          </a:p>
          <a:p>
            <a:pPr marL="0" indent="0"/>
            <a:r>
              <a:rPr lang="en-US" sz="2133" dirty="0"/>
              <a:t>Booleans:</a:t>
            </a:r>
          </a:p>
          <a:p>
            <a:pPr marL="380990" indent="-380990"/>
            <a:r>
              <a:rPr lang="en-US" sz="2133" dirty="0"/>
              <a:t>Committed (out of ROB, non-spec)</a:t>
            </a:r>
          </a:p>
          <a:p>
            <a:pPr marL="683667" lvl="2" indent="-380990"/>
            <a:r>
              <a:rPr lang="en-US" sz="2133" dirty="0"/>
              <a:t>Contiguous at end of SPO</a:t>
            </a:r>
          </a:p>
          <a:p>
            <a:pPr marL="380990" indent="-380990"/>
            <a:r>
              <a:rPr lang="en-US" sz="2133" dirty="0"/>
              <a:t>Resolved </a:t>
            </a:r>
          </a:p>
          <a:p>
            <a:pPr marL="683667" lvl="2" indent="-380990"/>
            <a:r>
              <a:rPr lang="en-US" sz="2133" dirty="0"/>
              <a:t>Br knows target and condition</a:t>
            </a:r>
          </a:p>
          <a:p>
            <a:pPr marL="683667" lvl="2" indent="-380990"/>
            <a:r>
              <a:rPr lang="en-US" sz="2133" dirty="0" err="1"/>
              <a:t>Ld</a:t>
            </a:r>
            <a:r>
              <a:rPr lang="en-US" sz="2133" dirty="0"/>
              <a:t> str know addr</a:t>
            </a:r>
          </a:p>
          <a:p>
            <a:pPr marL="0" indent="0"/>
            <a:r>
              <a:rPr lang="en-US" sz="2133" dirty="0"/>
              <a:t>Edges:</a:t>
            </a:r>
          </a:p>
          <a:p>
            <a:pPr marL="380990" indent="-380990"/>
            <a:r>
              <a:rPr lang="en-US" sz="2133" dirty="0"/>
              <a:t>Ordering</a:t>
            </a:r>
          </a:p>
          <a:p>
            <a:pPr marL="683667" lvl="2" indent="-380990"/>
            <a:r>
              <a:rPr lang="en-US" sz="2133" dirty="0"/>
              <a:t>Po: i-&gt;i</a:t>
            </a:r>
          </a:p>
          <a:p>
            <a:pPr marL="683667" lvl="2" indent="-380990"/>
            <a:r>
              <a:rPr lang="en-US" sz="2133" dirty="0"/>
              <a:t>Spo: i-&gt;i</a:t>
            </a:r>
          </a:p>
          <a:p>
            <a:pPr marL="683667" lvl="2" indent="-380990"/>
            <a:r>
              <a:rPr lang="en-US" sz="2133" dirty="0"/>
              <a:t>Rf, </a:t>
            </a:r>
            <a:r>
              <a:rPr lang="en-US" sz="2133" dirty="0" err="1"/>
              <a:t>ddi</a:t>
            </a:r>
            <a:r>
              <a:rPr lang="en-US" sz="2133" dirty="0"/>
              <a:t>: i-&gt;i</a:t>
            </a:r>
          </a:p>
          <a:p>
            <a:pPr marL="380990" indent="-380990"/>
            <a:r>
              <a:rPr lang="en-US" sz="2133" dirty="0"/>
              <a:t>Labeling</a:t>
            </a:r>
          </a:p>
          <a:p>
            <a:pPr marL="683667" lvl="2" indent="-380990"/>
            <a:r>
              <a:rPr lang="en-US" sz="2133" dirty="0" err="1"/>
              <a:t>In_addr</a:t>
            </a:r>
            <a:r>
              <a:rPr lang="en-US" sz="2133" dirty="0"/>
              <a:t>, </a:t>
            </a:r>
            <a:r>
              <a:rPr lang="en-US" sz="2133" dirty="0" err="1"/>
              <a:t>in_reg</a:t>
            </a:r>
            <a:r>
              <a:rPr lang="en-US" sz="2133" dirty="0"/>
              <a:t>, </a:t>
            </a:r>
            <a:r>
              <a:rPr lang="en-US" sz="2133" dirty="0" err="1"/>
              <a:t>in_mem</a:t>
            </a:r>
            <a:r>
              <a:rPr lang="en-US" sz="2133" dirty="0"/>
              <a:t>, </a:t>
            </a:r>
            <a:r>
              <a:rPr lang="en-US" sz="2133" dirty="0" err="1"/>
              <a:t>out_reg</a:t>
            </a:r>
            <a:r>
              <a:rPr lang="en-US" sz="2133" dirty="0"/>
              <a:t>, </a:t>
            </a:r>
            <a:r>
              <a:rPr lang="en-US" sz="2133" dirty="0" err="1"/>
              <a:t>out_mem</a:t>
            </a:r>
            <a:r>
              <a:rPr lang="en-US" sz="2133" dirty="0"/>
              <a:t>: i-&gt;state</a:t>
            </a:r>
          </a:p>
          <a:p>
            <a:pPr marL="683667" lvl="2" indent="-380990"/>
            <a:r>
              <a:rPr lang="en-US" sz="2133" dirty="0"/>
              <a:t>Bool: i-&gt;bool</a:t>
            </a:r>
          </a:p>
          <a:p>
            <a:pPr marL="380990" indent="-380990"/>
            <a:endParaRPr lang="en-US" sz="2133" dirty="0"/>
          </a:p>
          <a:p>
            <a:pPr marL="0" indent="0">
              <a:buNone/>
            </a:pPr>
            <a:r>
              <a:rPr lang="en-US" sz="2133" b="1" dirty="0"/>
              <a:t>Relaxations</a:t>
            </a:r>
          </a:p>
          <a:p>
            <a:r>
              <a:rPr lang="en-US" sz="2133" dirty="0"/>
              <a:t>Remove instruction</a:t>
            </a:r>
          </a:p>
          <a:p>
            <a:r>
              <a:rPr lang="en-US" sz="2133" dirty="0"/>
              <a:t>Remove operand</a:t>
            </a:r>
          </a:p>
          <a:p>
            <a:r>
              <a:rPr lang="en-US" sz="2133" dirty="0"/>
              <a:t>Remove committed</a:t>
            </a:r>
          </a:p>
          <a:p>
            <a:r>
              <a:rPr lang="en-US" sz="2133" dirty="0"/>
              <a:t>Remove resolved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F7237-56D2-F8E4-5E5D-7168CDC8A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C8580F89-A3EA-CF4C-A13C-CD8A0A8D4F14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065348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DBCE-4503-D59A-AA94-34C141A7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Defenses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1F6AE-4EC4-BFD1-13C8-FDA4443CC65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>
                <a:hlinkClick r:id="" action="ppaction://noaction"/>
              </a:rPr>
              <a:t>STT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[Yu+, MICRO ’19]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  <a:p>
            <a:r>
              <a:rPr lang="en-US" dirty="0">
                <a:hlinkClick r:id="" action="ppaction://noaction"/>
              </a:rPr>
              <a:t>SpecShield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[Barber+, PACT ’19]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NDA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[Weisse+, MICRO ’19]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Delay-on-Miss </a:t>
            </a:r>
            <a:r>
              <a:rPr lang="en-US" dirty="0"/>
              <a:t>    </a:t>
            </a:r>
            <a:r>
              <a:rPr lang="en-US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[Sakalis+, ISCA ’19]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SDO</a:t>
            </a:r>
            <a:r>
              <a:rPr lang="en-US" dirty="0"/>
              <a:t>      </a:t>
            </a:r>
            <a:r>
              <a:rPr lang="en-US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[Yu+, ISCA ’20]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SPT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[Choudhary+, MICRO ’21]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hlinkClick r:id="" action="ppaction://noaction"/>
              </a:rPr>
              <a:t>Recon</a:t>
            </a:r>
            <a:r>
              <a:rPr lang="en-US" dirty="0"/>
              <a:t>     </a:t>
            </a:r>
            <a:r>
              <a:rPr lang="en-US" dirty="0">
                <a:solidFill>
                  <a:srgbClr val="0070C0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[Aimoniotus+, MICRO ’23]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chemeClr val="bg2"/>
                </a:solidFill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Doppelgänger loads </a:t>
            </a:r>
            <a:r>
              <a:rPr lang="en-US" dirty="0">
                <a:solidFill>
                  <a:schemeClr val="bg2"/>
                </a:solidFill>
              </a:rPr>
              <a:t>    </a:t>
            </a:r>
            <a:r>
              <a:rPr lang="en-US" dirty="0">
                <a:solidFill>
                  <a:srgbClr val="0070C0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[Kvalsvik+, ISCA ’23]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dirty="0"/>
              <a:t>Protean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06987-92A4-183A-E221-F1A8928F9301}"/>
              </a:ext>
            </a:extLst>
          </p:cNvPr>
          <p:cNvSpPr txBox="1"/>
          <p:nvPr/>
        </p:nvSpPr>
        <p:spPr>
          <a:xfrm>
            <a:off x="7478486" y="571500"/>
            <a:ext cx="367392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implemented stage 1 except Protean, how to represent forced </a:t>
            </a:r>
            <a:r>
              <a:rPr lang="en-US" dirty="0" err="1"/>
              <a:t>protsets</a:t>
            </a:r>
            <a:r>
              <a:rPr lang="en-US" dirty="0"/>
              <a:t> from compiler with only an update rule?</a:t>
            </a:r>
          </a:p>
          <a:p>
            <a:r>
              <a:rPr lang="en-US" dirty="0"/>
              <a:t>Mostly just using STT and NDA for stage 2 initial testing, but should be generally applicable, except need to specify tuning parameters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F0EED-EC67-F4A0-B7C5-9BD3AB1C2BFF}"/>
              </a:ext>
            </a:extLst>
          </p:cNvPr>
          <p:cNvSpPr txBox="1"/>
          <p:nvPr/>
        </p:nvSpPr>
        <p:spPr>
          <a:xfrm>
            <a:off x="8063145" y="3076115"/>
            <a:ext cx="36739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Amulet tests:</a:t>
            </a:r>
          </a:p>
          <a:p>
            <a:r>
              <a:rPr lang="en-US" dirty="0" err="1"/>
              <a:t>InvisiSpec</a:t>
            </a:r>
            <a:r>
              <a:rPr lang="en-US" dirty="0"/>
              <a:t>, </a:t>
            </a:r>
            <a:r>
              <a:rPr lang="en-US" dirty="0" err="1"/>
              <a:t>CleanupSpec</a:t>
            </a:r>
            <a:r>
              <a:rPr lang="en-US" dirty="0"/>
              <a:t>, STT, and </a:t>
            </a:r>
            <a:r>
              <a:rPr lang="en-US" dirty="0" err="1"/>
              <a:t>SpecLFB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88A824-218C-7206-8693-2B16F2046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7803679"/>
              </p:ext>
            </p:extLst>
          </p:nvPr>
        </p:nvGraphicFramePr>
        <p:xfrm>
          <a:off x="7478486" y="4627517"/>
          <a:ext cx="3927930" cy="18288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963965">
                  <a:extLst>
                    <a:ext uri="{9D8B030D-6E8A-4147-A177-3AD203B41FA5}">
                      <a16:colId xmlns:a16="http://schemas.microsoft.com/office/drawing/2014/main" val="4218376625"/>
                    </a:ext>
                  </a:extLst>
                </a:gridCol>
                <a:gridCol w="1963965">
                  <a:extLst>
                    <a:ext uri="{9D8B030D-6E8A-4147-A177-3AD203B41FA5}">
                      <a16:colId xmlns:a16="http://schemas.microsoft.com/office/drawing/2014/main" val="3709250042"/>
                    </a:ext>
                  </a:extLst>
                </a:gridCol>
              </a:tblGrid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STT prog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368883"/>
                  </a:ext>
                </a:extLst>
              </a:tr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181953"/>
                  </a:ext>
                </a:extLst>
              </a:tr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689654"/>
                  </a:ext>
                </a:extLst>
              </a:tr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846008"/>
                  </a:ext>
                </a:extLst>
              </a:tr>
              <a:tr h="293582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667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35740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98127-19A1-77F1-FEC4-082CB8EBA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things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F994A-F47D-5D22-294D-219C518DC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dirty="0"/>
              <a:t>Updates:</a:t>
            </a:r>
          </a:p>
          <a:p>
            <a:pPr lvl="1"/>
            <a:r>
              <a:rPr lang="en-US" dirty="0"/>
              <a:t>Got rid of </a:t>
            </a:r>
            <a:r>
              <a:rPr lang="en-US" dirty="0" err="1"/>
              <a:t>json</a:t>
            </a:r>
            <a:r>
              <a:rPr lang="en-US" dirty="0"/>
              <a:t> factoring, I just have  a model for each thing, could allow me to add more custom relaxations down the line if necessary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Had to go back to the hacky propagation again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secret set in the presentation</a:t>
            </a:r>
          </a:p>
          <a:p>
            <a:pPr lvl="1"/>
            <a:r>
              <a:rPr lang="en-US" dirty="0"/>
              <a:t>Have some good figures coming up </a:t>
            </a:r>
          </a:p>
          <a:p>
            <a:pPr lvl="1"/>
            <a:r>
              <a:rPr lang="en-US" dirty="0"/>
              <a:t>Writing, made progress on intro and started some of the technical sections. Can I send you an intro draft soon</a:t>
            </a:r>
          </a:p>
          <a:p>
            <a:pPr lvl="1"/>
            <a:endParaRPr lang="en-US" dirty="0"/>
          </a:p>
          <a:p>
            <a:r>
              <a:rPr lang="en-US" dirty="0"/>
              <a:t>Apple final round Monday</a:t>
            </a:r>
          </a:p>
          <a:p>
            <a:pPr lvl="1"/>
            <a:r>
              <a:rPr lang="en-US" dirty="0"/>
              <a:t>Good talk with Jon Tyler about test design for HSCs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55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8494-AA3E-A4C8-6A65-3A543C98D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FFA5E-EA95-46C7-54DB-D207FBFAF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STT (upon commit)</a:t>
            </a:r>
          </a:p>
          <a:p>
            <a:pPr marL="0" indent="0">
              <a:buNone/>
            </a:pPr>
            <a:r>
              <a:rPr lang="en-US" sz="1400" b="1" dirty="0"/>
              <a:t>Execution contract: </a:t>
            </a:r>
          </a:p>
          <a:p>
            <a:pPr marL="0" indent="0">
              <a:buNone/>
            </a:pPr>
            <a:r>
              <a:rPr lang="en-US" sz="1400" dirty="0"/>
              <a:t>Speculation = uncommitted</a:t>
            </a:r>
          </a:p>
          <a:p>
            <a:pPr marL="0" indent="0">
              <a:buNone/>
            </a:pPr>
            <a:r>
              <a:rPr lang="en-US" sz="1400" b="1" dirty="0"/>
              <a:t>Protection set:</a:t>
            </a:r>
          </a:p>
          <a:p>
            <a:pPr marL="0" indent="0">
              <a:buNone/>
            </a:pPr>
            <a:r>
              <a:rPr lang="en-US" sz="1400" dirty="0"/>
              <a:t>All memory</a:t>
            </a:r>
          </a:p>
          <a:p>
            <a:pPr marL="0" indent="0">
              <a:buNone/>
            </a:pPr>
            <a:r>
              <a:rPr lang="en-US" sz="1400" b="1" dirty="0"/>
              <a:t>Leakage function: </a:t>
            </a:r>
            <a:r>
              <a:rPr lang="en-US" sz="1400" dirty="0"/>
              <a:t>all load’s addresses</a:t>
            </a:r>
          </a:p>
          <a:p>
            <a:pPr marL="0" indent="0">
              <a:buNone/>
            </a:pPr>
            <a:r>
              <a:rPr lang="en-US" sz="1400" dirty="0"/>
              <a:t>+ branch and other </a:t>
            </a:r>
            <a:r>
              <a:rPr lang="en-US" sz="1400" dirty="0" err="1"/>
              <a:t>xmit’s</a:t>
            </a:r>
            <a:r>
              <a:rPr lang="en-US" sz="1400" dirty="0"/>
              <a:t> </a:t>
            </a:r>
            <a:r>
              <a:rPr lang="en-US" sz="1400" dirty="0" err="1"/>
              <a:t>inregisters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Protection mechanism (propagation): </a:t>
            </a:r>
            <a:r>
              <a:rPr lang="en-US" sz="1400" dirty="0"/>
              <a:t>static except committed loads unprotect their address in </a:t>
            </a:r>
            <a:endParaRPr lang="en-US" sz="1400" b="1" dirty="0"/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2F934C56-B1DC-12C4-B8C7-7FE216A7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28" y="204826"/>
            <a:ext cx="8095593" cy="369136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58393F6-DF54-9C91-80C7-EFEAA74F4714}"/>
                  </a:ext>
                </a:extLst>
              </p14:cNvPr>
              <p14:cNvContentPartPr/>
              <p14:nvPr/>
            </p14:nvContentPartPr>
            <p14:xfrm>
              <a:off x="4686377" y="506057"/>
              <a:ext cx="1029600" cy="16840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58393F6-DF54-9C91-80C7-EFEAA74F47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32737" y="398057"/>
                <a:ext cx="1137240" cy="189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5878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CA60A-F96A-42B8-08FC-6205853BD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CACAE-4CDE-A71A-1F2F-48075A5B1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7FD6-F2B1-DE17-37D7-0C877A5DA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548188" cy="41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06C5B09C-782F-1C0F-4C7A-0DAF09BE4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618" y="325483"/>
            <a:ext cx="8095593" cy="36913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3C5EEE-B9B0-36C6-15DC-7AA37895AED6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FCE101C-566A-9910-421F-4A21CB87D1BA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29E1EB-BDF3-FF87-BDD6-3D1DDB633411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ACC7977-BCC8-7A85-A5AA-D1F63780BF13}"/>
              </a:ext>
            </a:extLst>
          </p:cNvPr>
          <p:cNvSpPr txBox="1">
            <a:spLocks/>
          </p:cNvSpPr>
          <p:nvPr/>
        </p:nvSpPr>
        <p:spPr>
          <a:xfrm>
            <a:off x="7118507" y="450733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load r1 [r0]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000" dirty="0"/>
              <a:t>Uncommitted, unresolved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load r2 [r1]</a:t>
            </a:r>
          </a:p>
          <a:p>
            <a:pPr marL="0" indent="0">
              <a:buNone/>
            </a:pPr>
            <a:r>
              <a:rPr lang="en-US" sz="1000" dirty="0"/>
              <a:t>Uncommitted, unresolved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776492-5EF4-7845-5301-4BE949D88DF4}"/>
              </a:ext>
            </a:extLst>
          </p:cNvPr>
          <p:cNvSpPr/>
          <p:nvPr/>
        </p:nvSpPr>
        <p:spPr>
          <a:xfrm>
            <a:off x="9380575" y="4126973"/>
            <a:ext cx="228600" cy="2462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5BCD4B8-F479-B9D1-6337-7D6A933802A5}"/>
              </a:ext>
            </a:extLst>
          </p:cNvPr>
          <p:cNvSpPr/>
          <p:nvPr/>
        </p:nvSpPr>
        <p:spPr>
          <a:xfrm>
            <a:off x="9380575" y="4539576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02ABDDD-CCE3-1C7E-C077-7DCED2483136}"/>
              </a:ext>
            </a:extLst>
          </p:cNvPr>
          <p:cNvSpPr/>
          <p:nvPr/>
        </p:nvSpPr>
        <p:spPr>
          <a:xfrm>
            <a:off x="9380575" y="4960952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1B17B3A-1447-6415-8BC4-B8A2EAE09445}"/>
              </a:ext>
            </a:extLst>
          </p:cNvPr>
          <p:cNvSpPr/>
          <p:nvPr/>
        </p:nvSpPr>
        <p:spPr>
          <a:xfrm>
            <a:off x="9380575" y="5373717"/>
            <a:ext cx="228600" cy="24622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26E996-25C5-8FF2-360A-918BA1C1948C}"/>
              </a:ext>
            </a:extLst>
          </p:cNvPr>
          <p:cNvSpPr/>
          <p:nvPr/>
        </p:nvSpPr>
        <p:spPr>
          <a:xfrm>
            <a:off x="9380575" y="5765437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3D1B29C-92D8-988F-FC35-62D5DDA1D3A6}"/>
              </a:ext>
            </a:extLst>
          </p:cNvPr>
          <p:cNvSpPr/>
          <p:nvPr/>
        </p:nvSpPr>
        <p:spPr>
          <a:xfrm>
            <a:off x="9380575" y="6157157"/>
            <a:ext cx="228600" cy="246221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8D2FD8-6312-2ECF-3BF0-CF6A982CABD8}"/>
              </a:ext>
            </a:extLst>
          </p:cNvPr>
          <p:cNvSpPr txBox="1"/>
          <p:nvPr/>
        </p:nvSpPr>
        <p:spPr>
          <a:xfrm>
            <a:off x="9151315" y="3873082"/>
            <a:ext cx="1170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operands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A44A6BC-AAF5-C832-583F-A6F326E165AE}"/>
              </a:ext>
            </a:extLst>
          </p:cNvPr>
          <p:cNvCxnSpPr>
            <a:endCxn id="13" idx="2"/>
          </p:cNvCxnSpPr>
          <p:nvPr/>
        </p:nvCxnSpPr>
        <p:spPr>
          <a:xfrm flipV="1">
            <a:off x="8654143" y="4250084"/>
            <a:ext cx="726432" cy="336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30507F8-6B65-E762-1651-4C3D9692FE63}"/>
              </a:ext>
            </a:extLst>
          </p:cNvPr>
          <p:cNvCxnSpPr>
            <a:cxnSpLocks/>
          </p:cNvCxnSpPr>
          <p:nvPr/>
        </p:nvCxnSpPr>
        <p:spPr>
          <a:xfrm flipV="1">
            <a:off x="8654143" y="5831479"/>
            <a:ext cx="726432" cy="38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9B8F38-D301-584C-F2EA-0F3CBDAD1042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8654143" y="4802805"/>
            <a:ext cx="726432" cy="281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B7B357A-E5F6-DBF3-DDBB-B3D3E1939075}"/>
              </a:ext>
            </a:extLst>
          </p:cNvPr>
          <p:cNvCxnSpPr>
            <a:cxnSpLocks/>
          </p:cNvCxnSpPr>
          <p:nvPr/>
        </p:nvCxnSpPr>
        <p:spPr>
          <a:xfrm>
            <a:off x="8654143" y="5943779"/>
            <a:ext cx="726432" cy="2812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E54463-C074-879C-E36C-72ED7AF3979B}"/>
              </a:ext>
            </a:extLst>
          </p:cNvPr>
          <p:cNvCxnSpPr>
            <a:cxnSpLocks/>
          </p:cNvCxnSpPr>
          <p:nvPr/>
        </p:nvCxnSpPr>
        <p:spPr>
          <a:xfrm flipV="1">
            <a:off x="8653294" y="4643606"/>
            <a:ext cx="726432" cy="380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80AA78D-49F9-58BB-03F5-E70EDCD15ABB}"/>
              </a:ext>
            </a:extLst>
          </p:cNvPr>
          <p:cNvCxnSpPr/>
          <p:nvPr/>
        </p:nvCxnSpPr>
        <p:spPr>
          <a:xfrm flipV="1">
            <a:off x="8653294" y="5488729"/>
            <a:ext cx="726432" cy="3366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37F45742-775F-C647-D793-28EFFD4F29E1}"/>
              </a:ext>
            </a:extLst>
          </p:cNvPr>
          <p:cNvSpPr/>
          <p:nvPr/>
        </p:nvSpPr>
        <p:spPr>
          <a:xfrm>
            <a:off x="7118507" y="4373194"/>
            <a:ext cx="1534787" cy="7108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526F28-A2B5-C7C4-B85E-9008129F88E0}"/>
              </a:ext>
            </a:extLst>
          </p:cNvPr>
          <p:cNvSpPr/>
          <p:nvPr/>
        </p:nvSpPr>
        <p:spPr>
          <a:xfrm>
            <a:off x="7118507" y="5694895"/>
            <a:ext cx="1534787" cy="7108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BB8A83A-C831-2352-9DD5-7BE6F6B1D573}"/>
              </a:ext>
            </a:extLst>
          </p:cNvPr>
          <p:cNvSpPr txBox="1"/>
          <p:nvPr/>
        </p:nvSpPr>
        <p:spPr>
          <a:xfrm>
            <a:off x="8673641" y="4170932"/>
            <a:ext cx="61640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inaddr</a:t>
            </a:r>
            <a:endParaRPr lang="en-US" sz="7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D4C6C6-FDAD-791B-9F32-30F74A524133}"/>
              </a:ext>
            </a:extLst>
          </p:cNvPr>
          <p:cNvSpPr txBox="1"/>
          <p:nvPr/>
        </p:nvSpPr>
        <p:spPr>
          <a:xfrm>
            <a:off x="8837736" y="4482232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inmem</a:t>
            </a:r>
            <a:endParaRPr lang="en-US" sz="7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A26FA4-B595-5430-F4A0-96579DB86D93}"/>
              </a:ext>
            </a:extLst>
          </p:cNvPr>
          <p:cNvSpPr txBox="1"/>
          <p:nvPr/>
        </p:nvSpPr>
        <p:spPr>
          <a:xfrm>
            <a:off x="8909659" y="4798885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outreg</a:t>
            </a:r>
            <a:endParaRPr lang="en-US" sz="7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89856D-E74F-9C70-30D9-820E57C907F1}"/>
              </a:ext>
            </a:extLst>
          </p:cNvPr>
          <p:cNvSpPr txBox="1"/>
          <p:nvPr/>
        </p:nvSpPr>
        <p:spPr>
          <a:xfrm>
            <a:off x="8673641" y="5485925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inaddr</a:t>
            </a:r>
            <a:endParaRPr lang="en-US" sz="7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84889E-BEAE-CA19-5155-AF931F70AAB8}"/>
              </a:ext>
            </a:extLst>
          </p:cNvPr>
          <p:cNvSpPr txBox="1"/>
          <p:nvPr/>
        </p:nvSpPr>
        <p:spPr>
          <a:xfrm>
            <a:off x="8942185" y="5690677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inmem</a:t>
            </a:r>
            <a:endParaRPr lang="en-US" sz="7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4D199B7-81CB-73A8-D03E-45468429E9D9}"/>
              </a:ext>
            </a:extLst>
          </p:cNvPr>
          <p:cNvSpPr txBox="1"/>
          <p:nvPr/>
        </p:nvSpPr>
        <p:spPr>
          <a:xfrm>
            <a:off x="8942185" y="5945747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outreg</a:t>
            </a:r>
            <a:endParaRPr lang="en-US" sz="7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68D5EB0-D684-69ED-92B0-071CCC253653}"/>
              </a:ext>
            </a:extLst>
          </p:cNvPr>
          <p:cNvCxnSpPr>
            <a:cxnSpLocks/>
          </p:cNvCxnSpPr>
          <p:nvPr/>
        </p:nvCxnSpPr>
        <p:spPr>
          <a:xfrm>
            <a:off x="7812315" y="5096814"/>
            <a:ext cx="0" cy="5891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97D497F-B295-0594-50D5-DAF89069BF7F}"/>
              </a:ext>
            </a:extLst>
          </p:cNvPr>
          <p:cNvSpPr txBox="1"/>
          <p:nvPr/>
        </p:nvSpPr>
        <p:spPr>
          <a:xfrm>
            <a:off x="7812315" y="5274515"/>
            <a:ext cx="117043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err="1"/>
              <a:t>spo</a:t>
            </a:r>
            <a:endParaRPr lang="en-US" sz="9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FE935A-C3A4-8DB2-9177-9ECDE7AB0A06}"/>
              </a:ext>
            </a:extLst>
          </p:cNvPr>
          <p:cNvSpPr txBox="1"/>
          <p:nvPr/>
        </p:nvSpPr>
        <p:spPr>
          <a:xfrm>
            <a:off x="10432562" y="4288448"/>
            <a:ext cx="11704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r0</a:t>
            </a:r>
            <a:endParaRPr lang="en-US" sz="1600" dirty="0"/>
          </a:p>
          <a:p>
            <a:endParaRPr lang="en-US" sz="1200" dirty="0"/>
          </a:p>
          <a:p>
            <a:r>
              <a:rPr lang="en-US" sz="1200" dirty="0">
                <a:solidFill>
                  <a:schemeClr val="accent5"/>
                </a:solidFill>
              </a:rPr>
              <a:t>[r0]</a:t>
            </a:r>
          </a:p>
          <a:p>
            <a:endParaRPr lang="en-US" sz="1200" dirty="0"/>
          </a:p>
          <a:p>
            <a:r>
              <a:rPr lang="en-US" sz="1200" dirty="0"/>
              <a:t>r1</a:t>
            </a:r>
          </a:p>
          <a:p>
            <a:endParaRPr lang="en-US" sz="1200" dirty="0"/>
          </a:p>
          <a:p>
            <a:r>
              <a:rPr lang="en-US" sz="1200" dirty="0">
                <a:solidFill>
                  <a:schemeClr val="accent5"/>
                </a:solidFill>
              </a:rPr>
              <a:t>[r1]</a:t>
            </a:r>
          </a:p>
          <a:p>
            <a:endParaRPr lang="en-US" sz="1200" dirty="0">
              <a:solidFill>
                <a:schemeClr val="accent5"/>
              </a:solidFill>
            </a:endParaRPr>
          </a:p>
          <a:p>
            <a:r>
              <a:rPr lang="en-US" sz="1200" dirty="0"/>
              <a:t>r2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012F6F-AFB3-5CFF-D3C4-F8C79B6796B7}"/>
              </a:ext>
            </a:extLst>
          </p:cNvPr>
          <p:cNvSpPr txBox="1"/>
          <p:nvPr/>
        </p:nvSpPr>
        <p:spPr>
          <a:xfrm>
            <a:off x="7510297" y="3873082"/>
            <a:ext cx="1170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instructions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C53FC23-A3E6-5D0E-A926-B308252D3853}"/>
              </a:ext>
            </a:extLst>
          </p:cNvPr>
          <p:cNvSpPr txBox="1"/>
          <p:nvPr/>
        </p:nvSpPr>
        <p:spPr>
          <a:xfrm>
            <a:off x="10377115" y="3873082"/>
            <a:ext cx="11704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state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00420B0-402B-4E88-58E5-5A3B0CD44D48}"/>
              </a:ext>
            </a:extLst>
          </p:cNvPr>
          <p:cNvCxnSpPr>
            <a:cxnSpLocks/>
          </p:cNvCxnSpPr>
          <p:nvPr/>
        </p:nvCxnSpPr>
        <p:spPr>
          <a:xfrm>
            <a:off x="9616944" y="4262092"/>
            <a:ext cx="815618" cy="1670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9E3631B-F1CC-71AF-2C98-A4434717444D}"/>
              </a:ext>
            </a:extLst>
          </p:cNvPr>
          <p:cNvCxnSpPr>
            <a:cxnSpLocks/>
          </p:cNvCxnSpPr>
          <p:nvPr/>
        </p:nvCxnSpPr>
        <p:spPr>
          <a:xfrm>
            <a:off x="9623937" y="4659336"/>
            <a:ext cx="753178" cy="1341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89217B7-B484-BF7A-3474-5B3033AC040D}"/>
              </a:ext>
            </a:extLst>
          </p:cNvPr>
          <p:cNvCxnSpPr>
            <a:cxnSpLocks/>
          </p:cNvCxnSpPr>
          <p:nvPr/>
        </p:nvCxnSpPr>
        <p:spPr>
          <a:xfrm>
            <a:off x="9603855" y="5095619"/>
            <a:ext cx="808625" cy="90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FB13F93-47E9-E368-5E51-85414949FED0}"/>
              </a:ext>
            </a:extLst>
          </p:cNvPr>
          <p:cNvCxnSpPr>
            <a:cxnSpLocks/>
            <a:endCxn id="41" idx="1"/>
          </p:cNvCxnSpPr>
          <p:nvPr/>
        </p:nvCxnSpPr>
        <p:spPr>
          <a:xfrm flipV="1">
            <a:off x="9635468" y="5196389"/>
            <a:ext cx="797094" cy="306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0007F0D-F982-FBB9-C203-5B865BD84E95}"/>
              </a:ext>
            </a:extLst>
          </p:cNvPr>
          <p:cNvCxnSpPr>
            <a:cxnSpLocks/>
          </p:cNvCxnSpPr>
          <p:nvPr/>
        </p:nvCxnSpPr>
        <p:spPr>
          <a:xfrm flipV="1">
            <a:off x="9623937" y="5552590"/>
            <a:ext cx="868256" cy="348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49DB30C1-A519-70EE-E792-D92E110459AF}"/>
              </a:ext>
            </a:extLst>
          </p:cNvPr>
          <p:cNvCxnSpPr>
            <a:cxnSpLocks/>
          </p:cNvCxnSpPr>
          <p:nvPr/>
        </p:nvCxnSpPr>
        <p:spPr>
          <a:xfrm flipV="1">
            <a:off x="9572516" y="5947872"/>
            <a:ext cx="868256" cy="34817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55DB2C25-3B65-2B2E-D384-CCE36D3863B7}"/>
              </a:ext>
            </a:extLst>
          </p:cNvPr>
          <p:cNvCxnSpPr>
            <a:cxnSpLocks/>
            <a:stCxn id="15" idx="6"/>
          </p:cNvCxnSpPr>
          <p:nvPr/>
        </p:nvCxnSpPr>
        <p:spPr>
          <a:xfrm flipH="1">
            <a:off x="9603006" y="5084063"/>
            <a:ext cx="6169" cy="412764"/>
          </a:xfrm>
          <a:prstGeom prst="curvedConnector4">
            <a:avLst>
              <a:gd name="adj1" fmla="val -3705625"/>
              <a:gd name="adj2" fmla="val 6491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>
            <a:extLst>
              <a:ext uri="{FF2B5EF4-FFF2-40B4-BE49-F238E27FC236}">
                <a16:creationId xmlns:a16="http://schemas.microsoft.com/office/drawing/2014/main" id="{09463568-32F2-863F-3FD1-20B2C7FBCFEB}"/>
              </a:ext>
            </a:extLst>
          </p:cNvPr>
          <p:cNvCxnSpPr>
            <a:cxnSpLocks/>
          </p:cNvCxnSpPr>
          <p:nvPr/>
        </p:nvCxnSpPr>
        <p:spPr>
          <a:xfrm flipH="1">
            <a:off x="9573053" y="4679017"/>
            <a:ext cx="6169" cy="412764"/>
          </a:xfrm>
          <a:prstGeom prst="curvedConnector4">
            <a:avLst>
              <a:gd name="adj1" fmla="val -3705625"/>
              <a:gd name="adj2" fmla="val 8214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A492BFD-242C-CA67-106B-30B7DC422C83}"/>
              </a:ext>
            </a:extLst>
          </p:cNvPr>
          <p:cNvSpPr txBox="1"/>
          <p:nvPr/>
        </p:nvSpPr>
        <p:spPr>
          <a:xfrm>
            <a:off x="10412480" y="6292475"/>
            <a:ext cx="1708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Orange is transmitter</a:t>
            </a:r>
          </a:p>
          <a:p>
            <a:r>
              <a:rPr lang="en-US" sz="1050" dirty="0"/>
              <a:t>Purple protected state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1E302F-A649-D393-DBE9-0B8E1F87B5DE}"/>
              </a:ext>
            </a:extLst>
          </p:cNvPr>
          <p:cNvSpPr txBox="1"/>
          <p:nvPr/>
        </p:nvSpPr>
        <p:spPr>
          <a:xfrm>
            <a:off x="9731588" y="4741844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err="1"/>
              <a:t>ddi</a:t>
            </a:r>
            <a:endParaRPr lang="en-US" sz="7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D0D6EA-583C-26CB-9E11-0AE742A02F98}"/>
              </a:ext>
            </a:extLst>
          </p:cNvPr>
          <p:cNvSpPr txBox="1"/>
          <p:nvPr/>
        </p:nvSpPr>
        <p:spPr>
          <a:xfrm>
            <a:off x="9750391" y="5152965"/>
            <a:ext cx="11704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rf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2AC5C1B-FC20-8104-622D-DA0A16459312}"/>
                  </a:ext>
                </a:extLst>
              </p14:cNvPr>
              <p14:cNvContentPartPr/>
              <p14:nvPr/>
            </p14:nvContentPartPr>
            <p14:xfrm>
              <a:off x="4172681" y="2130108"/>
              <a:ext cx="1271520" cy="106056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2AC5C1B-FC20-8104-622D-DA0A164593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19041" y="2022108"/>
                <a:ext cx="1379160" cy="127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44601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B5E4B-7ECC-1EF6-68D1-EE3AA462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9806F-393A-A4A3-1A22-44F3D7F7B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1571C-24B1-E3F5-48DC-EC531B9C3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94665708-15A6-FEB5-C66A-DBE699EA2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828" y="204826"/>
            <a:ext cx="8095593" cy="369136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00712A-E427-288C-7762-2300468D9A32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1739012-E33C-0C7F-FA21-905D9DFE66EF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6E86A-1BBF-1BD2-2D6F-15BEA6030ECF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E4C2F3-4126-931C-71BF-94C208DEBDD4}"/>
              </a:ext>
            </a:extLst>
          </p:cNvPr>
          <p:cNvSpPr txBox="1"/>
          <p:nvPr/>
        </p:nvSpPr>
        <p:spPr>
          <a:xfrm>
            <a:off x="7470183" y="4914277"/>
            <a:ext cx="4056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 r1 [r0] // uncommitted, unresolved</a:t>
            </a:r>
          </a:p>
          <a:p>
            <a:r>
              <a:rPr lang="en-US" dirty="0"/>
              <a:t>load r2 [r1] // uncommitted, unresolved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3775938-9FE4-649A-FCC8-5363667B2E0F}"/>
                  </a:ext>
                </a:extLst>
              </p14:cNvPr>
              <p14:cNvContentPartPr/>
              <p14:nvPr/>
            </p14:nvContentPartPr>
            <p14:xfrm>
              <a:off x="5471689" y="1991508"/>
              <a:ext cx="929160" cy="788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3775938-9FE4-649A-FCC8-5363667B2E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8049" y="1883868"/>
                <a:ext cx="1036800" cy="100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3291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451D-0D39-BB81-4F8E-5751F5770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47F7C-98B6-4BA9-5298-9E0AB963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AC4B-4F17-9605-FABA-B4ED94883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111F2F0-DC4D-2BC5-336F-D436DDAC80E8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0ADA00A-DF1A-0133-D65F-08699423EB2B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06464-FD3B-3112-C281-B8EC13179A1B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C972D-C89E-6385-FB6E-0238C79DF75A}"/>
              </a:ext>
            </a:extLst>
          </p:cNvPr>
          <p:cNvSpPr txBox="1"/>
          <p:nvPr/>
        </p:nvSpPr>
        <p:spPr>
          <a:xfrm>
            <a:off x="7470183" y="4914277"/>
            <a:ext cx="40567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25312DF-350F-F176-2614-BB3DAD7CA0D4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25312DF-350F-F176-2614-BB3DAD7CA0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95FEE4E3-66D6-577F-73E6-77D6C17AE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0B6B852-C63E-BE19-4B48-3E4F74D2BC1E}"/>
                  </a:ext>
                </a:extLst>
              </p14:cNvPr>
              <p14:cNvContentPartPr/>
              <p14:nvPr/>
            </p14:nvContentPartPr>
            <p14:xfrm>
              <a:off x="6587601" y="1709076"/>
              <a:ext cx="1827360" cy="228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0B6B852-C63E-BE19-4B48-3E4F74D2BC1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33601" y="1601436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001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C7295-C2C3-4986-A07B-9384BEAC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729BF-AD35-97D5-E60A-839643854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FA75B-1213-79BA-489B-F6871DDAA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82F3FFE-8B4F-7037-AB8D-C226FB8922E8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588CF8D-2DB3-53BC-34E0-AE35E761A8CA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9B4B44-7663-320B-E54D-FB16C7346E6D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8FA28-5FB7-203C-3554-A1AEA8F1CA94}"/>
              </a:ext>
            </a:extLst>
          </p:cNvPr>
          <p:cNvSpPr txBox="1"/>
          <p:nvPr/>
        </p:nvSpPr>
        <p:spPr>
          <a:xfrm>
            <a:off x="7470183" y="4914277"/>
            <a:ext cx="405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[r4] // committed, resolved</a:t>
            </a:r>
          </a:p>
          <a:p>
            <a:r>
              <a:rPr lang="en-US" dirty="0"/>
              <a:t>mov r3 [r1] // committed, resolved</a:t>
            </a:r>
          </a:p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E721BB0-8CAB-72FC-0A2B-0BFA2BCC3CA0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E721BB0-8CAB-72FC-0A2B-0BFA2BCC3C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10E79F75-0472-D490-83D6-A5EA068F6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8BE5AFE-D5DD-1F57-08D8-58E05BDDE4EA}"/>
                  </a:ext>
                </a:extLst>
              </p14:cNvPr>
              <p14:cNvContentPartPr/>
              <p14:nvPr/>
            </p14:nvContentPartPr>
            <p14:xfrm>
              <a:off x="6556503" y="2093214"/>
              <a:ext cx="1827360" cy="228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8BE5AFE-D5DD-1F57-08D8-58E05BDDE4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2503" y="1985574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691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5D85-8A00-3305-E787-B391A6A2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1FB8-AB1F-15B3-004D-BA5CF4CCC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7F250-F2BC-7D9B-DC88-79784BB9E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C82788-2E13-8DD1-6EFF-9F7855529CCD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DAE9BA-2EBB-A09D-B091-43E069902955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BD130A-A06C-90E8-DF18-006D9B07AE91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D377C-7311-8584-2463-380409A17254}"/>
              </a:ext>
            </a:extLst>
          </p:cNvPr>
          <p:cNvSpPr txBox="1"/>
          <p:nvPr/>
        </p:nvSpPr>
        <p:spPr>
          <a:xfrm>
            <a:off x="7470183" y="4914277"/>
            <a:ext cx="405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[r4] // committed, resolved</a:t>
            </a:r>
          </a:p>
          <a:p>
            <a:r>
              <a:rPr lang="en-US" dirty="0"/>
              <a:t>mov r3 [r1] // committed, resolved</a:t>
            </a:r>
          </a:p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C8C3885-6C10-5FD2-2435-086F2C0B6228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C8C3885-6C10-5FD2-2435-086F2C0B62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43FE35B-09F2-F5F8-5752-47190A038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F0A87A4-C78A-3025-F515-F3A5FA5518C8}"/>
                  </a:ext>
                </a:extLst>
              </p14:cNvPr>
              <p14:cNvContentPartPr/>
              <p14:nvPr/>
            </p14:nvContentPartPr>
            <p14:xfrm>
              <a:off x="6556503" y="2513957"/>
              <a:ext cx="1827360" cy="228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F0A87A4-C78A-3025-F515-F3A5FA5518C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2503" y="2406317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22516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B5EB7-0FDD-2845-A2CD-7FD2CBA85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C71F-A074-B168-DEAC-A53C9E28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BE1C8-4757-0B33-6EE9-770482A0E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1326" y="2301836"/>
            <a:ext cx="421397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/>
              <a:t>Known bug: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mov a [b] </a:t>
            </a:r>
          </a:p>
          <a:p>
            <a:pPr marL="0" indent="0">
              <a:buNone/>
            </a:pPr>
            <a:r>
              <a:rPr lang="en-US" sz="1600" dirty="0"/>
              <a:t>mov c [a] // committed, </a:t>
            </a:r>
            <a:r>
              <a:rPr lang="en-US" sz="1600" dirty="0" err="1"/>
              <a:t>unprot</a:t>
            </a:r>
            <a:r>
              <a:rPr lang="en-US" sz="1600" dirty="0"/>
              <a:t> [b] </a:t>
            </a:r>
          </a:p>
          <a:p>
            <a:pPr marL="0" indent="0">
              <a:buNone/>
            </a:pPr>
            <a:r>
              <a:rPr lang="en-US" sz="1600" dirty="0"/>
              <a:t>mov a [d] // uncommitted, load a secret</a:t>
            </a:r>
          </a:p>
          <a:p>
            <a:pPr marL="0" indent="0">
              <a:buNone/>
            </a:pPr>
            <a:r>
              <a:rPr lang="en-US" sz="1600" dirty="0"/>
              <a:t>mov e [a] // leak </a:t>
            </a:r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43BF7C-27CF-70AA-B8EA-27682D61045E}"/>
              </a:ext>
            </a:extLst>
          </p:cNvPr>
          <p:cNvCxnSpPr>
            <a:cxnSpLocks/>
          </p:cNvCxnSpPr>
          <p:nvPr/>
        </p:nvCxnSpPr>
        <p:spPr>
          <a:xfrm>
            <a:off x="1061355" y="4373194"/>
            <a:ext cx="50455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F55E14-B7A2-AF27-7303-AB861E7AB1D2}"/>
              </a:ext>
            </a:extLst>
          </p:cNvPr>
          <p:cNvSpPr txBox="1"/>
          <p:nvPr/>
        </p:nvSpPr>
        <p:spPr>
          <a:xfrm>
            <a:off x="1061355" y="4180114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committed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5A9DF7-B960-19FB-6100-16335111973B}"/>
              </a:ext>
            </a:extLst>
          </p:cNvPr>
          <p:cNvSpPr txBox="1"/>
          <p:nvPr/>
        </p:nvSpPr>
        <p:spPr>
          <a:xfrm>
            <a:off x="1061355" y="4340536"/>
            <a:ext cx="9633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uncommitted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284461-BCCE-2AF5-20F3-3406504D12AA}"/>
              </a:ext>
            </a:extLst>
          </p:cNvPr>
          <p:cNvSpPr txBox="1"/>
          <p:nvPr/>
        </p:nvSpPr>
        <p:spPr>
          <a:xfrm>
            <a:off x="7470183" y="4914277"/>
            <a:ext cx="4056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mov r1 [r4] // committed, resolved</a:t>
            </a:r>
          </a:p>
          <a:p>
            <a:r>
              <a:rPr lang="en-US" dirty="0"/>
              <a:t>mov r3 [r1] // committed, resolved</a:t>
            </a:r>
          </a:p>
          <a:p>
            <a:r>
              <a:rPr lang="en-US" dirty="0"/>
              <a:t>mov r1 [r0] // uncommitted, unresolved</a:t>
            </a:r>
          </a:p>
          <a:p>
            <a:r>
              <a:rPr lang="en-US" dirty="0"/>
              <a:t>mov r2 [r1] // uncommitted, unresolved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6B9DCBB-8CFB-2D66-937A-48531C963E10}"/>
                  </a:ext>
                </a:extLst>
              </p14:cNvPr>
              <p14:cNvContentPartPr/>
              <p14:nvPr/>
            </p14:nvContentPartPr>
            <p14:xfrm>
              <a:off x="6709326" y="1727628"/>
              <a:ext cx="1653120" cy="36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6B9DCBB-8CFB-2D66-937A-48531C963E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5326" y="1619988"/>
                <a:ext cx="1760760" cy="252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20CC5A60-EF46-7972-A5C2-9980D7C9EF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56" y="169281"/>
            <a:ext cx="8498466" cy="38478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FB30E86-47FE-329D-5823-E8DA18D7B081}"/>
                  </a:ext>
                </a:extLst>
              </p14:cNvPr>
              <p14:cNvContentPartPr/>
              <p14:nvPr/>
            </p14:nvContentPartPr>
            <p14:xfrm>
              <a:off x="6556503" y="2929535"/>
              <a:ext cx="1827360" cy="228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FB30E86-47FE-329D-5823-E8DA18D7B0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2503" y="2821895"/>
                <a:ext cx="1935000" cy="44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620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C62D6A0-3CFE-7155-AE7A-4361EC8A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94">
            <a:extLst>
              <a:ext uri="{FF2B5EF4-FFF2-40B4-BE49-F238E27FC236}">
                <a16:creationId xmlns:a16="http://schemas.microsoft.com/office/drawing/2014/main" id="{15719A9D-E488-6C4A-4E37-A06A0F8A975D}"/>
              </a:ext>
            </a:extLst>
          </p:cNvPr>
          <p:cNvSpPr txBox="1"/>
          <p:nvPr/>
        </p:nvSpPr>
        <p:spPr>
          <a:xfrm>
            <a:off x="9595436" y="2317626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Defense implementation </a:t>
            </a:r>
            <a:endParaRPr lang="en-US" sz="140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8F1B0FBF-5B94-5197-C7CE-6444E07AADBD}"/>
              </a:ext>
            </a:extLst>
          </p:cNvPr>
          <p:cNvSpPr/>
          <p:nvPr/>
        </p:nvSpPr>
        <p:spPr>
          <a:xfrm>
            <a:off x="8779397" y="3289008"/>
            <a:ext cx="3002233" cy="24760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782DFFD-C416-7968-FCD2-5B66F8BEC0B0}"/>
              </a:ext>
            </a:extLst>
          </p:cNvPr>
          <p:cNvSpPr/>
          <p:nvPr/>
        </p:nvSpPr>
        <p:spPr>
          <a:xfrm>
            <a:off x="433277" y="3276676"/>
            <a:ext cx="2198054" cy="24760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51C526F-F42D-5C4C-29FE-4B9FC29DC071}"/>
              </a:ext>
            </a:extLst>
          </p:cNvPr>
          <p:cNvSpPr/>
          <p:nvPr/>
        </p:nvSpPr>
        <p:spPr>
          <a:xfrm>
            <a:off x="5725226" y="1484348"/>
            <a:ext cx="709827" cy="8952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1B563C-8CAD-65A5-A2DE-3C9BC22AD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484" y="365125"/>
            <a:ext cx="10515600" cy="1325563"/>
          </a:xfrm>
        </p:spPr>
        <p:txBody>
          <a:bodyPr/>
          <a:lstStyle/>
          <a:p>
            <a:r>
              <a:rPr lang="en-US" dirty="0"/>
              <a:t>SimSpect final pipeline design</a:t>
            </a:r>
          </a:p>
        </p:txBody>
      </p:sp>
      <p:pic>
        <p:nvPicPr>
          <p:cNvPr id="5" name="Graphic 4" descr="Document outline">
            <a:extLst>
              <a:ext uri="{FF2B5EF4-FFF2-40B4-BE49-F238E27FC236}">
                <a16:creationId xmlns:a16="http://schemas.microsoft.com/office/drawing/2014/main" id="{A33E9752-C546-2CFC-EE42-5F9CB5898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167" y="1452133"/>
            <a:ext cx="914400" cy="914400"/>
          </a:xfrm>
          <a:prstGeom prst="rect">
            <a:avLst/>
          </a:prstGeom>
        </p:spPr>
      </p:pic>
      <p:pic>
        <p:nvPicPr>
          <p:cNvPr id="6" name="Graphic 5" descr="Document outline">
            <a:extLst>
              <a:ext uri="{FF2B5EF4-FFF2-40B4-BE49-F238E27FC236}">
                <a16:creationId xmlns:a16="http://schemas.microsoft.com/office/drawing/2014/main" id="{4163DEA0-B5DE-9ECD-2260-7B9E6BBB0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07462" y="1452133"/>
            <a:ext cx="914400" cy="914400"/>
          </a:xfrm>
          <a:prstGeom prst="rect">
            <a:avLst/>
          </a:prstGeom>
        </p:spPr>
      </p:pic>
      <p:pic>
        <p:nvPicPr>
          <p:cNvPr id="8" name="Graphic 7" descr="Tuning Fork outline">
            <a:extLst>
              <a:ext uri="{FF2B5EF4-FFF2-40B4-BE49-F238E27FC236}">
                <a16:creationId xmlns:a16="http://schemas.microsoft.com/office/drawing/2014/main" id="{D23AB266-14F8-B7B3-34C1-B27E07A88D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7537" y="1514769"/>
            <a:ext cx="836132" cy="836132"/>
          </a:xfrm>
          <a:prstGeom prst="rect">
            <a:avLst/>
          </a:prstGeom>
        </p:spPr>
      </p:pic>
      <p:pic>
        <p:nvPicPr>
          <p:cNvPr id="10" name="Graphic 9" descr="Processor outline">
            <a:extLst>
              <a:ext uri="{FF2B5EF4-FFF2-40B4-BE49-F238E27FC236}">
                <a16:creationId xmlns:a16="http://schemas.microsoft.com/office/drawing/2014/main" id="{110256D4-B1DD-44F8-D0C5-01883FC233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91454" y="1452133"/>
            <a:ext cx="914400" cy="91440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C84E639-D96B-90BB-D7B2-0CF90E9B8FAC}"/>
              </a:ext>
            </a:extLst>
          </p:cNvPr>
          <p:cNvGrpSpPr/>
          <p:nvPr/>
        </p:nvGrpSpPr>
        <p:grpSpPr>
          <a:xfrm>
            <a:off x="2926050" y="3805271"/>
            <a:ext cx="502412" cy="512263"/>
            <a:chOff x="3343834" y="3429000"/>
            <a:chExt cx="914400" cy="93232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B329251-7A6A-AB0E-9697-C1F6E4AEFD20}"/>
                </a:ext>
              </a:extLst>
            </p:cNvPr>
            <p:cNvSpPr/>
            <p:nvPr/>
          </p:nvSpPr>
          <p:spPr>
            <a:xfrm>
              <a:off x="3343834" y="3446929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Workflow outline">
              <a:extLst>
                <a:ext uri="{FF2B5EF4-FFF2-40B4-BE49-F238E27FC236}">
                  <a16:creationId xmlns:a16="http://schemas.microsoft.com/office/drawing/2014/main" id="{3804631E-078C-206C-FFB5-3E4C21963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43834" y="3429000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BD8BAF2-9225-19D2-FB79-461AF8C826B4}"/>
              </a:ext>
            </a:extLst>
          </p:cNvPr>
          <p:cNvGrpSpPr/>
          <p:nvPr/>
        </p:nvGrpSpPr>
        <p:grpSpPr>
          <a:xfrm>
            <a:off x="3150166" y="4011458"/>
            <a:ext cx="502412" cy="512263"/>
            <a:chOff x="3343834" y="3429000"/>
            <a:chExt cx="914400" cy="93232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8EF48B-9923-C4C2-035D-1CB5676C97E7}"/>
                </a:ext>
              </a:extLst>
            </p:cNvPr>
            <p:cNvSpPr/>
            <p:nvPr/>
          </p:nvSpPr>
          <p:spPr>
            <a:xfrm>
              <a:off x="3343834" y="3446929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5" name="Graphic 24" descr="Workflow outline">
              <a:extLst>
                <a:ext uri="{FF2B5EF4-FFF2-40B4-BE49-F238E27FC236}">
                  <a16:creationId xmlns:a16="http://schemas.microsoft.com/office/drawing/2014/main" id="{D97A61F5-419A-792F-9E41-9FB54D44D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43834" y="3429000"/>
              <a:ext cx="914400" cy="914400"/>
            </a:xfrm>
            <a:prstGeom prst="rect">
              <a:avLst/>
            </a:prstGeom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D71F120-C3A3-8946-EDF2-F845AB04C94A}"/>
              </a:ext>
            </a:extLst>
          </p:cNvPr>
          <p:cNvGrpSpPr/>
          <p:nvPr/>
        </p:nvGrpSpPr>
        <p:grpSpPr>
          <a:xfrm>
            <a:off x="3369418" y="4246171"/>
            <a:ext cx="502412" cy="512263"/>
            <a:chOff x="3343834" y="3429000"/>
            <a:chExt cx="914400" cy="93232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5EE7473-7A87-5553-F4A1-C442022046CC}"/>
                </a:ext>
              </a:extLst>
            </p:cNvPr>
            <p:cNvSpPr/>
            <p:nvPr/>
          </p:nvSpPr>
          <p:spPr>
            <a:xfrm>
              <a:off x="3343834" y="3446929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 descr="Workflow outline">
              <a:extLst>
                <a:ext uri="{FF2B5EF4-FFF2-40B4-BE49-F238E27FC236}">
                  <a16:creationId xmlns:a16="http://schemas.microsoft.com/office/drawing/2014/main" id="{EE351A31-D959-F3DE-DDC3-24455E97B12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43834" y="3429000"/>
              <a:ext cx="914400" cy="9144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FD86CC5-2091-078C-3841-61FB433AE77A}"/>
              </a:ext>
            </a:extLst>
          </p:cNvPr>
          <p:cNvGrpSpPr/>
          <p:nvPr/>
        </p:nvGrpSpPr>
        <p:grpSpPr>
          <a:xfrm>
            <a:off x="549452" y="3477915"/>
            <a:ext cx="653979" cy="653978"/>
            <a:chOff x="7252450" y="3428999"/>
            <a:chExt cx="914402" cy="914401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70C13F9A-307B-5F98-F495-346B1D479677}"/>
                </a:ext>
              </a:extLst>
            </p:cNvPr>
            <p:cNvSpPr/>
            <p:nvPr/>
          </p:nvSpPr>
          <p:spPr>
            <a:xfrm>
              <a:off x="7252452" y="3429000"/>
              <a:ext cx="914400" cy="914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4" name="Graphic 43" descr="Workflow with solid fill">
              <a:extLst>
                <a:ext uri="{FF2B5EF4-FFF2-40B4-BE49-F238E27FC236}">
                  <a16:creationId xmlns:a16="http://schemas.microsoft.com/office/drawing/2014/main" id="{923D460F-3C3C-C63B-203C-327978333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52450" y="3428999"/>
              <a:ext cx="914400" cy="914400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3EC16EAF-3EBF-920D-7B10-6814B4B2FDD4}"/>
              </a:ext>
            </a:extLst>
          </p:cNvPr>
          <p:cNvSpPr txBox="1"/>
          <p:nvPr/>
        </p:nvSpPr>
        <p:spPr>
          <a:xfrm>
            <a:off x="1201459" y="2285017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Defense specification</a:t>
            </a:r>
            <a:endParaRPr lang="en-US" sz="140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B70845E-C26F-E0FC-22EC-0719FFBA5CE6}"/>
              </a:ext>
            </a:extLst>
          </p:cNvPr>
          <p:cNvGrpSpPr/>
          <p:nvPr/>
        </p:nvGrpSpPr>
        <p:grpSpPr>
          <a:xfrm>
            <a:off x="7272582" y="4685085"/>
            <a:ext cx="785536" cy="785536"/>
            <a:chOff x="7215714" y="5337944"/>
            <a:chExt cx="914400" cy="914400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162E811E-9661-6DAE-1DF1-40241CF60189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Graphic 46" descr="Checklist outline">
              <a:extLst>
                <a:ext uri="{FF2B5EF4-FFF2-40B4-BE49-F238E27FC236}">
                  <a16:creationId xmlns:a16="http://schemas.microsoft.com/office/drawing/2014/main" id="{9DFE2974-77E1-568D-E2F7-261BCD2A2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1DA43B9-9014-BEA3-D718-ECC2C37C10DD}"/>
              </a:ext>
            </a:extLst>
          </p:cNvPr>
          <p:cNvGrpSpPr/>
          <p:nvPr/>
        </p:nvGrpSpPr>
        <p:grpSpPr>
          <a:xfrm>
            <a:off x="7424982" y="4837485"/>
            <a:ext cx="785536" cy="785536"/>
            <a:chOff x="7215714" y="5337944"/>
            <a:chExt cx="914400" cy="91440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0A611FC-7BAC-6D21-BDCD-F6326DDAEF9B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0" name="Graphic 59" descr="Checklist outline">
              <a:extLst>
                <a:ext uri="{FF2B5EF4-FFF2-40B4-BE49-F238E27FC236}">
                  <a16:creationId xmlns:a16="http://schemas.microsoft.com/office/drawing/2014/main" id="{FEABE38E-978D-22D6-DD0C-F71084BB1C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CCEA88E-F058-C541-6078-21B3093787BD}"/>
              </a:ext>
            </a:extLst>
          </p:cNvPr>
          <p:cNvGrpSpPr/>
          <p:nvPr/>
        </p:nvGrpSpPr>
        <p:grpSpPr>
          <a:xfrm>
            <a:off x="7577382" y="4989885"/>
            <a:ext cx="785536" cy="785536"/>
            <a:chOff x="7215714" y="5337944"/>
            <a:chExt cx="914400" cy="9144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8782781-7DAA-4ED6-74D1-21715F810823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3" name="Graphic 62" descr="Checklist outline">
              <a:extLst>
                <a:ext uri="{FF2B5EF4-FFF2-40B4-BE49-F238E27FC236}">
                  <a16:creationId xmlns:a16="http://schemas.microsoft.com/office/drawing/2014/main" id="{6A383933-5526-E9F3-5BF1-67A6AF8D7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59B6258-0F33-A0D1-ED8E-AC5327EE8E0E}"/>
              </a:ext>
            </a:extLst>
          </p:cNvPr>
          <p:cNvGrpSpPr/>
          <p:nvPr/>
        </p:nvGrpSpPr>
        <p:grpSpPr>
          <a:xfrm>
            <a:off x="7729782" y="5142285"/>
            <a:ext cx="785536" cy="785536"/>
            <a:chOff x="7215714" y="5337944"/>
            <a:chExt cx="914400" cy="91440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B0334CF-BE80-4F30-3D82-CD82ED1D3FDE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6" name="Graphic 65" descr="Checklist outline">
              <a:extLst>
                <a:ext uri="{FF2B5EF4-FFF2-40B4-BE49-F238E27FC236}">
                  <a16:creationId xmlns:a16="http://schemas.microsoft.com/office/drawing/2014/main" id="{F5352654-4C83-F5B8-CB27-ED5B07308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4E4C7F9-A6AB-5565-33CE-BFBF680D3AAB}"/>
              </a:ext>
            </a:extLst>
          </p:cNvPr>
          <p:cNvGrpSpPr/>
          <p:nvPr/>
        </p:nvGrpSpPr>
        <p:grpSpPr>
          <a:xfrm>
            <a:off x="7882182" y="5294685"/>
            <a:ext cx="785536" cy="785536"/>
            <a:chOff x="7215714" y="5337944"/>
            <a:chExt cx="914400" cy="914400"/>
          </a:xfrm>
        </p:grpSpPr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E6A3B28-A2D6-3E5A-1A12-5348CB334621}"/>
                </a:ext>
              </a:extLst>
            </p:cNvPr>
            <p:cNvSpPr/>
            <p:nvPr/>
          </p:nvSpPr>
          <p:spPr>
            <a:xfrm>
              <a:off x="7398327" y="5420591"/>
              <a:ext cx="550718" cy="74468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9" name="Graphic 68" descr="Checklist outline">
              <a:extLst>
                <a:ext uri="{FF2B5EF4-FFF2-40B4-BE49-F238E27FC236}">
                  <a16:creationId xmlns:a16="http://schemas.microsoft.com/office/drawing/2014/main" id="{ABFEBE02-6F50-861A-1C7B-4741BB588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215714" y="5337944"/>
              <a:ext cx="914400" cy="91440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6308A48-B160-B781-EA6D-4770A92989E3}"/>
              </a:ext>
            </a:extLst>
          </p:cNvPr>
          <p:cNvGrpSpPr/>
          <p:nvPr/>
        </p:nvGrpSpPr>
        <p:grpSpPr>
          <a:xfrm>
            <a:off x="7380214" y="2919073"/>
            <a:ext cx="671391" cy="671391"/>
            <a:chOff x="7081281" y="1974524"/>
            <a:chExt cx="914400" cy="9144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1270FB0F-3E3A-A931-C772-16DB68BC7E6D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1" name="Graphic 70" descr="Web design outline">
              <a:extLst>
                <a:ext uri="{FF2B5EF4-FFF2-40B4-BE49-F238E27FC236}">
                  <a16:creationId xmlns:a16="http://schemas.microsoft.com/office/drawing/2014/main" id="{5047AD61-D5CB-289A-2C31-CEB3D072D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FB9B03EF-F99B-A40F-1227-526D7174159F}"/>
              </a:ext>
            </a:extLst>
          </p:cNvPr>
          <p:cNvGrpSpPr/>
          <p:nvPr/>
        </p:nvGrpSpPr>
        <p:grpSpPr>
          <a:xfrm>
            <a:off x="7532614" y="3071473"/>
            <a:ext cx="671391" cy="671391"/>
            <a:chOff x="7081281" y="1974524"/>
            <a:chExt cx="914400" cy="914400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E3F07960-2528-3F3C-9047-D488B630D238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6" name="Graphic 75" descr="Web design outline">
              <a:extLst>
                <a:ext uri="{FF2B5EF4-FFF2-40B4-BE49-F238E27FC236}">
                  <a16:creationId xmlns:a16="http://schemas.microsoft.com/office/drawing/2014/main" id="{12579BE9-DFD2-1322-D800-FC4E5075D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C19E6A71-E9EF-5A15-50EB-2A5F37C4A860}"/>
              </a:ext>
            </a:extLst>
          </p:cNvPr>
          <p:cNvGrpSpPr/>
          <p:nvPr/>
        </p:nvGrpSpPr>
        <p:grpSpPr>
          <a:xfrm>
            <a:off x="7685014" y="3223873"/>
            <a:ext cx="671391" cy="671391"/>
            <a:chOff x="7081281" y="1974524"/>
            <a:chExt cx="914400" cy="914400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7E1B4A9-6E90-9FDA-D333-F0158BCEE4F5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79" name="Graphic 78" descr="Web design outline">
              <a:extLst>
                <a:ext uri="{FF2B5EF4-FFF2-40B4-BE49-F238E27FC236}">
                  <a16:creationId xmlns:a16="http://schemas.microsoft.com/office/drawing/2014/main" id="{6A8050CD-FBB2-B6CD-CA53-F264F588A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634F00C-10E6-625A-CC80-32582D358193}"/>
              </a:ext>
            </a:extLst>
          </p:cNvPr>
          <p:cNvGrpSpPr/>
          <p:nvPr/>
        </p:nvGrpSpPr>
        <p:grpSpPr>
          <a:xfrm>
            <a:off x="7837414" y="3376273"/>
            <a:ext cx="671391" cy="671391"/>
            <a:chOff x="7081281" y="1974524"/>
            <a:chExt cx="914400" cy="91440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1DC91EB6-8C92-9E24-46ED-EAF124B2B6BB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2" name="Graphic 81" descr="Web design outline">
              <a:extLst>
                <a:ext uri="{FF2B5EF4-FFF2-40B4-BE49-F238E27FC236}">
                  <a16:creationId xmlns:a16="http://schemas.microsoft.com/office/drawing/2014/main" id="{74A910CF-1CFB-2F78-82E5-7ED4B6B62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5B41C80-A652-E19A-7344-7FBE7DCE8D88}"/>
              </a:ext>
            </a:extLst>
          </p:cNvPr>
          <p:cNvGrpSpPr/>
          <p:nvPr/>
        </p:nvGrpSpPr>
        <p:grpSpPr>
          <a:xfrm>
            <a:off x="7989814" y="3528673"/>
            <a:ext cx="671391" cy="671391"/>
            <a:chOff x="7081281" y="1974524"/>
            <a:chExt cx="914400" cy="914400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DED4C8B8-4E3A-1379-79CB-7FF7A21473DA}"/>
                </a:ext>
              </a:extLst>
            </p:cNvPr>
            <p:cNvSpPr/>
            <p:nvPr/>
          </p:nvSpPr>
          <p:spPr>
            <a:xfrm>
              <a:off x="7167418" y="2142836"/>
              <a:ext cx="743527" cy="5730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5" name="Graphic 84" descr="Web design outline">
              <a:extLst>
                <a:ext uri="{FF2B5EF4-FFF2-40B4-BE49-F238E27FC236}">
                  <a16:creationId xmlns:a16="http://schemas.microsoft.com/office/drawing/2014/main" id="{E343BD7D-C6D1-748D-17EE-749A511A9B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081281" y="1974524"/>
              <a:ext cx="914400" cy="914400"/>
            </a:xfrm>
            <a:prstGeom prst="rect">
              <a:avLst/>
            </a:prstGeom>
          </p:spPr>
        </p:pic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198DF679-68D7-21FD-5AC0-D57C4D0F2F53}"/>
              </a:ext>
            </a:extLst>
          </p:cNvPr>
          <p:cNvSpPr txBox="1"/>
          <p:nvPr/>
        </p:nvSpPr>
        <p:spPr>
          <a:xfrm>
            <a:off x="4464285" y="2373416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Implementation ISA</a:t>
            </a:r>
            <a:endParaRPr lang="en-US" sz="140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9D70D7-FC41-69ED-4E59-6216EB7B5115}"/>
              </a:ext>
            </a:extLst>
          </p:cNvPr>
          <p:cNvSpPr txBox="1"/>
          <p:nvPr/>
        </p:nvSpPr>
        <p:spPr>
          <a:xfrm>
            <a:off x="5425521" y="2390909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Tuning parameters</a:t>
            </a:r>
            <a:endParaRPr lang="en-US" sz="140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903CF833-C22C-4EA2-18C0-41792B2162C2}"/>
              </a:ext>
            </a:extLst>
          </p:cNvPr>
          <p:cNvSpPr/>
          <p:nvPr/>
        </p:nvSpPr>
        <p:spPr>
          <a:xfrm>
            <a:off x="4131392" y="3270999"/>
            <a:ext cx="3002233" cy="24760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ED56462-5CD0-568E-8E72-3FA77422D5E4}"/>
              </a:ext>
            </a:extLst>
          </p:cNvPr>
          <p:cNvSpPr txBox="1"/>
          <p:nvPr/>
        </p:nvSpPr>
        <p:spPr>
          <a:xfrm>
            <a:off x="2725675" y="4762508"/>
            <a:ext cx="1300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n abstract litmus tests </a:t>
            </a:r>
            <a:endParaRPr lang="en-US" sz="140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019C07BF-DE5A-9B08-B3F2-DD5DCE0F58BC}"/>
              </a:ext>
            </a:extLst>
          </p:cNvPr>
          <p:cNvSpPr txBox="1"/>
          <p:nvPr/>
        </p:nvSpPr>
        <p:spPr>
          <a:xfrm>
            <a:off x="7182675" y="4044973"/>
            <a:ext cx="1676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m concrete litmus tests (m&gt;&gt;n) </a:t>
            </a:r>
            <a:endParaRPr lang="en-US" sz="14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F671388-DD19-1ED7-FA28-452F9F04ED47}"/>
              </a:ext>
            </a:extLst>
          </p:cNvPr>
          <p:cNvSpPr txBox="1"/>
          <p:nvPr/>
        </p:nvSpPr>
        <p:spPr>
          <a:xfrm>
            <a:off x="7163011" y="6030902"/>
            <a:ext cx="1676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/>
              <a:t>m speculation annotations</a:t>
            </a:r>
            <a:endParaRPr lang="en-US" sz="1400"/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F92B45ED-18E1-E7C6-835A-39851DA1AABC}"/>
              </a:ext>
            </a:extLst>
          </p:cNvPr>
          <p:cNvCxnSpPr>
            <a:cxnSpLocks/>
          </p:cNvCxnSpPr>
          <p:nvPr/>
        </p:nvCxnSpPr>
        <p:spPr>
          <a:xfrm>
            <a:off x="1864662" y="2746682"/>
            <a:ext cx="0" cy="738358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56623881-4376-7B5D-63AF-78C0252B5AE0}"/>
              </a:ext>
            </a:extLst>
          </p:cNvPr>
          <p:cNvSpPr txBox="1"/>
          <p:nvPr/>
        </p:nvSpPr>
        <p:spPr>
          <a:xfrm>
            <a:off x="1834195" y="2746682"/>
            <a:ext cx="146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Translation to modeling syntax (manual)</a:t>
            </a:r>
            <a:endParaRPr lang="en-US" sz="100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7763529-5DD2-C5AB-6219-D11DF329C3C6}"/>
              </a:ext>
            </a:extLst>
          </p:cNvPr>
          <p:cNvSpPr/>
          <p:nvPr/>
        </p:nvSpPr>
        <p:spPr>
          <a:xfrm>
            <a:off x="1523740" y="3477915"/>
            <a:ext cx="1032808" cy="6539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>
                <a:solidFill>
                  <a:schemeClr val="tx1"/>
                </a:solidFill>
              </a:rPr>
              <a:t>- Leakage contract</a:t>
            </a:r>
          </a:p>
          <a:p>
            <a:r>
              <a:rPr lang="en-US" sz="800">
                <a:solidFill>
                  <a:schemeClr val="tx1"/>
                </a:solidFill>
              </a:rPr>
              <a:t>- Exec. contract</a:t>
            </a:r>
          </a:p>
          <a:p>
            <a:r>
              <a:rPr lang="en-US" sz="800">
                <a:solidFill>
                  <a:schemeClr val="tx1"/>
                </a:solidFill>
              </a:rPr>
              <a:t>- Prot. set</a:t>
            </a:r>
          </a:p>
          <a:p>
            <a:r>
              <a:rPr lang="en-US" sz="800">
                <a:solidFill>
                  <a:schemeClr val="tx1"/>
                </a:solidFill>
              </a:rPr>
              <a:t>- Prot. mechanism</a:t>
            </a:r>
          </a:p>
          <a:p>
            <a:endParaRPr lang="en-US" sz="800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83F5348-C41F-3DB0-0F01-3BD522283D3A}"/>
              </a:ext>
            </a:extLst>
          </p:cNvPr>
          <p:cNvSpPr txBox="1"/>
          <p:nvPr/>
        </p:nvSpPr>
        <p:spPr>
          <a:xfrm>
            <a:off x="251872" y="4107888"/>
            <a:ext cx="124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Initial execution model</a:t>
            </a:r>
            <a:endParaRPr lang="en-US" sz="1000"/>
          </a:p>
        </p:txBody>
      </p:sp>
      <p:pic>
        <p:nvPicPr>
          <p:cNvPr id="110" name="Graphic 109" descr="Add with solid fill">
            <a:extLst>
              <a:ext uri="{FF2B5EF4-FFF2-40B4-BE49-F238E27FC236}">
                <a16:creationId xmlns:a16="http://schemas.microsoft.com/office/drawing/2014/main" id="{95B9979F-CD3C-E28C-C57E-4DFF4853030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9016" y="3693731"/>
            <a:ext cx="181318" cy="181318"/>
          </a:xfrm>
          <a:prstGeom prst="rect">
            <a:avLst/>
          </a:prstGeom>
        </p:spPr>
      </p:pic>
      <p:sp>
        <p:nvSpPr>
          <p:cNvPr id="112" name="Manual Operation 111">
            <a:extLst>
              <a:ext uri="{FF2B5EF4-FFF2-40B4-BE49-F238E27FC236}">
                <a16:creationId xmlns:a16="http://schemas.microsoft.com/office/drawing/2014/main" id="{0BDF91F8-6256-A7D3-F4F2-3C9D4B452DBF}"/>
              </a:ext>
            </a:extLst>
          </p:cNvPr>
          <p:cNvSpPr/>
          <p:nvPr/>
        </p:nvSpPr>
        <p:spPr>
          <a:xfrm>
            <a:off x="655093" y="4623593"/>
            <a:ext cx="1779225" cy="924628"/>
          </a:xfrm>
          <a:prstGeom prst="flowChartManualOpe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900">
                <a:solidFill>
                  <a:schemeClr val="tx1"/>
                </a:solidFill>
              </a:rPr>
              <a:t>- Defense is </a:t>
            </a:r>
            <a:r>
              <a:rPr lang="en-US" sz="900" b="1">
                <a:solidFill>
                  <a:schemeClr val="tx1"/>
                </a:solidFill>
              </a:rPr>
              <a:t>minimally leaky</a:t>
            </a:r>
          </a:p>
          <a:p>
            <a:r>
              <a:rPr lang="en-US" sz="900">
                <a:solidFill>
                  <a:schemeClr val="tx1"/>
                </a:solidFill>
              </a:rPr>
              <a:t>- Defense is unique along certain axes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B3056FF-132E-7794-BA0A-4CCD714E0A16}"/>
              </a:ext>
            </a:extLst>
          </p:cNvPr>
          <p:cNvSpPr txBox="1"/>
          <p:nvPr/>
        </p:nvSpPr>
        <p:spPr>
          <a:xfrm>
            <a:off x="1388577" y="4101861"/>
            <a:ext cx="1249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Defense-specific allowed leakage</a:t>
            </a:r>
            <a:endParaRPr lang="en-US" sz="100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2054902-E0EB-0985-2021-CC8D2BE372DD}"/>
              </a:ext>
            </a:extLst>
          </p:cNvPr>
          <p:cNvSpPr txBox="1"/>
          <p:nvPr/>
        </p:nvSpPr>
        <p:spPr>
          <a:xfrm>
            <a:off x="927847" y="5523980"/>
            <a:ext cx="124913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Litmus test filters</a:t>
            </a:r>
            <a:endParaRPr lang="en-US" sz="1000"/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B537E842-8040-880F-F9E8-EF0DD5C19C75}"/>
              </a:ext>
            </a:extLst>
          </p:cNvPr>
          <p:cNvCxnSpPr>
            <a:cxnSpLocks/>
          </p:cNvCxnSpPr>
          <p:nvPr/>
        </p:nvCxnSpPr>
        <p:spPr>
          <a:xfrm>
            <a:off x="1575763" y="4430613"/>
            <a:ext cx="0" cy="1929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ED01844C-7F66-1D73-0CB8-3537932A9C5B}"/>
              </a:ext>
            </a:extLst>
          </p:cNvPr>
          <p:cNvSpPr txBox="1"/>
          <p:nvPr/>
        </p:nvSpPr>
        <p:spPr>
          <a:xfrm>
            <a:off x="3667259" y="2746682"/>
            <a:ext cx="14696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/>
              <a:t>Sort into modeling syntax-specific buckets (decide granularity)</a:t>
            </a:r>
            <a:endParaRPr lang="en-US" sz="1000"/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5320A26-7BE2-6A77-43E6-DF302D1A2191}"/>
              </a:ext>
            </a:extLst>
          </p:cNvPr>
          <p:cNvCxnSpPr>
            <a:cxnSpLocks/>
          </p:cNvCxnSpPr>
          <p:nvPr/>
        </p:nvCxnSpPr>
        <p:spPr>
          <a:xfrm>
            <a:off x="5114366" y="2815056"/>
            <a:ext cx="0" cy="43494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681BFBCF-F318-D1E8-488B-E6AF9AC3502F}"/>
              </a:ext>
            </a:extLst>
          </p:cNvPr>
          <p:cNvCxnSpPr>
            <a:cxnSpLocks/>
          </p:cNvCxnSpPr>
          <p:nvPr/>
        </p:nvCxnSpPr>
        <p:spPr>
          <a:xfrm>
            <a:off x="5910821" y="2815056"/>
            <a:ext cx="0" cy="43494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0D3856B3-8DB1-4422-F230-93D18B41D02B}"/>
              </a:ext>
            </a:extLst>
          </p:cNvPr>
          <p:cNvSpPr txBox="1"/>
          <p:nvPr/>
        </p:nvSpPr>
        <p:spPr>
          <a:xfrm>
            <a:off x="5891819" y="2747728"/>
            <a:ext cx="1469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Defense-specific choices for expansion priorities</a:t>
            </a:r>
            <a:endParaRPr lang="en-US" sz="1000"/>
          </a:p>
        </p:txBody>
      </p:sp>
      <p:pic>
        <p:nvPicPr>
          <p:cNvPr id="123" name="Graphic 122" descr="Add with solid fill">
            <a:extLst>
              <a:ext uri="{FF2B5EF4-FFF2-40B4-BE49-F238E27FC236}">
                <a16:creationId xmlns:a16="http://schemas.microsoft.com/office/drawing/2014/main" id="{4AAD5B46-6800-931A-5FD7-CFD8D9799EA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917256" y="4504430"/>
            <a:ext cx="181318" cy="181318"/>
          </a:xfrm>
          <a:prstGeom prst="rect">
            <a:avLst/>
          </a:prstGeom>
        </p:spPr>
      </p:pic>
      <p:sp>
        <p:nvSpPr>
          <p:cNvPr id="124" name="Right Arrow 123">
            <a:extLst>
              <a:ext uri="{FF2B5EF4-FFF2-40B4-BE49-F238E27FC236}">
                <a16:creationId xmlns:a16="http://schemas.microsoft.com/office/drawing/2014/main" id="{4C3E09BC-91E7-5A7B-1737-436E5AA45A76}"/>
              </a:ext>
            </a:extLst>
          </p:cNvPr>
          <p:cNvSpPr/>
          <p:nvPr/>
        </p:nvSpPr>
        <p:spPr>
          <a:xfrm>
            <a:off x="2637715" y="4430613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Right Arrow 124">
            <a:extLst>
              <a:ext uri="{FF2B5EF4-FFF2-40B4-BE49-F238E27FC236}">
                <a16:creationId xmlns:a16="http://schemas.microsoft.com/office/drawing/2014/main" id="{CFA5AA50-A205-F327-FCCB-2C6B608B5981}"/>
              </a:ext>
            </a:extLst>
          </p:cNvPr>
          <p:cNvSpPr/>
          <p:nvPr/>
        </p:nvSpPr>
        <p:spPr>
          <a:xfrm>
            <a:off x="3946517" y="4430613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ight Arrow 125">
            <a:extLst>
              <a:ext uri="{FF2B5EF4-FFF2-40B4-BE49-F238E27FC236}">
                <a16:creationId xmlns:a16="http://schemas.microsoft.com/office/drawing/2014/main" id="{11AD7565-962B-97F1-F2F3-F04068BE6B17}"/>
              </a:ext>
            </a:extLst>
          </p:cNvPr>
          <p:cNvSpPr/>
          <p:nvPr/>
        </p:nvSpPr>
        <p:spPr>
          <a:xfrm>
            <a:off x="7151372" y="4435399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Right Arrow 127">
            <a:extLst>
              <a:ext uri="{FF2B5EF4-FFF2-40B4-BE49-F238E27FC236}">
                <a16:creationId xmlns:a16="http://schemas.microsoft.com/office/drawing/2014/main" id="{E3DC5D88-12B3-4077-2FEC-EADE70823360}"/>
              </a:ext>
            </a:extLst>
          </p:cNvPr>
          <p:cNvSpPr/>
          <p:nvPr/>
        </p:nvSpPr>
        <p:spPr>
          <a:xfrm>
            <a:off x="8598482" y="4438910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4261771-162C-824D-F127-98837100CFA9}"/>
              </a:ext>
            </a:extLst>
          </p:cNvPr>
          <p:cNvSpPr txBox="1"/>
          <p:nvPr/>
        </p:nvSpPr>
        <p:spPr>
          <a:xfrm>
            <a:off x="349024" y="5714382"/>
            <a:ext cx="2074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Stage 1: Alloy Analyzer</a:t>
            </a:r>
            <a:endParaRPr lang="en-US" sz="14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8C326CF-BAE5-A721-34A4-913454963699}"/>
              </a:ext>
            </a:extLst>
          </p:cNvPr>
          <p:cNvSpPr txBox="1"/>
          <p:nvPr/>
        </p:nvSpPr>
        <p:spPr>
          <a:xfrm>
            <a:off x="4057038" y="5713308"/>
            <a:ext cx="2074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Stage 2: Python and Java</a:t>
            </a:r>
            <a:endParaRPr lang="en-US" sz="140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CE4CDAE-1C19-2BFC-2F5C-BA4A9A4A4A33}"/>
              </a:ext>
            </a:extLst>
          </p:cNvPr>
          <p:cNvSpPr txBox="1"/>
          <p:nvPr/>
        </p:nvSpPr>
        <p:spPr>
          <a:xfrm>
            <a:off x="8720405" y="5727110"/>
            <a:ext cx="2074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Stage 3: C++, a bit of python</a:t>
            </a:r>
            <a:endParaRPr lang="en-US" sz="1400"/>
          </a:p>
        </p:txBody>
      </p:sp>
      <p:sp>
        <p:nvSpPr>
          <p:cNvPr id="139" name="Right Arrow 138">
            <a:extLst>
              <a:ext uri="{FF2B5EF4-FFF2-40B4-BE49-F238E27FC236}">
                <a16:creationId xmlns:a16="http://schemas.microsoft.com/office/drawing/2014/main" id="{0B968B02-A251-1312-644F-BE6E2E42956E}"/>
              </a:ext>
            </a:extLst>
          </p:cNvPr>
          <p:cNvSpPr/>
          <p:nvPr/>
        </p:nvSpPr>
        <p:spPr>
          <a:xfrm rot="5400000">
            <a:off x="10965905" y="5699661"/>
            <a:ext cx="162589" cy="331895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" name="Graphic 142" descr="Clipboard Mixed outline">
            <a:extLst>
              <a:ext uri="{FF2B5EF4-FFF2-40B4-BE49-F238E27FC236}">
                <a16:creationId xmlns:a16="http://schemas.microsoft.com/office/drawing/2014/main" id="{435B828C-6AE9-0BDA-7099-DB30EDA5BE1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841217" y="4735917"/>
            <a:ext cx="914400" cy="914400"/>
          </a:xfrm>
          <a:prstGeom prst="rect">
            <a:avLst/>
          </a:prstGeom>
        </p:spPr>
      </p:pic>
      <p:pic>
        <p:nvPicPr>
          <p:cNvPr id="149" name="Graphic 148" descr="Question Mark with solid fill">
            <a:extLst>
              <a:ext uri="{FF2B5EF4-FFF2-40B4-BE49-F238E27FC236}">
                <a16:creationId xmlns:a16="http://schemas.microsoft.com/office/drawing/2014/main" id="{5E934EA3-2180-8E3E-F463-A3B2237AA13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74716" y="6080221"/>
            <a:ext cx="524045" cy="524045"/>
          </a:xfrm>
          <a:prstGeom prst="rect">
            <a:avLst/>
          </a:prstGeom>
        </p:spPr>
      </p:pic>
      <p:pic>
        <p:nvPicPr>
          <p:cNvPr id="151" name="Graphic 150" descr="Checkbox Checked with solid fill">
            <a:extLst>
              <a:ext uri="{FF2B5EF4-FFF2-40B4-BE49-F238E27FC236}">
                <a16:creationId xmlns:a16="http://schemas.microsoft.com/office/drawing/2014/main" id="{7C265E0D-0FD4-E32D-C15D-635A57AB2CF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373981" y="5882329"/>
            <a:ext cx="914400" cy="914400"/>
          </a:xfrm>
          <a:prstGeom prst="rect">
            <a:avLst/>
          </a:prstGeom>
        </p:spPr>
      </p:pic>
      <p:sp>
        <p:nvSpPr>
          <p:cNvPr id="154" name="Rounded Rectangle 153">
            <a:extLst>
              <a:ext uri="{FF2B5EF4-FFF2-40B4-BE49-F238E27FC236}">
                <a16:creationId xmlns:a16="http://schemas.microsoft.com/office/drawing/2014/main" id="{AA7700B2-9842-4A29-5866-9EFD8A5D6DDC}"/>
              </a:ext>
            </a:extLst>
          </p:cNvPr>
          <p:cNvSpPr/>
          <p:nvPr/>
        </p:nvSpPr>
        <p:spPr>
          <a:xfrm>
            <a:off x="4194157" y="3333175"/>
            <a:ext cx="2871765" cy="5521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>
                <a:solidFill>
                  <a:schemeClr val="tx1"/>
                </a:solidFill>
              </a:rPr>
              <a:t>Pass 1: Add interleave</a:t>
            </a:r>
            <a:endParaRPr lang="en-US" sz="800">
              <a:solidFill>
                <a:schemeClr val="tx1"/>
              </a:solidFill>
            </a:endParaRPr>
          </a:p>
          <a:p>
            <a:r>
              <a:rPr lang="en-US" sz="800">
                <a:solidFill>
                  <a:schemeClr val="tx1"/>
                </a:solidFill>
              </a:rPr>
              <a:t>- Add both on- (ALU) and off-path (any) interleaved instructions, priming downstream state to demonstrate change</a:t>
            </a:r>
            <a:endParaRPr lang="en-US" sz="800" b="1">
              <a:solidFill>
                <a:schemeClr val="tx1"/>
              </a:solidFill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A3F2636-209D-9A0E-0036-E1F1C6C7656E}"/>
              </a:ext>
            </a:extLst>
          </p:cNvPr>
          <p:cNvCxnSpPr>
            <a:cxnSpLocks/>
          </p:cNvCxnSpPr>
          <p:nvPr/>
        </p:nvCxnSpPr>
        <p:spPr>
          <a:xfrm>
            <a:off x="10246774" y="2788929"/>
            <a:ext cx="0" cy="195965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8" name="Graphic 157" descr="Processor with solid fill">
            <a:extLst>
              <a:ext uri="{FF2B5EF4-FFF2-40B4-BE49-F238E27FC236}">
                <a16:creationId xmlns:a16="http://schemas.microsoft.com/office/drawing/2014/main" id="{7E982938-07F2-5817-32D9-118CCE7BADF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804089" y="4700298"/>
            <a:ext cx="914400" cy="914400"/>
          </a:xfrm>
          <a:prstGeom prst="rect">
            <a:avLst/>
          </a:prstGeom>
        </p:spPr>
      </p:pic>
      <p:pic>
        <p:nvPicPr>
          <p:cNvPr id="162" name="Graphic 161" descr="Web design with solid fill">
            <a:extLst>
              <a:ext uri="{FF2B5EF4-FFF2-40B4-BE49-F238E27FC236}">
                <a16:creationId xmlns:a16="http://schemas.microsoft.com/office/drawing/2014/main" id="{D9CE54D1-4F49-2AF3-1456-4ADC542B1D5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217350" y="3350830"/>
            <a:ext cx="914400" cy="914400"/>
          </a:xfrm>
          <a:prstGeom prst="rect">
            <a:avLst/>
          </a:prstGeom>
        </p:spPr>
      </p:pic>
      <p:pic>
        <p:nvPicPr>
          <p:cNvPr id="164" name="Graphic 163" descr="Badge 1 outline">
            <a:extLst>
              <a:ext uri="{FF2B5EF4-FFF2-40B4-BE49-F238E27FC236}">
                <a16:creationId xmlns:a16="http://schemas.microsoft.com/office/drawing/2014/main" id="{84F54531-38DB-B509-A2F6-8EE4770CA35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370933" y="3491853"/>
            <a:ext cx="224148" cy="224148"/>
          </a:xfrm>
          <a:prstGeom prst="rect">
            <a:avLst/>
          </a:prstGeom>
        </p:spPr>
      </p:pic>
      <p:pic>
        <p:nvPicPr>
          <p:cNvPr id="166" name="Graphic 165" descr="Badge outline">
            <a:extLst>
              <a:ext uri="{FF2B5EF4-FFF2-40B4-BE49-F238E27FC236}">
                <a16:creationId xmlns:a16="http://schemas.microsoft.com/office/drawing/2014/main" id="{800F9D3B-2C8E-3293-199E-4613B7BA22E7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873330" y="4120402"/>
            <a:ext cx="224148" cy="224148"/>
          </a:xfrm>
          <a:prstGeom prst="rect">
            <a:avLst/>
          </a:prstGeom>
        </p:spPr>
      </p:pic>
      <p:pic>
        <p:nvPicPr>
          <p:cNvPr id="168" name="Graphic 167" descr="Badge 3 outline">
            <a:extLst>
              <a:ext uri="{FF2B5EF4-FFF2-40B4-BE49-F238E27FC236}">
                <a16:creationId xmlns:a16="http://schemas.microsoft.com/office/drawing/2014/main" id="{9E48DDA3-A82E-03B7-2762-90D871FBC6DB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867611" y="4993169"/>
            <a:ext cx="224148" cy="224148"/>
          </a:xfrm>
          <a:prstGeom prst="rect">
            <a:avLst/>
          </a:prstGeom>
        </p:spPr>
      </p:pic>
      <p:sp>
        <p:nvSpPr>
          <p:cNvPr id="175" name="TextBox 174">
            <a:extLst>
              <a:ext uri="{FF2B5EF4-FFF2-40B4-BE49-F238E27FC236}">
                <a16:creationId xmlns:a16="http://schemas.microsoft.com/office/drawing/2014/main" id="{1B02BDD5-7909-AC95-7FC3-33BB22FCA02A}"/>
              </a:ext>
            </a:extLst>
          </p:cNvPr>
          <p:cNvSpPr txBox="1"/>
          <p:nvPr/>
        </p:nvSpPr>
        <p:spPr>
          <a:xfrm>
            <a:off x="10515611" y="3443731"/>
            <a:ext cx="111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Consolidate and repeat tests into one large testing program</a:t>
            </a:r>
            <a:endParaRPr lang="en-US" sz="100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F8D649E-4411-6E66-6A62-1732FC293660}"/>
              </a:ext>
            </a:extLst>
          </p:cNvPr>
          <p:cNvSpPr txBox="1"/>
          <p:nvPr/>
        </p:nvSpPr>
        <p:spPr>
          <a:xfrm>
            <a:off x="9003833" y="4078949"/>
            <a:ext cx="1119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Instrument simulator with annotation- and testing program-derived prediction values</a:t>
            </a:r>
            <a:endParaRPr lang="en-US" sz="100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CE7FD00D-4029-83B6-F5BC-DC674652E067}"/>
              </a:ext>
            </a:extLst>
          </p:cNvPr>
          <p:cNvSpPr txBox="1"/>
          <p:nvPr/>
        </p:nvSpPr>
        <p:spPr>
          <a:xfrm>
            <a:off x="8995111" y="4943034"/>
            <a:ext cx="101678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Run test program and inspect instruction order and predictions </a:t>
            </a:r>
            <a:endParaRPr lang="en-US" sz="1000"/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79361474-13CB-820C-9CBD-1F469D952C50}"/>
              </a:ext>
            </a:extLst>
          </p:cNvPr>
          <p:cNvSpPr/>
          <p:nvPr/>
        </p:nvSpPr>
        <p:spPr>
          <a:xfrm>
            <a:off x="4192059" y="3931567"/>
            <a:ext cx="2871765" cy="5521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 dirty="0">
                <a:solidFill>
                  <a:schemeClr val="tx1"/>
                </a:solidFill>
              </a:rPr>
              <a:t>Pass 2: Specify instructions</a:t>
            </a:r>
            <a:endParaRPr lang="en-US" sz="800" dirty="0">
              <a:solidFill>
                <a:schemeClr val="tx1"/>
              </a:solidFill>
            </a:endParaRPr>
          </a:p>
          <a:p>
            <a:r>
              <a:rPr lang="en-US" sz="800" dirty="0">
                <a:solidFill>
                  <a:schemeClr val="tx1"/>
                </a:solidFill>
              </a:rPr>
              <a:t>- Start with speculation primitives, add them to annotation</a:t>
            </a:r>
          </a:p>
          <a:p>
            <a:r>
              <a:rPr lang="en-US" sz="800" dirty="0">
                <a:solidFill>
                  <a:schemeClr val="tx1"/>
                </a:solidFill>
              </a:rPr>
              <a:t>- Then flesh out other ISA instructions from respective buckets, including xmits, add them to annotation</a:t>
            </a:r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CB829537-B923-2DB9-0BBE-85F858978EE8}"/>
              </a:ext>
            </a:extLst>
          </p:cNvPr>
          <p:cNvSpPr/>
          <p:nvPr/>
        </p:nvSpPr>
        <p:spPr>
          <a:xfrm>
            <a:off x="4192059" y="4530396"/>
            <a:ext cx="2871765" cy="5521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>
                <a:solidFill>
                  <a:schemeClr val="tx1"/>
                </a:solidFill>
              </a:rPr>
              <a:t>Pass 3: Specify state</a:t>
            </a:r>
            <a:endParaRPr lang="en-US" sz="800">
              <a:solidFill>
                <a:schemeClr val="tx1"/>
              </a:solidFill>
            </a:endParaRPr>
          </a:p>
          <a:p>
            <a:r>
              <a:rPr lang="en-US" sz="800">
                <a:solidFill>
                  <a:schemeClr val="tx1"/>
                </a:solidFill>
              </a:rPr>
              <a:t>- Allocate reg and mem state from allowed list</a:t>
            </a:r>
          </a:p>
          <a:p>
            <a:r>
              <a:rPr lang="en-US" sz="800">
                <a:solidFill>
                  <a:schemeClr val="tx1"/>
                </a:solidFill>
              </a:rPr>
              <a:t>- Note priming for interleaves</a:t>
            </a:r>
          </a:p>
          <a:p>
            <a:r>
              <a:rPr lang="en-US" sz="800">
                <a:solidFill>
                  <a:schemeClr val="tx1"/>
                </a:solidFill>
              </a:rPr>
              <a:t>- Floating reg and mem should be unique (size issues)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B2825C52-1A8D-99AA-EC99-622800F61487}"/>
              </a:ext>
            </a:extLst>
          </p:cNvPr>
          <p:cNvSpPr/>
          <p:nvPr/>
        </p:nvSpPr>
        <p:spPr>
          <a:xfrm>
            <a:off x="4192059" y="5129804"/>
            <a:ext cx="2871765" cy="55212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800" b="1">
                <a:solidFill>
                  <a:schemeClr val="tx1"/>
                </a:solidFill>
              </a:rPr>
              <a:t>Pass 4: Filtration</a:t>
            </a:r>
            <a:endParaRPr lang="en-US" sz="800">
              <a:solidFill>
                <a:schemeClr val="tx1"/>
              </a:solidFill>
            </a:endParaRPr>
          </a:p>
          <a:p>
            <a:r>
              <a:rPr lang="en-US" sz="800">
                <a:solidFill>
                  <a:schemeClr val="tx1"/>
                </a:solidFill>
              </a:rPr>
              <a:t>- Assign some method of prioritization based on including all test cases at a bare minimum, then which ISA instructions to expand upon, then can cut off testing at any point </a:t>
            </a:r>
            <a:endParaRPr lang="en-US" sz="8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38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2082</Words>
  <Application>Microsoft Macintosh PowerPoint</Application>
  <PresentationFormat>Widescreen</PresentationFormat>
  <Paragraphs>389</Paragraphs>
  <Slides>17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SimSpect 1/9/2026</vt:lpstr>
      <vt:lpstr>SimSpect final pipeline design</vt:lpstr>
      <vt:lpstr>Rough progress</vt:lpstr>
      <vt:lpstr>Design questions</vt:lpstr>
      <vt:lpstr>Design questions</vt:lpstr>
      <vt:lpstr>Design questions</vt:lpstr>
      <vt:lpstr>Model</vt:lpstr>
      <vt:lpstr>Defenses</vt:lpstr>
      <vt:lpstr>Other things</vt:lpstr>
      <vt:lpstr>Example</vt:lpstr>
      <vt:lpstr>Example</vt:lpstr>
      <vt:lpstr>Example</vt:lpstr>
      <vt:lpstr>Example</vt:lpstr>
      <vt:lpstr>Example</vt:lpstr>
      <vt:lpstr>Example</vt:lpstr>
      <vt:lpstr>Example</vt:lpstr>
      <vt:lpstr>SimSpect final pipeline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Eaton</dc:creator>
  <cp:lastModifiedBy>Anna Eaton</cp:lastModifiedBy>
  <cp:revision>4</cp:revision>
  <dcterms:created xsi:type="dcterms:W3CDTF">2026-01-09T14:51:13Z</dcterms:created>
  <dcterms:modified xsi:type="dcterms:W3CDTF">2026-01-09T19:49:56Z</dcterms:modified>
</cp:coreProperties>
</file>