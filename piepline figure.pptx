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34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39"/>
    <p:restoredTop sz="94719"/>
  </p:normalViewPr>
  <p:slideViewPr>
    <p:cSldViewPr snapToGrid="0">
      <p:cViewPr>
        <p:scale>
          <a:sx n="170" d="100"/>
          <a:sy n="170" d="100"/>
        </p:scale>
        <p:origin x="-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55312-07DA-AE42-85B7-FD4BA14925CF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FA41D-FED6-A443-8058-52402564A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9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89DE-0838-8DBE-9684-9A0E8C79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12572-D2E2-B186-5089-D3CB6742C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05055-7251-55DA-14CE-BCCDF5BC3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42284-C784-E353-D778-7793F98BC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26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2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2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0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0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71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6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6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7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4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1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AD370-4D1C-A644-B172-E6EEC8E802A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8FD29-0670-1247-B634-FAD6BE5FA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5CB151-F97F-1707-EDDE-4CFA596253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980ED2-B27C-0572-B386-3AAF57108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5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6DC3-4881-9D8F-F72C-7AF629C0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E8F4076-A652-38AF-2FDC-17F1BBAE675C}"/>
              </a:ext>
            </a:extLst>
          </p:cNvPr>
          <p:cNvGrpSpPr/>
          <p:nvPr/>
        </p:nvGrpSpPr>
        <p:grpSpPr>
          <a:xfrm>
            <a:off x="206286" y="1025747"/>
            <a:ext cx="7373324" cy="3357564"/>
            <a:chOff x="251872" y="1452133"/>
            <a:chExt cx="11565999" cy="5266767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A981916-0719-A26F-D384-603CF2634CB3}"/>
                </a:ext>
              </a:extLst>
            </p:cNvPr>
            <p:cNvSpPr txBox="1"/>
            <p:nvPr/>
          </p:nvSpPr>
          <p:spPr>
            <a:xfrm>
              <a:off x="9492292" y="2245281"/>
              <a:ext cx="1537995" cy="579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Defense implementation 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B4D75DC-1E71-6023-4C6E-DE3E602451E3}"/>
                </a:ext>
              </a:extLst>
            </p:cNvPr>
            <p:cNvSpPr/>
            <p:nvPr/>
          </p:nvSpPr>
          <p:spPr>
            <a:xfrm>
              <a:off x="8815639" y="3253038"/>
              <a:ext cx="3002232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C56E99D-36CC-731E-A829-742CBF7506B5}"/>
                </a:ext>
              </a:extLst>
            </p:cNvPr>
            <p:cNvSpPr/>
            <p:nvPr/>
          </p:nvSpPr>
          <p:spPr>
            <a:xfrm>
              <a:off x="433277" y="3276676"/>
              <a:ext cx="2254552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B96C1B8-8D64-1196-C1EE-0DB801D3B1E7}"/>
                </a:ext>
              </a:extLst>
            </p:cNvPr>
            <p:cNvSpPr/>
            <p:nvPr/>
          </p:nvSpPr>
          <p:spPr>
            <a:xfrm>
              <a:off x="5725226" y="1484348"/>
              <a:ext cx="709827" cy="8952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pic>
          <p:nvPicPr>
            <p:cNvPr id="5" name="Graphic 4" descr="Document outline">
              <a:extLst>
                <a:ext uri="{FF2B5EF4-FFF2-40B4-BE49-F238E27FC236}">
                  <a16:creationId xmlns:a16="http://schemas.microsoft.com/office/drawing/2014/main" id="{50625B6E-AEBF-EF95-0465-475627CAA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2854" y="1512519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45E73837-EC75-3AAB-4E2E-31794808B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7462" y="1452133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Tuning Fork outline">
              <a:extLst>
                <a:ext uri="{FF2B5EF4-FFF2-40B4-BE49-F238E27FC236}">
                  <a16:creationId xmlns:a16="http://schemas.microsoft.com/office/drawing/2014/main" id="{AA64A777-9A01-4361-361B-050FC4D34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7537" y="1514769"/>
              <a:ext cx="836132" cy="836132"/>
            </a:xfrm>
            <a:prstGeom prst="rect">
              <a:avLst/>
            </a:prstGeom>
          </p:spPr>
        </p:pic>
        <p:pic>
          <p:nvPicPr>
            <p:cNvPr id="10" name="Graphic 9" descr="Processor outline">
              <a:extLst>
                <a:ext uri="{FF2B5EF4-FFF2-40B4-BE49-F238E27FC236}">
                  <a16:creationId xmlns:a16="http://schemas.microsoft.com/office/drawing/2014/main" id="{F50919D4-740A-575E-CB71-8173577CB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91454" y="1452133"/>
              <a:ext cx="914400" cy="9144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4F249DE-2706-3068-FD68-D9E8209C8BE2}"/>
                </a:ext>
              </a:extLst>
            </p:cNvPr>
            <p:cNvGrpSpPr/>
            <p:nvPr/>
          </p:nvGrpSpPr>
          <p:grpSpPr>
            <a:xfrm>
              <a:off x="2926050" y="3805271"/>
              <a:ext cx="502412" cy="512263"/>
              <a:chOff x="3343834" y="3429000"/>
              <a:chExt cx="914400" cy="93232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7E0D52-8BA2-234D-83BC-8F3EEB217058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12" name="Graphic 11" descr="Workflow outline">
                <a:extLst>
                  <a:ext uri="{FF2B5EF4-FFF2-40B4-BE49-F238E27FC236}">
                    <a16:creationId xmlns:a16="http://schemas.microsoft.com/office/drawing/2014/main" id="{9DE31863-3D01-7973-9876-210788F538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1659549-85C4-A0C9-EF3E-E27D635E2300}"/>
                </a:ext>
              </a:extLst>
            </p:cNvPr>
            <p:cNvGrpSpPr/>
            <p:nvPr/>
          </p:nvGrpSpPr>
          <p:grpSpPr>
            <a:xfrm>
              <a:off x="3150166" y="4011458"/>
              <a:ext cx="502412" cy="512263"/>
              <a:chOff x="3343834" y="3429000"/>
              <a:chExt cx="914400" cy="9323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F0FF371-A826-C9D2-2C65-40D9DC371EF4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25" name="Graphic 24" descr="Workflow outline">
                <a:extLst>
                  <a:ext uri="{FF2B5EF4-FFF2-40B4-BE49-F238E27FC236}">
                    <a16:creationId xmlns:a16="http://schemas.microsoft.com/office/drawing/2014/main" id="{A932F8CD-DCF7-6245-6415-68CE8DAE4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79087BA-CA42-62EC-FE90-81ED09208851}"/>
                </a:ext>
              </a:extLst>
            </p:cNvPr>
            <p:cNvGrpSpPr/>
            <p:nvPr/>
          </p:nvGrpSpPr>
          <p:grpSpPr>
            <a:xfrm>
              <a:off x="3369418" y="4246171"/>
              <a:ext cx="502412" cy="512263"/>
              <a:chOff x="3343834" y="3429000"/>
              <a:chExt cx="914400" cy="93232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98E8CC-0CDD-C26D-E9AF-61C198D4394D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28" name="Graphic 27" descr="Workflow outline">
                <a:extLst>
                  <a:ext uri="{FF2B5EF4-FFF2-40B4-BE49-F238E27FC236}">
                    <a16:creationId xmlns:a16="http://schemas.microsoft.com/office/drawing/2014/main" id="{061B2B84-B287-40DF-B7D7-06AA4BF1B0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1DCE6E0-D489-6602-A948-5C70D9FF8081}"/>
                </a:ext>
              </a:extLst>
            </p:cNvPr>
            <p:cNvGrpSpPr/>
            <p:nvPr/>
          </p:nvGrpSpPr>
          <p:grpSpPr>
            <a:xfrm>
              <a:off x="549452" y="3477915"/>
              <a:ext cx="653979" cy="653978"/>
              <a:chOff x="7252450" y="3428999"/>
              <a:chExt cx="914402" cy="91440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CB63F20-3838-C683-1CF8-37BF1CE510AB}"/>
                  </a:ext>
                </a:extLst>
              </p:cNvPr>
              <p:cNvSpPr/>
              <p:nvPr/>
            </p:nvSpPr>
            <p:spPr>
              <a:xfrm>
                <a:off x="7252452" y="34290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44" name="Graphic 43" descr="Workflow with solid fill">
                <a:extLst>
                  <a:ext uri="{FF2B5EF4-FFF2-40B4-BE49-F238E27FC236}">
                    <a16:creationId xmlns:a16="http://schemas.microsoft.com/office/drawing/2014/main" id="{09EF689B-56D1-A284-F294-AC05E8E443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252450" y="342899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41BEEF-3DAA-15A4-DF45-81E6E8391421}"/>
                </a:ext>
              </a:extLst>
            </p:cNvPr>
            <p:cNvSpPr txBox="1"/>
            <p:nvPr/>
          </p:nvSpPr>
          <p:spPr>
            <a:xfrm>
              <a:off x="1201459" y="2285018"/>
              <a:ext cx="1300163" cy="579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Defense specification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B8A6ED7-4A36-C14F-ACF7-8AB15E788A67}"/>
                </a:ext>
              </a:extLst>
            </p:cNvPr>
            <p:cNvGrpSpPr/>
            <p:nvPr/>
          </p:nvGrpSpPr>
          <p:grpSpPr>
            <a:xfrm>
              <a:off x="7272582" y="4685085"/>
              <a:ext cx="785536" cy="785536"/>
              <a:chOff x="7215714" y="5337944"/>
              <a:chExt cx="914400" cy="9144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278686D-36BF-48B9-DB72-F7548141EE7F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47" name="Graphic 46" descr="Checklist outline">
                <a:extLst>
                  <a:ext uri="{FF2B5EF4-FFF2-40B4-BE49-F238E27FC236}">
                    <a16:creationId xmlns:a16="http://schemas.microsoft.com/office/drawing/2014/main" id="{E2ECA53B-D3F8-BF92-E00B-9EE982E0B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271AD6A-93EA-65E6-6447-F1E62B51962D}"/>
                </a:ext>
              </a:extLst>
            </p:cNvPr>
            <p:cNvGrpSpPr/>
            <p:nvPr/>
          </p:nvGrpSpPr>
          <p:grpSpPr>
            <a:xfrm>
              <a:off x="7424982" y="4837485"/>
              <a:ext cx="785536" cy="785536"/>
              <a:chOff x="7215714" y="5337944"/>
              <a:chExt cx="914400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C0EF04B-0B78-2A28-768A-45512BF4B853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60" name="Graphic 59" descr="Checklist outline">
                <a:extLst>
                  <a:ext uri="{FF2B5EF4-FFF2-40B4-BE49-F238E27FC236}">
                    <a16:creationId xmlns:a16="http://schemas.microsoft.com/office/drawing/2014/main" id="{48EA46FA-130F-B21B-9B67-CA2CD2E0FC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A1B8D8E-0275-1B1C-4E43-BCFC278F70AA}"/>
                </a:ext>
              </a:extLst>
            </p:cNvPr>
            <p:cNvGrpSpPr/>
            <p:nvPr/>
          </p:nvGrpSpPr>
          <p:grpSpPr>
            <a:xfrm>
              <a:off x="7577382" y="4989885"/>
              <a:ext cx="785536" cy="785536"/>
              <a:chOff x="7215714" y="5337944"/>
              <a:chExt cx="914400" cy="9144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BA4B7A8-06C2-F34D-04D2-A6F8C6BEA8F0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63" name="Graphic 62" descr="Checklist outline">
                <a:extLst>
                  <a:ext uri="{FF2B5EF4-FFF2-40B4-BE49-F238E27FC236}">
                    <a16:creationId xmlns:a16="http://schemas.microsoft.com/office/drawing/2014/main" id="{096FF9DF-CDC7-11D5-84C8-83361F1FC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FE68555-6B85-2765-6355-3C58874782AB}"/>
                </a:ext>
              </a:extLst>
            </p:cNvPr>
            <p:cNvGrpSpPr/>
            <p:nvPr/>
          </p:nvGrpSpPr>
          <p:grpSpPr>
            <a:xfrm>
              <a:off x="7729782" y="5142285"/>
              <a:ext cx="785536" cy="785536"/>
              <a:chOff x="7215714" y="5337944"/>
              <a:chExt cx="914400" cy="9144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514A9BE-E453-1AD9-EB5A-D7AABB0D845F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66" name="Graphic 65" descr="Checklist outline">
                <a:extLst>
                  <a:ext uri="{FF2B5EF4-FFF2-40B4-BE49-F238E27FC236}">
                    <a16:creationId xmlns:a16="http://schemas.microsoft.com/office/drawing/2014/main" id="{18178730-3B9D-B667-7673-464580313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D8355D0-1147-0403-2F1C-564D151B3A93}"/>
                </a:ext>
              </a:extLst>
            </p:cNvPr>
            <p:cNvGrpSpPr/>
            <p:nvPr/>
          </p:nvGrpSpPr>
          <p:grpSpPr>
            <a:xfrm>
              <a:off x="7882182" y="5294685"/>
              <a:ext cx="785536" cy="785536"/>
              <a:chOff x="7215714" y="5337944"/>
              <a:chExt cx="914400" cy="9144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CEBCB39B-6E01-1648-D6B4-0FEECE530E86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69" name="Graphic 68" descr="Checklist outline">
                <a:extLst>
                  <a:ext uri="{FF2B5EF4-FFF2-40B4-BE49-F238E27FC236}">
                    <a16:creationId xmlns:a16="http://schemas.microsoft.com/office/drawing/2014/main" id="{EF472B35-087F-4442-8CA0-9173AE07FD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B3B8777-937D-461E-9878-CD61001CCF27}"/>
                </a:ext>
              </a:extLst>
            </p:cNvPr>
            <p:cNvGrpSpPr/>
            <p:nvPr/>
          </p:nvGrpSpPr>
          <p:grpSpPr>
            <a:xfrm>
              <a:off x="7380214" y="2919073"/>
              <a:ext cx="671391" cy="671391"/>
              <a:chOff x="7081281" y="1974524"/>
              <a:chExt cx="914400" cy="9144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961703A-DC15-F9A8-7494-B2E4AFF5FE7A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71" name="Graphic 70" descr="Web design outline">
                <a:extLst>
                  <a:ext uri="{FF2B5EF4-FFF2-40B4-BE49-F238E27FC236}">
                    <a16:creationId xmlns:a16="http://schemas.microsoft.com/office/drawing/2014/main" id="{7054ABE8-E83E-BD2E-6D06-3DA82E68F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FEC2859-B726-C068-1BDD-FF9871AC205F}"/>
                </a:ext>
              </a:extLst>
            </p:cNvPr>
            <p:cNvGrpSpPr/>
            <p:nvPr/>
          </p:nvGrpSpPr>
          <p:grpSpPr>
            <a:xfrm>
              <a:off x="7532614" y="3071473"/>
              <a:ext cx="671391" cy="671391"/>
              <a:chOff x="7081281" y="1974524"/>
              <a:chExt cx="914400" cy="9144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5EAE08C-34F4-89FF-4427-B452CB8B2ACD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76" name="Graphic 75" descr="Web design outline">
                <a:extLst>
                  <a:ext uri="{FF2B5EF4-FFF2-40B4-BE49-F238E27FC236}">
                    <a16:creationId xmlns:a16="http://schemas.microsoft.com/office/drawing/2014/main" id="{E50B9445-C816-6076-F5CE-1A932ADBD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CDEA302F-2E16-D7E7-AB57-2D7971FD9017}"/>
                </a:ext>
              </a:extLst>
            </p:cNvPr>
            <p:cNvGrpSpPr/>
            <p:nvPr/>
          </p:nvGrpSpPr>
          <p:grpSpPr>
            <a:xfrm>
              <a:off x="7685014" y="3223873"/>
              <a:ext cx="671391" cy="671391"/>
              <a:chOff x="7081281" y="1974524"/>
              <a:chExt cx="914400" cy="9144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5059190-9F36-13DD-8FE7-4C6FB63F37FB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79" name="Graphic 78" descr="Web design outline">
                <a:extLst>
                  <a:ext uri="{FF2B5EF4-FFF2-40B4-BE49-F238E27FC236}">
                    <a16:creationId xmlns:a16="http://schemas.microsoft.com/office/drawing/2014/main" id="{F345824B-0B36-BB4C-AE32-37F4B212F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9DAED73-299A-31B7-ABFC-4A00402263DC}"/>
                </a:ext>
              </a:extLst>
            </p:cNvPr>
            <p:cNvGrpSpPr/>
            <p:nvPr/>
          </p:nvGrpSpPr>
          <p:grpSpPr>
            <a:xfrm>
              <a:off x="7837414" y="3376273"/>
              <a:ext cx="671391" cy="671391"/>
              <a:chOff x="7081281" y="1974524"/>
              <a:chExt cx="914400" cy="91440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8F981AB0-D74B-B5AC-0194-A5B719C765B8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82" name="Graphic 81" descr="Web design outline">
                <a:extLst>
                  <a:ext uri="{FF2B5EF4-FFF2-40B4-BE49-F238E27FC236}">
                    <a16:creationId xmlns:a16="http://schemas.microsoft.com/office/drawing/2014/main" id="{1CAE3830-451F-26E1-D423-4690FDD960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00E48E1-E6C1-AF34-9CBE-84236D9CFA2D}"/>
                </a:ext>
              </a:extLst>
            </p:cNvPr>
            <p:cNvGrpSpPr/>
            <p:nvPr/>
          </p:nvGrpSpPr>
          <p:grpSpPr>
            <a:xfrm>
              <a:off x="7989814" y="3528673"/>
              <a:ext cx="671391" cy="671391"/>
              <a:chOff x="7081281" y="1974524"/>
              <a:chExt cx="914400" cy="9144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9243B7A-C4AA-D404-FFF4-44E8C84B0BF7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48" dirty="0"/>
              </a:p>
            </p:txBody>
          </p:sp>
          <p:pic>
            <p:nvPicPr>
              <p:cNvPr id="85" name="Graphic 84" descr="Web design outline">
                <a:extLst>
                  <a:ext uri="{FF2B5EF4-FFF2-40B4-BE49-F238E27FC236}">
                    <a16:creationId xmlns:a16="http://schemas.microsoft.com/office/drawing/2014/main" id="{1B7086A8-C385-E326-7F24-6872714A4C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00B7B12-4F1B-BB8E-C5C8-6A6050E26AF4}"/>
                </a:ext>
              </a:extLst>
            </p:cNvPr>
            <p:cNvSpPr txBox="1"/>
            <p:nvPr/>
          </p:nvSpPr>
          <p:spPr>
            <a:xfrm>
              <a:off x="4190371" y="2304803"/>
              <a:ext cx="1633056" cy="579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Implementation ISA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EE1EBDE-8C14-74E6-525D-4A28AF1DD3C1}"/>
                </a:ext>
              </a:extLst>
            </p:cNvPr>
            <p:cNvSpPr txBox="1"/>
            <p:nvPr/>
          </p:nvSpPr>
          <p:spPr>
            <a:xfrm>
              <a:off x="5423629" y="2329876"/>
              <a:ext cx="1300163" cy="579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Tuning parameters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BEEF87C-749E-21B6-AD3E-6738AFBB94B2}"/>
                </a:ext>
              </a:extLst>
            </p:cNvPr>
            <p:cNvSpPr/>
            <p:nvPr/>
          </p:nvSpPr>
          <p:spPr>
            <a:xfrm>
              <a:off x="4131392" y="3270999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9D53DC1-9FAE-212B-B7F3-308EA81349C5}"/>
                </a:ext>
              </a:extLst>
            </p:cNvPr>
            <p:cNvSpPr txBox="1"/>
            <p:nvPr/>
          </p:nvSpPr>
          <p:spPr>
            <a:xfrm>
              <a:off x="2725674" y="4762508"/>
              <a:ext cx="1300163" cy="531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n abstract litmus tests 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FA2FD56-83D5-B6E2-35DA-736A2D67BD2B}"/>
                </a:ext>
              </a:extLst>
            </p:cNvPr>
            <p:cNvSpPr txBox="1"/>
            <p:nvPr/>
          </p:nvSpPr>
          <p:spPr>
            <a:xfrm>
              <a:off x="7182675" y="4044974"/>
              <a:ext cx="1676067" cy="531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m concrete litmus tests (m&gt;&gt;n) 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1BBD528-C31E-DA53-9D08-CAE8ED58FBEE}"/>
                </a:ext>
              </a:extLst>
            </p:cNvPr>
            <p:cNvSpPr txBox="1"/>
            <p:nvPr/>
          </p:nvSpPr>
          <p:spPr>
            <a:xfrm>
              <a:off x="7163011" y="6030902"/>
              <a:ext cx="1676067" cy="531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m speculation annotations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30631A8-BC36-B9EF-F47B-E7446C2C1598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>
              <a:off x="1851541" y="2864362"/>
              <a:ext cx="13122" cy="62067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EC6B297-9316-37DD-7407-94E896F1C484}"/>
                </a:ext>
              </a:extLst>
            </p:cNvPr>
            <p:cNvSpPr/>
            <p:nvPr/>
          </p:nvSpPr>
          <p:spPr>
            <a:xfrm>
              <a:off x="1436819" y="3477913"/>
              <a:ext cx="1182569" cy="13270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1. Leakage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2.  Execution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3. Prot. set + mechanism</a:t>
              </a:r>
            </a:p>
            <a:p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30FFA36-5853-3DC0-DD36-68D631315442}"/>
                </a:ext>
              </a:extLst>
            </p:cNvPr>
            <p:cNvSpPr txBox="1"/>
            <p:nvPr/>
          </p:nvSpPr>
          <p:spPr>
            <a:xfrm>
              <a:off x="251872" y="4107888"/>
              <a:ext cx="1249139" cy="531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Execution model</a:t>
              </a:r>
            </a:p>
          </p:txBody>
        </p:sp>
        <p:pic>
          <p:nvPicPr>
            <p:cNvPr id="110" name="Graphic 109" descr="Add with solid fill">
              <a:extLst>
                <a:ext uri="{FF2B5EF4-FFF2-40B4-BE49-F238E27FC236}">
                  <a16:creationId xmlns:a16="http://schemas.microsoft.com/office/drawing/2014/main" id="{291479FD-2574-F2F8-9AB0-BB6653F77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24819" y="3693731"/>
              <a:ext cx="181318" cy="181318"/>
            </a:xfrm>
            <a:prstGeom prst="rect">
              <a:avLst/>
            </a:prstGeom>
          </p:spPr>
        </p:pic>
        <p:sp>
          <p:nvSpPr>
            <p:cNvPr id="112" name="Manual Operation 111">
              <a:extLst>
                <a:ext uri="{FF2B5EF4-FFF2-40B4-BE49-F238E27FC236}">
                  <a16:creationId xmlns:a16="http://schemas.microsoft.com/office/drawing/2014/main" id="{69BE0E2B-A3FA-123B-869F-20A83D3A4911}"/>
                </a:ext>
              </a:extLst>
            </p:cNvPr>
            <p:cNvSpPr/>
            <p:nvPr/>
          </p:nvSpPr>
          <p:spPr>
            <a:xfrm>
              <a:off x="655092" y="5217316"/>
              <a:ext cx="1779225" cy="330905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minimality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2498F8F9-3128-9CFD-DE7C-33D0CA5CD903}"/>
                </a:ext>
              </a:extLst>
            </p:cNvPr>
            <p:cNvCxnSpPr>
              <a:cxnSpLocks/>
            </p:cNvCxnSpPr>
            <p:nvPr/>
          </p:nvCxnSpPr>
          <p:spPr>
            <a:xfrm>
              <a:off x="1560553" y="4943033"/>
              <a:ext cx="0" cy="2702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21D0F78-7B03-2152-89E5-0FE0815E7A6C}"/>
                </a:ext>
              </a:extLst>
            </p:cNvPr>
            <p:cNvCxnSpPr>
              <a:cxnSpLocks/>
            </p:cNvCxnSpPr>
            <p:nvPr/>
          </p:nvCxnSpPr>
          <p:spPr>
            <a:xfrm>
              <a:off x="4964694" y="2804097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10216483-3634-62B6-E14B-8597F883B50A}"/>
                </a:ext>
              </a:extLst>
            </p:cNvPr>
            <p:cNvCxnSpPr>
              <a:cxnSpLocks/>
            </p:cNvCxnSpPr>
            <p:nvPr/>
          </p:nvCxnSpPr>
          <p:spPr>
            <a:xfrm>
              <a:off x="6073710" y="2804097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3" name="Graphic 122" descr="Add with solid fill">
              <a:extLst>
                <a:ext uri="{FF2B5EF4-FFF2-40B4-BE49-F238E27FC236}">
                  <a16:creationId xmlns:a16="http://schemas.microsoft.com/office/drawing/2014/main" id="{28DFBB9C-5439-59F4-7174-40E2179F7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17256" y="4504430"/>
              <a:ext cx="181318" cy="181318"/>
            </a:xfrm>
            <a:prstGeom prst="rect">
              <a:avLst/>
            </a:prstGeom>
          </p:spPr>
        </p:pic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939DFFAD-99D2-BB0A-D085-34E3B776B5AD}"/>
                </a:ext>
              </a:extLst>
            </p:cNvPr>
            <p:cNvSpPr/>
            <p:nvPr/>
          </p:nvSpPr>
          <p:spPr>
            <a:xfrm>
              <a:off x="2731770" y="4430613"/>
              <a:ext cx="162588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sp>
          <p:nvSpPr>
            <p:cNvPr id="125" name="Right Arrow 124">
              <a:extLst>
                <a:ext uri="{FF2B5EF4-FFF2-40B4-BE49-F238E27FC236}">
                  <a16:creationId xmlns:a16="http://schemas.microsoft.com/office/drawing/2014/main" id="{4A810630-794B-DADA-F254-0C68E2A9D577}"/>
                </a:ext>
              </a:extLst>
            </p:cNvPr>
            <p:cNvSpPr/>
            <p:nvPr/>
          </p:nvSpPr>
          <p:spPr>
            <a:xfrm>
              <a:off x="3946517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sp>
          <p:nvSpPr>
            <p:cNvPr id="126" name="Right Arrow 125">
              <a:extLst>
                <a:ext uri="{FF2B5EF4-FFF2-40B4-BE49-F238E27FC236}">
                  <a16:creationId xmlns:a16="http://schemas.microsoft.com/office/drawing/2014/main" id="{E4953D90-5629-60F8-A954-833CCD74F0D9}"/>
                </a:ext>
              </a:extLst>
            </p:cNvPr>
            <p:cNvSpPr/>
            <p:nvPr/>
          </p:nvSpPr>
          <p:spPr>
            <a:xfrm>
              <a:off x="7151372" y="4435399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sp>
          <p:nvSpPr>
            <p:cNvPr id="128" name="Right Arrow 127">
              <a:extLst>
                <a:ext uri="{FF2B5EF4-FFF2-40B4-BE49-F238E27FC236}">
                  <a16:creationId xmlns:a16="http://schemas.microsoft.com/office/drawing/2014/main" id="{426B02DC-6E9B-DA47-05E6-35574E353BAE}"/>
                </a:ext>
              </a:extLst>
            </p:cNvPr>
            <p:cNvSpPr/>
            <p:nvPr/>
          </p:nvSpPr>
          <p:spPr>
            <a:xfrm>
              <a:off x="8620719" y="4438909"/>
              <a:ext cx="162588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199B59C-CF2E-A2C3-AC3F-DB11B3523C01}"/>
                </a:ext>
              </a:extLst>
            </p:cNvPr>
            <p:cNvSpPr txBox="1"/>
            <p:nvPr/>
          </p:nvSpPr>
          <p:spPr>
            <a:xfrm>
              <a:off x="349023" y="5714382"/>
              <a:ext cx="2074728" cy="337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Stage 1: Alloy Analyzer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4B91025-7232-C95A-3F87-A8C0B34A110C}"/>
                </a:ext>
              </a:extLst>
            </p:cNvPr>
            <p:cNvSpPr txBox="1"/>
            <p:nvPr/>
          </p:nvSpPr>
          <p:spPr>
            <a:xfrm>
              <a:off x="4057037" y="5713308"/>
              <a:ext cx="2533848" cy="329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65" dirty="0"/>
                <a:t>Stage 2: Python, LLVM, Java</a:t>
              </a:r>
              <a:endParaRPr lang="en-US" sz="893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68EEFF3-3F10-8E96-6EC0-1ACB519A3837}"/>
                </a:ext>
              </a:extLst>
            </p:cNvPr>
            <p:cNvSpPr txBox="1"/>
            <p:nvPr/>
          </p:nvSpPr>
          <p:spPr>
            <a:xfrm>
              <a:off x="8720405" y="5727110"/>
              <a:ext cx="2074728" cy="337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Stage 3: C++, python</a:t>
              </a:r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FD089AE0-3AD2-C6F5-DCBB-5A9B7D4A3E15}"/>
                </a:ext>
              </a:extLst>
            </p:cNvPr>
            <p:cNvSpPr/>
            <p:nvPr/>
          </p:nvSpPr>
          <p:spPr>
            <a:xfrm rot="5400000">
              <a:off x="10960462" y="5657797"/>
              <a:ext cx="162588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 dirty="0"/>
            </a:p>
          </p:txBody>
        </p:sp>
        <p:pic>
          <p:nvPicPr>
            <p:cNvPr id="143" name="Graphic 142" descr="Clipboard Mixed outline">
              <a:extLst>
                <a:ext uri="{FF2B5EF4-FFF2-40B4-BE49-F238E27FC236}">
                  <a16:creationId xmlns:a16="http://schemas.microsoft.com/office/drawing/2014/main" id="{AA3E545E-6B06-3A38-4BA0-AA3115D4D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41217" y="4735917"/>
              <a:ext cx="914400" cy="914400"/>
            </a:xfrm>
            <a:prstGeom prst="rect">
              <a:avLst/>
            </a:prstGeom>
          </p:spPr>
        </p:pic>
        <p:pic>
          <p:nvPicPr>
            <p:cNvPr id="149" name="Graphic 148" descr="Question Mark with solid fill">
              <a:extLst>
                <a:ext uri="{FF2B5EF4-FFF2-40B4-BE49-F238E27FC236}">
                  <a16:creationId xmlns:a16="http://schemas.microsoft.com/office/drawing/2014/main" id="{3F2BCE16-FA49-1563-FD6E-B63A13302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74716" y="5980155"/>
              <a:ext cx="524046" cy="524045"/>
            </a:xfrm>
            <a:prstGeom prst="rect">
              <a:avLst/>
            </a:prstGeom>
          </p:spPr>
        </p:pic>
        <p:pic>
          <p:nvPicPr>
            <p:cNvPr id="151" name="Graphic 150" descr="Checkbox Checked with solid fill">
              <a:extLst>
                <a:ext uri="{FF2B5EF4-FFF2-40B4-BE49-F238E27FC236}">
                  <a16:creationId xmlns:a16="http://schemas.microsoft.com/office/drawing/2014/main" id="{BFAF4EA0-7F47-F9C3-5CBA-11F21F039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373981" y="5804500"/>
              <a:ext cx="914400" cy="914400"/>
            </a:xfrm>
            <a:prstGeom prst="rect">
              <a:avLst/>
            </a:prstGeom>
          </p:spPr>
        </p:pic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01453451-F292-8F09-B196-FA7FE9DF0F9E}"/>
                </a:ext>
              </a:extLst>
            </p:cNvPr>
            <p:cNvSpPr/>
            <p:nvPr/>
          </p:nvSpPr>
          <p:spPr>
            <a:xfrm>
              <a:off x="4194157" y="3333175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1: </a:t>
              </a:r>
              <a:r>
                <a:rPr lang="en-US" sz="800" dirty="0">
                  <a:solidFill>
                    <a:schemeClr val="tx1"/>
                  </a:solidFill>
                </a:rPr>
                <a:t>Specify instructions in LLVM, annotate speculation state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E4BBAA1A-69A2-11D6-B68A-D6C1D38CF96D}"/>
                </a:ext>
              </a:extLst>
            </p:cNvPr>
            <p:cNvCxnSpPr>
              <a:cxnSpLocks/>
            </p:cNvCxnSpPr>
            <p:nvPr/>
          </p:nvCxnSpPr>
          <p:spPr>
            <a:xfrm>
              <a:off x="10246774" y="2788929"/>
              <a:ext cx="0" cy="195965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8" name="Graphic 157" descr="Processor with solid fill">
              <a:extLst>
                <a:ext uri="{FF2B5EF4-FFF2-40B4-BE49-F238E27FC236}">
                  <a16:creationId xmlns:a16="http://schemas.microsoft.com/office/drawing/2014/main" id="{4B9B11BF-584D-7054-0553-D0D205F2D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934488" y="4700298"/>
              <a:ext cx="914400" cy="914400"/>
            </a:xfrm>
            <a:prstGeom prst="rect">
              <a:avLst/>
            </a:prstGeom>
          </p:spPr>
        </p:pic>
        <p:pic>
          <p:nvPicPr>
            <p:cNvPr id="162" name="Graphic 161" descr="Web design with solid fill">
              <a:extLst>
                <a:ext uri="{FF2B5EF4-FFF2-40B4-BE49-F238E27FC236}">
                  <a16:creationId xmlns:a16="http://schemas.microsoft.com/office/drawing/2014/main" id="{C7F86982-BB85-E3FA-66A7-C6B8F1C10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217350" y="3350830"/>
              <a:ext cx="914400" cy="914400"/>
            </a:xfrm>
            <a:prstGeom prst="rect">
              <a:avLst/>
            </a:prstGeom>
          </p:spPr>
        </p:pic>
        <p:pic>
          <p:nvPicPr>
            <p:cNvPr id="164" name="Graphic 163" descr="Badge 1 outline">
              <a:extLst>
                <a:ext uri="{FF2B5EF4-FFF2-40B4-BE49-F238E27FC236}">
                  <a16:creationId xmlns:a16="http://schemas.microsoft.com/office/drawing/2014/main" id="{ABC63F39-7D35-3E75-024E-E49AC75AE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370933" y="3491853"/>
              <a:ext cx="224148" cy="224148"/>
            </a:xfrm>
            <a:prstGeom prst="rect">
              <a:avLst/>
            </a:prstGeom>
          </p:spPr>
        </p:pic>
        <p:pic>
          <p:nvPicPr>
            <p:cNvPr id="166" name="Graphic 165" descr="Badge outline">
              <a:extLst>
                <a:ext uri="{FF2B5EF4-FFF2-40B4-BE49-F238E27FC236}">
                  <a16:creationId xmlns:a16="http://schemas.microsoft.com/office/drawing/2014/main" id="{77BD5DBE-7C51-D832-311B-DED9EA116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73330" y="4120402"/>
              <a:ext cx="224148" cy="224148"/>
            </a:xfrm>
            <a:prstGeom prst="rect">
              <a:avLst/>
            </a:prstGeom>
          </p:spPr>
        </p:pic>
        <p:pic>
          <p:nvPicPr>
            <p:cNvPr id="168" name="Graphic 167" descr="Badge 3 outline">
              <a:extLst>
                <a:ext uri="{FF2B5EF4-FFF2-40B4-BE49-F238E27FC236}">
                  <a16:creationId xmlns:a16="http://schemas.microsoft.com/office/drawing/2014/main" id="{BC7346A3-1A46-0A58-7AD8-645F4B470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867611" y="4993169"/>
              <a:ext cx="224148" cy="224148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6944081A-6ED4-EC0A-BC93-7DDBBC5E8F97}"/>
                </a:ext>
              </a:extLst>
            </p:cNvPr>
            <p:cNvSpPr txBox="1"/>
            <p:nvPr/>
          </p:nvSpPr>
          <p:spPr>
            <a:xfrm>
              <a:off x="10515611" y="3443731"/>
              <a:ext cx="1196596" cy="917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Consolidate and duplicate tests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4C1018B-0940-6997-FA11-A6564B565A14}"/>
                </a:ext>
              </a:extLst>
            </p:cNvPr>
            <p:cNvSpPr txBox="1"/>
            <p:nvPr/>
          </p:nvSpPr>
          <p:spPr>
            <a:xfrm>
              <a:off x="9003832" y="4078949"/>
              <a:ext cx="1119195" cy="917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Instrument simulator with annotations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65670D4-59B1-5FE4-0592-269A0863D7C5}"/>
                </a:ext>
              </a:extLst>
            </p:cNvPr>
            <p:cNvSpPr txBox="1"/>
            <p:nvPr/>
          </p:nvSpPr>
          <p:spPr>
            <a:xfrm>
              <a:off x="8995111" y="4943033"/>
              <a:ext cx="1016783" cy="7241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Run and inspect programs</a:t>
              </a:r>
            </a:p>
          </p:txBody>
        </p:sp>
        <p:sp>
          <p:nvSpPr>
            <p:cNvPr id="179" name="Rounded Rectangle 178">
              <a:extLst>
                <a:ext uri="{FF2B5EF4-FFF2-40B4-BE49-F238E27FC236}">
                  <a16:creationId xmlns:a16="http://schemas.microsoft.com/office/drawing/2014/main" id="{04C92EFE-9F20-7ACB-2B6B-54667C33170B}"/>
                </a:ext>
              </a:extLst>
            </p:cNvPr>
            <p:cNvSpPr/>
            <p:nvPr/>
          </p:nvSpPr>
          <p:spPr>
            <a:xfrm>
              <a:off x="4192059" y="3931567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2:</a:t>
              </a:r>
              <a:r>
                <a:rPr lang="en-US" sz="800" dirty="0">
                  <a:solidFill>
                    <a:schemeClr val="tx1"/>
                  </a:solidFill>
                </a:rPr>
                <a:t>  Add interleaved instructions on- and off-path of leakage</a:t>
              </a:r>
              <a:endParaRPr lang="en-US" sz="800" b="1" dirty="0">
                <a:solidFill>
                  <a:schemeClr val="tx1"/>
                </a:solidFill>
              </a:endParaRPr>
            </a:p>
            <a:p>
              <a:pPr marL="109299" indent="-109299">
                <a:buFontTx/>
                <a:buChar char="-"/>
              </a:pP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B372BE97-95EA-22A3-FDAB-0FDA5572418F}"/>
                </a:ext>
              </a:extLst>
            </p:cNvPr>
            <p:cNvSpPr/>
            <p:nvPr/>
          </p:nvSpPr>
          <p:spPr>
            <a:xfrm>
              <a:off x="4192059" y="4530396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3: </a:t>
              </a:r>
              <a:r>
                <a:rPr lang="en-US" sz="800" dirty="0">
                  <a:solidFill>
                    <a:schemeClr val="tx1"/>
                  </a:solidFill>
                </a:rPr>
                <a:t>Allocate register and memory state from allowed list</a:t>
              </a: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5D4DDB38-9739-3DBA-E814-47CF8BC26944}"/>
                </a:ext>
              </a:extLst>
            </p:cNvPr>
            <p:cNvSpPr/>
            <p:nvPr/>
          </p:nvSpPr>
          <p:spPr>
            <a:xfrm>
              <a:off x="4192059" y="5129804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4: </a:t>
              </a:r>
              <a:r>
                <a:rPr lang="en-US" sz="800" dirty="0">
                  <a:solidFill>
                    <a:schemeClr val="tx1"/>
                  </a:solidFill>
                </a:rPr>
                <a:t>Filter tests by prioritized instructions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962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115</Words>
  <Application>Microsoft Macintosh PowerPoint</Application>
  <PresentationFormat>Custom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Eaton</dc:creator>
  <cp:lastModifiedBy>Anna Eaton</cp:lastModifiedBy>
  <cp:revision>1</cp:revision>
  <dcterms:created xsi:type="dcterms:W3CDTF">2026-01-27T20:22:49Z</dcterms:created>
  <dcterms:modified xsi:type="dcterms:W3CDTF">2026-01-27T20:41:18Z</dcterms:modified>
</cp:coreProperties>
</file>