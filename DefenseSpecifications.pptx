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9" r:id="rId1"/>
  </p:sldMasterIdLst>
  <p:notesMasterIdLst>
    <p:notesMasterId r:id="rId22"/>
  </p:notesMasterIdLst>
  <p:handoutMasterIdLst>
    <p:handoutMasterId r:id="rId23"/>
  </p:handoutMasterIdLst>
  <p:sldIdLst>
    <p:sldId id="286" r:id="rId2"/>
    <p:sldId id="306" r:id="rId3"/>
    <p:sldId id="287" r:id="rId4"/>
    <p:sldId id="294" r:id="rId5"/>
    <p:sldId id="295" r:id="rId6"/>
    <p:sldId id="288" r:id="rId7"/>
    <p:sldId id="297" r:id="rId8"/>
    <p:sldId id="298" r:id="rId9"/>
    <p:sldId id="299" r:id="rId10"/>
    <p:sldId id="289" r:id="rId11"/>
    <p:sldId id="303" r:id="rId12"/>
    <p:sldId id="296" r:id="rId13"/>
    <p:sldId id="290" r:id="rId14"/>
    <p:sldId id="304" r:id="rId15"/>
    <p:sldId id="291" r:id="rId16"/>
    <p:sldId id="305" r:id="rId17"/>
    <p:sldId id="292" r:id="rId18"/>
    <p:sldId id="293" r:id="rId19"/>
    <p:sldId id="300" r:id="rId20"/>
    <p:sldId id="307" r:id="rId21"/>
  </p:sldIdLst>
  <p:sldSz cx="9144000" cy="5143500" type="screen16x9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Source Sans Pro" charset="0"/>
        <a:ea typeface="ＭＳ Ｐゴシック" charset="0"/>
        <a:cs typeface="ＭＳ Ｐゴシック" charset="0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Source Sans Pro" charset="0"/>
        <a:ea typeface="ＭＳ Ｐゴシック" charset="0"/>
        <a:cs typeface="ＭＳ Ｐゴシック" charset="0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Source Sans Pro" charset="0"/>
        <a:ea typeface="ＭＳ Ｐゴシック" charset="0"/>
        <a:cs typeface="ＭＳ Ｐゴシック" charset="0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Source Sans Pro" charset="0"/>
        <a:ea typeface="ＭＳ Ｐゴシック" charset="0"/>
        <a:cs typeface="ＭＳ Ｐゴシック" charset="0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Source Sans Pro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Source Sans Pro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Source Sans Pro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Source Sans Pro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Source Sans Pro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1515"/>
    <a:srgbClr val="4A344C"/>
    <a:srgbClr val="461F64"/>
    <a:srgbClr val="1F6B25"/>
    <a:srgbClr val="FF7F00"/>
    <a:srgbClr val="D6DDD3"/>
    <a:srgbClr val="EDE8DD"/>
    <a:srgbClr val="C2B7A1"/>
    <a:srgbClr val="918873"/>
    <a:srgbClr val="3C36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41"/>
    <p:restoredTop sz="76803"/>
  </p:normalViewPr>
  <p:slideViewPr>
    <p:cSldViewPr snapToGrid="0" snapToObjects="1">
      <p:cViewPr varScale="1">
        <p:scale>
          <a:sx n="129" d="100"/>
          <a:sy n="129" d="100"/>
        </p:scale>
        <p:origin x="216" y="18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DBB96C3C-2F8B-2A41-8B9B-C7562B9ED521}" type="datetimeFigureOut">
              <a:rPr lang="en-US"/>
              <a:pPr>
                <a:defRPr/>
              </a:pPr>
              <a:t>11/18/25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C2D496DB-AFDE-9946-993D-025FE3A1561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34720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CCDDC93F-B3BF-364B-BDAC-C35383BC4349}" type="datetimeFigureOut">
              <a:rPr lang="en-US"/>
              <a:pPr>
                <a:defRPr/>
              </a:pPr>
              <a:t>11/18/25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6E5A4F5B-0984-DF4E-8DDD-CA619A760FC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92824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5A4F5B-0984-DF4E-8DDD-CA619A760FC6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49804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specify visibility point</a:t>
            </a:r>
          </a:p>
          <a:p>
            <a:r>
              <a:rPr lang="en-US" dirty="0"/>
              <a:t>Todo mention no stores covered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5A4F5B-0984-DF4E-8DDD-CA619A760FC6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99139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5A4F5B-0984-DF4E-8DDD-CA619A760FC6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1938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see if it’s unresolved targets or addresses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5A4F5B-0984-DF4E-8DDD-CA619A760FC6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14072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define high likelihood transmitters</a:t>
            </a:r>
          </a:p>
          <a:p>
            <a:r>
              <a:rPr lang="en-US" dirty="0" err="1"/>
              <a:t>todo</a:t>
            </a:r>
            <a:r>
              <a:rPr lang="en-US" dirty="0"/>
              <a:t> check propagation specifics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5A4F5B-0984-DF4E-8DDD-CA619A760FC6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7289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explain why two load blocks are different</a:t>
            </a:r>
          </a:p>
          <a:p>
            <a:r>
              <a:rPr lang="en-US" dirty="0"/>
              <a:t>Whether or not we have bypass restriction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5A4F5B-0984-DF4E-8DDD-CA619A760FC6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6743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answer q about load blocking complexity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5A4F5B-0984-DF4E-8DDD-CA619A760FC6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615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D301E-AF81-6146-3814-536D5CAE0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07FAE1-2BAF-F96E-EC4E-C94541F6BD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3E031A-0AA4-94E2-1D14-05B80D30D4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specify visibility point</a:t>
            </a:r>
          </a:p>
          <a:p>
            <a:endParaRPr lang="en-US" dirty="0"/>
          </a:p>
          <a:p>
            <a:r>
              <a:rPr lang="en-US" dirty="0"/>
              <a:t>Implementation detail – test via variability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20F5E-0FD3-B823-75FE-73DB7806A3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5A4F5B-0984-DF4E-8DDD-CA619A760FC6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02990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6AA09-3B73-C92C-3C02-CF6DEDFE5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0EFE6B-6FAF-5F4C-5CA9-40AA522BD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A09655-BFF9-5C1F-33BC-EDE041021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specify visibility point</a:t>
            </a:r>
          </a:p>
          <a:p>
            <a:r>
              <a:rPr lang="en-US" dirty="0"/>
              <a:t>Does this talk about architectural state also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CB95F-0993-9D37-E74B-306DB73523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E5A4F5B-0984-DF4E-8DDD-CA619A760FC6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33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9" descr="SUSig_White.eps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0350" y="4811713"/>
            <a:ext cx="2046288" cy="187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5"/>
          <p:cNvSpPr/>
          <p:nvPr/>
        </p:nvSpPr>
        <p:spPr>
          <a:xfrm>
            <a:off x="0" y="0"/>
            <a:ext cx="9155113" cy="342900"/>
          </a:xfrm>
          <a:prstGeom prst="rect">
            <a:avLst/>
          </a:prstGeom>
          <a:solidFill>
            <a:schemeClr val="bg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Arial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00555"/>
            <a:ext cx="8229600" cy="618473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3"/>
          <p:cNvSpPr>
            <a:spLocks noGrp="1"/>
          </p:cNvSpPr>
          <p:nvPr>
            <p:ph type="body" sz="quarter" idx="18" hasCustomPrompt="1"/>
          </p:nvPr>
        </p:nvSpPr>
        <p:spPr>
          <a:xfrm>
            <a:off x="1603375" y="3599022"/>
            <a:ext cx="6059488" cy="205740"/>
          </a:xfrm>
          <a:prstGeom prst="rect">
            <a:avLst/>
          </a:prstGeom>
        </p:spPr>
        <p:txBody>
          <a:bodyPr wrap="none" anchor="ctr" anchorCtr="1">
            <a:noAutofit/>
          </a:bodyPr>
          <a:lstStyle>
            <a:lvl1pPr algn="ctr">
              <a:buNone/>
              <a:defRPr sz="18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Insert date here</a:t>
            </a:r>
          </a:p>
        </p:txBody>
      </p:sp>
      <p:sp>
        <p:nvSpPr>
          <p:cNvPr id="13" name="Subtitle 2"/>
          <p:cNvSpPr>
            <a:spLocks noGrp="1"/>
          </p:cNvSpPr>
          <p:nvPr>
            <p:ph type="subTitle" idx="1"/>
          </p:nvPr>
        </p:nvSpPr>
        <p:spPr>
          <a:xfrm>
            <a:off x="457200" y="2419028"/>
            <a:ext cx="8229600" cy="46189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2400" cap="none" spc="300">
                <a:solidFill>
                  <a:srgbClr val="A4001D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8" name="Picture 7" descr="EE-web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0637" y="4519613"/>
            <a:ext cx="2530405" cy="488950"/>
          </a:xfrm>
          <a:prstGeom prst="rect">
            <a:avLst/>
          </a:prstGeom>
        </p:spPr>
      </p:pic>
      <p:sp>
        <p:nvSpPr>
          <p:cNvPr id="9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4544" y="4811713"/>
            <a:ext cx="846137" cy="271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fld id="{C8580F89-A3EA-CF4C-A13C-CD8A0A8D4F1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5513079"/>
      </p:ext>
    </p:extLst>
  </p:cSld>
  <p:clrMapOvr>
    <a:masterClrMapping/>
  </p:clrMapOvr>
  <p:transition spd="slow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-6350"/>
            <a:ext cx="9155113" cy="342900"/>
          </a:xfrm>
          <a:prstGeom prst="rect">
            <a:avLst/>
          </a:prstGeom>
          <a:solidFill>
            <a:schemeClr val="bg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latin typeface="Arial"/>
            </a:endParaRPr>
          </a:p>
        </p:txBody>
      </p:sp>
      <p:pic>
        <p:nvPicPr>
          <p:cNvPr id="7" name="Picture 6" descr="EE-web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0637" y="4519613"/>
            <a:ext cx="2530405" cy="488950"/>
          </a:xfrm>
          <a:prstGeom prst="rect">
            <a:avLst/>
          </a:prstGeom>
        </p:spPr>
      </p:pic>
      <p:sp>
        <p:nvSpPr>
          <p:cNvPr id="8" name="Title 1"/>
          <p:cNvSpPr>
            <a:spLocks noGrp="1"/>
          </p:cNvSpPr>
          <p:nvPr>
            <p:ph type="ctrTitle"/>
          </p:nvPr>
        </p:nvSpPr>
        <p:spPr>
          <a:xfrm>
            <a:off x="457200" y="1800555"/>
            <a:ext cx="8229600" cy="618473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/>
          <p:cNvSpPr>
            <a:spLocks noGrp="1"/>
          </p:cNvSpPr>
          <p:nvPr>
            <p:ph type="subTitle" idx="1"/>
          </p:nvPr>
        </p:nvSpPr>
        <p:spPr>
          <a:xfrm>
            <a:off x="457200" y="2419028"/>
            <a:ext cx="8229600" cy="46189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2100" cap="none" spc="300">
                <a:solidFill>
                  <a:srgbClr val="A4001D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4544" y="4811713"/>
            <a:ext cx="846137" cy="271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fld id="{C8580F89-A3EA-CF4C-A13C-CD8A0A8D4F1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2903222"/>
      </p:ext>
    </p:extLst>
  </p:cSld>
  <p:clrMapOvr>
    <a:masterClrMapping/>
  </p:clrMapOvr>
  <p:transition spd="slow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8776" y="501957"/>
            <a:ext cx="7707862" cy="488024"/>
          </a:xfrm>
          <a:prstGeom prst="rect">
            <a:avLst/>
          </a:prstGeom>
        </p:spPr>
        <p:txBody>
          <a:bodyPr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955677" y="1051101"/>
            <a:ext cx="7700963" cy="3411445"/>
          </a:xfrm>
        </p:spPr>
        <p:txBody>
          <a:bodyPr/>
          <a:lstStyle>
            <a:lvl1pPr>
              <a:defRPr sz="1800" cap="none"/>
            </a:lvl1pPr>
          </a:lstStyle>
          <a:p>
            <a:pPr lvl="0"/>
            <a:r>
              <a:rPr lang="en-US" dirty="0"/>
              <a:t>Click to edit text, or click icon to insert image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4544" y="4811713"/>
            <a:ext cx="846137" cy="271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fld id="{C8580F89-A3EA-CF4C-A13C-CD8A0A8D4F1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2601043"/>
      </p:ext>
    </p:extLst>
  </p:cSld>
  <p:clrMapOvr>
    <a:masterClrMapping/>
  </p:clrMapOvr>
  <p:transition spd="slow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48776" y="501957"/>
            <a:ext cx="7707862" cy="488024"/>
          </a:xfrm>
          <a:prstGeom prst="rect">
            <a:avLst/>
          </a:prstGeom>
        </p:spPr>
        <p:txBody>
          <a:bodyPr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0" hasCustomPrompt="1"/>
          </p:nvPr>
        </p:nvSpPr>
        <p:spPr>
          <a:xfrm>
            <a:off x="949327" y="1051102"/>
            <a:ext cx="3787775" cy="342331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dirty="0"/>
              <a:t>Click to edit text, or click icon to insert image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1" hasCustomPrompt="1"/>
          </p:nvPr>
        </p:nvSpPr>
        <p:spPr>
          <a:xfrm>
            <a:off x="4876800" y="1051102"/>
            <a:ext cx="3779838" cy="342331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/>
              <a:t>Click to edit text, or click icon to insert image</a:t>
            </a:r>
          </a:p>
          <a:p>
            <a:pPr lvl="1"/>
            <a:r>
              <a:rPr lang="en-US"/>
              <a:t>Second </a:t>
            </a:r>
            <a:r>
              <a:rPr lang="en-US" dirty="0"/>
              <a:t>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4544" y="4811713"/>
            <a:ext cx="846137" cy="271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fld id="{C8580F89-A3EA-CF4C-A13C-CD8A0A8D4F1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003703"/>
      </p:ext>
    </p:extLst>
  </p:cSld>
  <p:clrMapOvr>
    <a:masterClrMapping/>
  </p:clrMapOvr>
  <p:transition spd="slow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48776" y="501957"/>
            <a:ext cx="7707862" cy="488024"/>
          </a:xfrm>
          <a:prstGeom prst="rect">
            <a:avLst/>
          </a:prstGeom>
        </p:spPr>
        <p:txBody>
          <a:bodyPr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0" hasCustomPrompt="1"/>
          </p:nvPr>
        </p:nvSpPr>
        <p:spPr>
          <a:xfrm>
            <a:off x="948777" y="1051101"/>
            <a:ext cx="7707862" cy="1642871"/>
          </a:xfrm>
        </p:spPr>
        <p:txBody>
          <a:bodyPr/>
          <a:lstStyle>
            <a:lvl1pPr>
              <a:defRPr sz="1800" cap="none"/>
            </a:lvl1pPr>
          </a:lstStyle>
          <a:p>
            <a:pPr lvl="0"/>
            <a:r>
              <a:rPr lang="en-US" dirty="0"/>
              <a:t>Click to edit text, or click icon to insert image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sz="quarter" idx="11" hasCustomPrompt="1"/>
          </p:nvPr>
        </p:nvSpPr>
        <p:spPr>
          <a:xfrm>
            <a:off x="949327" y="2818935"/>
            <a:ext cx="7707313" cy="1642871"/>
          </a:xfrm>
        </p:spPr>
        <p:txBody>
          <a:bodyPr/>
          <a:lstStyle>
            <a:lvl1pPr>
              <a:defRPr sz="1800" cap="none"/>
            </a:lvl1pPr>
          </a:lstStyle>
          <a:p>
            <a:pPr lvl="0"/>
            <a:r>
              <a:rPr lang="en-US" dirty="0"/>
              <a:t>Click to edit text, or click icon to insert image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4544" y="4811713"/>
            <a:ext cx="846137" cy="271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fld id="{C8580F89-A3EA-CF4C-A13C-CD8A0A8D4F1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6330347"/>
      </p:ext>
    </p:extLst>
  </p:cSld>
  <p:clrMapOvr>
    <a:masterClrMapping/>
  </p:clrMapOvr>
  <p:transition spd="slow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48776" y="501957"/>
            <a:ext cx="7707862" cy="488024"/>
          </a:xfrm>
          <a:prstGeom prst="rect">
            <a:avLst/>
          </a:prstGeom>
        </p:spPr>
        <p:txBody>
          <a:bodyPr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949327" y="1051101"/>
            <a:ext cx="3787775" cy="3504490"/>
          </a:xfrm>
        </p:spPr>
        <p:txBody>
          <a:bodyPr/>
          <a:lstStyle>
            <a:lvl1pPr>
              <a:defRPr sz="1800" cap="none"/>
            </a:lvl1pPr>
          </a:lstStyle>
          <a:p>
            <a:pPr lvl="0"/>
            <a:r>
              <a:rPr lang="en-US" dirty="0"/>
              <a:t>Click to edit text, or click icon to insert image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11" hasCustomPrompt="1"/>
          </p:nvPr>
        </p:nvSpPr>
        <p:spPr>
          <a:xfrm>
            <a:off x="4876800" y="1051102"/>
            <a:ext cx="3779838" cy="1676781"/>
          </a:xfrm>
        </p:spPr>
        <p:txBody>
          <a:bodyPr/>
          <a:lstStyle>
            <a:lvl1pPr>
              <a:defRPr sz="1800" cap="none"/>
            </a:lvl1pPr>
          </a:lstStyle>
          <a:p>
            <a:pPr lvl="0"/>
            <a:r>
              <a:rPr lang="en-US" dirty="0"/>
              <a:t>Click to edit text, or click icon to insert image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4876800" y="2880810"/>
            <a:ext cx="3779838" cy="1674781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dirty="0"/>
              <a:t>Click to edit text, or click icon to insert image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4544" y="4811713"/>
            <a:ext cx="846137" cy="271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fld id="{C8580F89-A3EA-CF4C-A13C-CD8A0A8D4F1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1328948"/>
      </p:ext>
    </p:extLst>
  </p:cSld>
  <p:clrMapOvr>
    <a:masterClrMapping/>
  </p:clrMapOvr>
  <p:transition spd="slow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948776" y="501957"/>
            <a:ext cx="7707862" cy="488024"/>
          </a:xfrm>
          <a:prstGeom prst="rect">
            <a:avLst/>
          </a:prstGeom>
        </p:spPr>
        <p:txBody>
          <a:bodyPr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949327" y="1051102"/>
            <a:ext cx="3787775" cy="1640205"/>
          </a:xfrm>
        </p:spPr>
        <p:txBody>
          <a:bodyPr/>
          <a:lstStyle>
            <a:lvl1pPr>
              <a:defRPr sz="1800" cap="none"/>
            </a:lvl1pPr>
          </a:lstStyle>
          <a:p>
            <a:pPr lvl="0"/>
            <a:r>
              <a:rPr lang="en-US" dirty="0"/>
              <a:t>Click to edit text, or click icon to insert image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1" hasCustomPrompt="1"/>
          </p:nvPr>
        </p:nvSpPr>
        <p:spPr>
          <a:xfrm>
            <a:off x="955677" y="2860189"/>
            <a:ext cx="3781425" cy="1644234"/>
          </a:xfrm>
        </p:spPr>
        <p:txBody>
          <a:bodyPr/>
          <a:lstStyle>
            <a:lvl1pPr>
              <a:defRPr sz="1800" cap="none"/>
            </a:lvl1pPr>
          </a:lstStyle>
          <a:p>
            <a:pPr lvl="0"/>
            <a:r>
              <a:rPr lang="en-US" dirty="0"/>
              <a:t>Click to edit text, or click icon to insert image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2" hasCustomPrompt="1"/>
          </p:nvPr>
        </p:nvSpPr>
        <p:spPr>
          <a:xfrm>
            <a:off x="4876800" y="1051102"/>
            <a:ext cx="3779838" cy="1640205"/>
          </a:xfrm>
        </p:spPr>
        <p:txBody>
          <a:bodyPr/>
          <a:lstStyle>
            <a:lvl1pPr>
              <a:defRPr sz="1800" cap="none"/>
            </a:lvl1pPr>
          </a:lstStyle>
          <a:p>
            <a:pPr lvl="0"/>
            <a:r>
              <a:rPr lang="en-US" dirty="0"/>
              <a:t>Click to edit text, or click icon to insert image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Content Placeholder 14"/>
          <p:cNvSpPr>
            <a:spLocks noGrp="1"/>
          </p:cNvSpPr>
          <p:nvPr>
            <p:ph sz="quarter" idx="13" hasCustomPrompt="1"/>
          </p:nvPr>
        </p:nvSpPr>
        <p:spPr>
          <a:xfrm>
            <a:off x="4876800" y="2860189"/>
            <a:ext cx="3779838" cy="1644234"/>
          </a:xfrm>
        </p:spPr>
        <p:txBody>
          <a:bodyPr/>
          <a:lstStyle>
            <a:lvl1pPr>
              <a:defRPr sz="1800" cap="none"/>
            </a:lvl1pPr>
          </a:lstStyle>
          <a:p>
            <a:pPr lvl="0"/>
            <a:r>
              <a:rPr lang="en-US" dirty="0"/>
              <a:t>Click to edit text, or click icon to insert image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3961" y="4811713"/>
            <a:ext cx="846137" cy="271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fld id="{C8580F89-A3EA-CF4C-A13C-CD8A0A8D4F1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6493370"/>
      </p:ext>
    </p:extLst>
  </p:cSld>
  <p:clrMapOvr>
    <a:masterClrMapping/>
  </p:clrMapOvr>
  <p:transition spd="slow"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"/>
          <p:cNvSpPr>
            <a:spLocks noGrp="1"/>
          </p:cNvSpPr>
          <p:nvPr>
            <p:ph type="title"/>
          </p:nvPr>
        </p:nvSpPr>
        <p:spPr bwMode="auto">
          <a:xfrm>
            <a:off x="949325" y="584200"/>
            <a:ext cx="7707313" cy="488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949325" y="1128713"/>
            <a:ext cx="7707313" cy="330358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insert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8490" cy="5143500"/>
          </a:xfrm>
          <a:prstGeom prst="rect">
            <a:avLst/>
          </a:prstGeom>
          <a:solidFill>
            <a:schemeClr val="bg2"/>
          </a:solidFill>
          <a:ln>
            <a:solidFill>
              <a:srgbClr val="8C15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rgbClr val="8C1515"/>
              </a:solidFill>
              <a:latin typeface="Arial"/>
            </a:endParaRPr>
          </a:p>
        </p:txBody>
      </p:sp>
      <p:pic>
        <p:nvPicPr>
          <p:cNvPr id="2" name="Picture 1" descr="EE-web.png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0637" y="4519613"/>
            <a:ext cx="2530405" cy="488950"/>
          </a:xfrm>
          <a:prstGeom prst="rect">
            <a:avLst/>
          </a:prstGeom>
        </p:spPr>
      </p:pic>
      <p:sp>
        <p:nvSpPr>
          <p:cNvPr id="6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14544" y="4811713"/>
            <a:ext cx="846137" cy="271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0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+mn-cs"/>
              </a:defRPr>
            </a:lvl1pPr>
          </a:lstStyle>
          <a:p>
            <a:pPr>
              <a:defRPr/>
            </a:pPr>
            <a:fld id="{C8580F89-A3EA-CF4C-A13C-CD8A0A8D4F1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20" r:id="rId1"/>
    <p:sldLayoutId id="2147484221" r:id="rId2"/>
    <p:sldLayoutId id="2147484222" r:id="rId3"/>
    <p:sldLayoutId id="2147484223" r:id="rId4"/>
    <p:sldLayoutId id="2147484224" r:id="rId5"/>
    <p:sldLayoutId id="2147484225" r:id="rId6"/>
    <p:sldLayoutId id="2147484226" r:id="rId7"/>
  </p:sldLayoutIdLst>
  <p:transition spd="slow">
    <p:fade/>
  </p:transition>
  <p:hf hdr="0" ftr="0" dt="0"/>
  <p:txStyles>
    <p:titleStyle>
      <a:lvl1pPr algn="l" defTabSz="457200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400" kern="1200">
          <a:solidFill>
            <a:schemeClr val="bg2"/>
          </a:solidFill>
          <a:latin typeface="+mj-lt"/>
          <a:ea typeface="ＭＳ Ｐゴシック" charset="0"/>
          <a:cs typeface="ＭＳ Ｐゴシック" charset="0"/>
        </a:defRPr>
      </a:lvl1pPr>
      <a:lvl2pPr algn="l" defTabSz="457200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400">
          <a:solidFill>
            <a:schemeClr val="bg2"/>
          </a:solidFill>
          <a:latin typeface="Arial" charset="0"/>
          <a:ea typeface="ＭＳ Ｐゴシック" charset="0"/>
          <a:cs typeface="ＭＳ Ｐゴシック" charset="0"/>
        </a:defRPr>
      </a:lvl2pPr>
      <a:lvl3pPr algn="l" defTabSz="457200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400">
          <a:solidFill>
            <a:schemeClr val="bg2"/>
          </a:solidFill>
          <a:latin typeface="Arial" charset="0"/>
          <a:ea typeface="ＭＳ Ｐゴシック" charset="0"/>
          <a:cs typeface="ＭＳ Ｐゴシック" charset="0"/>
        </a:defRPr>
      </a:lvl3pPr>
      <a:lvl4pPr algn="l" defTabSz="457200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400">
          <a:solidFill>
            <a:schemeClr val="bg2"/>
          </a:solidFill>
          <a:latin typeface="Arial" charset="0"/>
          <a:ea typeface="ＭＳ Ｐゴシック" charset="0"/>
          <a:cs typeface="ＭＳ Ｐゴシック" charset="0"/>
        </a:defRPr>
      </a:lvl4pPr>
      <a:lvl5pPr algn="l" defTabSz="457200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400">
          <a:solidFill>
            <a:schemeClr val="bg2"/>
          </a:solidFill>
          <a:latin typeface="Arial" charset="0"/>
          <a:ea typeface="ＭＳ Ｐゴシック" charset="0"/>
          <a:cs typeface="ＭＳ Ｐゴシック" charset="0"/>
        </a:defRPr>
      </a:lvl5pPr>
      <a:lvl6pPr marL="457200" algn="l" defTabSz="457200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400">
          <a:solidFill>
            <a:schemeClr val="bg2"/>
          </a:solidFill>
          <a:latin typeface="Source Sans Pro Semibold" charset="0"/>
          <a:ea typeface="ＭＳ Ｐゴシック" charset="0"/>
          <a:cs typeface="ＭＳ Ｐゴシック" charset="0"/>
        </a:defRPr>
      </a:lvl6pPr>
      <a:lvl7pPr marL="914400" algn="l" defTabSz="457200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400">
          <a:solidFill>
            <a:schemeClr val="bg2"/>
          </a:solidFill>
          <a:latin typeface="Source Sans Pro Semibold" charset="0"/>
          <a:ea typeface="ＭＳ Ｐゴシック" charset="0"/>
          <a:cs typeface="ＭＳ Ｐゴシック" charset="0"/>
        </a:defRPr>
      </a:lvl7pPr>
      <a:lvl8pPr marL="1371600" algn="l" defTabSz="457200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400">
          <a:solidFill>
            <a:schemeClr val="bg2"/>
          </a:solidFill>
          <a:latin typeface="Source Sans Pro Semibold" charset="0"/>
          <a:ea typeface="ＭＳ Ｐゴシック" charset="0"/>
          <a:cs typeface="ＭＳ Ｐゴシック" charset="0"/>
        </a:defRPr>
      </a:lvl8pPr>
      <a:lvl9pPr marL="1828800" algn="l" defTabSz="457200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2400">
          <a:solidFill>
            <a:schemeClr val="bg2"/>
          </a:solidFill>
          <a:latin typeface="Source Sans Pro Semibold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defRPr kern="1200" spc="20">
          <a:solidFill>
            <a:schemeClr val="tx1"/>
          </a:solidFill>
          <a:latin typeface="+mn-lt"/>
          <a:ea typeface="ＭＳ Ｐゴシック" charset="0"/>
          <a:cs typeface="ＭＳ Ｐゴシック" charset="0"/>
        </a:defRPr>
      </a:lvl1pPr>
      <a:lvl2pPr marL="288925" indent="-288925" algn="l" defTabSz="457200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Wingdings" charset="0"/>
        <a:buChar char="§"/>
        <a:defRPr kern="1200">
          <a:solidFill>
            <a:srgbClr val="595959"/>
          </a:solidFill>
          <a:latin typeface="+mn-lt"/>
          <a:ea typeface="ＭＳ Ｐゴシック" charset="0"/>
          <a:cs typeface="+mn-cs"/>
        </a:defRPr>
      </a:lvl2pPr>
      <a:lvl3pPr marL="569913" indent="-225425" algn="l" defTabSz="457200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SzPct val="102000"/>
        <a:buFont typeface="Source Sans Pro" charset="0"/>
        <a:buChar char="›"/>
        <a:defRPr kern="1200">
          <a:solidFill>
            <a:srgbClr val="595959"/>
          </a:solidFill>
          <a:latin typeface="+mn-lt"/>
          <a:ea typeface="ＭＳ Ｐゴシック" charset="0"/>
          <a:cs typeface="+mn-cs"/>
        </a:defRPr>
      </a:lvl3pPr>
      <a:lvl4pPr marL="914400" indent="-227013" algn="l" defTabSz="457200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•"/>
        <a:defRPr kern="1200">
          <a:solidFill>
            <a:srgbClr val="595959"/>
          </a:solidFill>
          <a:latin typeface="+mn-lt"/>
          <a:ea typeface="ＭＳ Ｐゴシック" charset="0"/>
          <a:cs typeface="+mn-cs"/>
        </a:defRPr>
      </a:lvl4pPr>
      <a:lvl5pPr marL="1258888" indent="-227013" algn="l" defTabSz="457200" rtl="0" eaLnBrk="1" fontAlgn="base" hangingPunct="1">
        <a:spcBef>
          <a:spcPct val="20000"/>
        </a:spcBef>
        <a:spcAft>
          <a:spcPct val="0"/>
        </a:spcAft>
        <a:buClr>
          <a:schemeClr val="bg2"/>
        </a:buClr>
        <a:buFont typeface="Source Sans Pro" charset="0"/>
        <a:buChar char="–"/>
        <a:defRPr kern="1200">
          <a:solidFill>
            <a:srgbClr val="595959"/>
          </a:solidFill>
          <a:latin typeface="+mn-lt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9.xml"/><Relationship Id="rId13" Type="http://schemas.openxmlformats.org/officeDocument/2006/relationships/hyperlink" Target="https://cwfletcher.github.io/content/research/2021.micro.spt.paper.pdf" TargetMode="External"/><Relationship Id="rId3" Type="http://schemas.openxmlformats.org/officeDocument/2006/relationships/hyperlink" Target="https://iacoma.cs.uiuc.edu/iacoma-papers/micro19_2.pdf" TargetMode="External"/><Relationship Id="rId7" Type="http://schemas.openxmlformats.org/officeDocument/2006/relationships/hyperlink" Target="https://dl.acm.org/doi/10.1145/3352460.3358306" TargetMode="External"/><Relationship Id="rId12" Type="http://schemas.openxmlformats.org/officeDocument/2006/relationships/slide" Target="slide15.xml"/><Relationship Id="rId17" Type="http://schemas.openxmlformats.org/officeDocument/2006/relationships/hyperlink" Target="https://dl.acm.org/doi/abs/10.1145/3579371.3589088" TargetMode="External"/><Relationship Id="rId2" Type="http://schemas.openxmlformats.org/officeDocument/2006/relationships/slide" Target="slide3.xml"/><Relationship Id="rId16" Type="http://schemas.openxmlformats.org/officeDocument/2006/relationships/slide" Target="slide18.xml"/><Relationship Id="rId1" Type="http://schemas.openxmlformats.org/officeDocument/2006/relationships/slideLayout" Target="../slideLayouts/slideLayout3.xml"/><Relationship Id="rId6" Type="http://schemas.openxmlformats.org/officeDocument/2006/relationships/slide" Target="slide10.xml"/><Relationship Id="rId11" Type="http://schemas.openxmlformats.org/officeDocument/2006/relationships/hyperlink" Target="https://iacoma.cs.uiuc.edu/iacoma-papers/isca20_2.pdf" TargetMode="External"/><Relationship Id="rId5" Type="http://schemas.openxmlformats.org/officeDocument/2006/relationships/hyperlink" Target="https://dl.acm.org/doi/10.1109/PACT.2019.00020" TargetMode="External"/><Relationship Id="rId15" Type="http://schemas.openxmlformats.org/officeDocument/2006/relationships/hyperlink" Target="https://dl.acm.org/doi/10.1145/3613424.3623770" TargetMode="External"/><Relationship Id="rId10" Type="http://schemas.openxmlformats.org/officeDocument/2006/relationships/slide" Target="slide13.xml"/><Relationship Id="rId4" Type="http://schemas.openxmlformats.org/officeDocument/2006/relationships/slide" Target="slide6.xml"/><Relationship Id="rId9" Type="http://schemas.openxmlformats.org/officeDocument/2006/relationships/hyperlink" Target="https://dl.acm.org/doi/pdf/10.1145/3307650.3322216" TargetMode="External"/><Relationship Id="rId14" Type="http://schemas.openxmlformats.org/officeDocument/2006/relationships/slide" Target="slide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3CB23-FA56-5392-9B75-D93DDACBE8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SimSpect</a:t>
            </a:r>
            <a:r>
              <a:rPr lang="en-US" dirty="0"/>
              <a:t> defense specification examples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36F7B0-CB7F-EB73-92B6-5D73104961D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A8D5BC3D-9017-1BC4-72D8-218E189180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pc="0" dirty="0"/>
              <a:t>Guide to defense implementations in </a:t>
            </a:r>
            <a:r>
              <a:rPr lang="en-US" spc="0" dirty="0" err="1"/>
              <a:t>SimSpect</a:t>
            </a:r>
            <a:r>
              <a:rPr lang="en-US" spc="0" dirty="0"/>
              <a:t> formal language and model notes </a:t>
            </a:r>
          </a:p>
        </p:txBody>
      </p:sp>
    </p:spTree>
    <p:extLst>
      <p:ext uri="{BB962C8B-B14F-4D97-AF65-F5344CB8AC3E}">
        <p14:creationId xmlns:p14="http://schemas.microsoft.com/office/powerpoint/2010/main" val="1544788280"/>
      </p:ext>
    </p:extLst>
  </p:cSld>
  <p:clrMapOvr>
    <a:masterClrMapping/>
  </p:clrMapOvr>
  <p:transition spd="slow" advTm="5877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6D490-BB27-AD74-B3CD-16E9AC064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64DCC-A90B-FB2D-44F5-C6BAAE256E5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7" y="1051101"/>
            <a:ext cx="7700963" cy="3590442"/>
          </a:xfrm>
        </p:spPr>
        <p:txBody>
          <a:bodyPr>
            <a:normAutofit fontScale="70000" lnSpcReduction="20000"/>
          </a:bodyPr>
          <a:lstStyle/>
          <a:p>
            <a:r>
              <a:rPr lang="en-US" b="1" spc="0" dirty="0"/>
              <a:t>For each defense we outline: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pc="0" dirty="0"/>
              <a:t>Defense overview and paper notes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pc="0" dirty="0" err="1"/>
              <a:t>SimSpect</a:t>
            </a:r>
            <a:r>
              <a:rPr lang="en-US" spc="0" dirty="0"/>
              <a:t> specification of each defense variant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pc="0" dirty="0"/>
              <a:t>Implementation notes and mechanisms to exercise in test generation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pc="0" dirty="0"/>
              <a:t>Known bugs (if applicable)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pc="0" dirty="0"/>
          </a:p>
          <a:p>
            <a:pPr marL="0" indent="0"/>
            <a:r>
              <a:rPr lang="en-US" b="1" spc="0" dirty="0"/>
              <a:t>Defenses: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pc="0" dirty="0">
                <a:hlinkClick r:id="rId2" action="ppaction://hlinksldjump"/>
              </a:rPr>
              <a:t>STT</a:t>
            </a:r>
            <a:r>
              <a:rPr lang="en-US" spc="0" dirty="0"/>
              <a:t>     </a:t>
            </a:r>
            <a:r>
              <a:rPr lang="en-US" spc="0" dirty="0">
                <a:solidFill>
                  <a:srgbClr val="0070C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[Yu+, MICRO ’19]</a:t>
            </a:r>
            <a:endParaRPr lang="en-US" spc="0" dirty="0">
              <a:solidFill>
                <a:srgbClr val="0070C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pc="0" dirty="0">
                <a:hlinkClick r:id="rId4" action="ppaction://hlinksldjump"/>
              </a:rPr>
              <a:t>SpecShield</a:t>
            </a:r>
            <a:r>
              <a:rPr lang="en-US" spc="0" dirty="0"/>
              <a:t>     </a:t>
            </a:r>
            <a:r>
              <a:rPr lang="en-US" spc="0" dirty="0">
                <a:solidFill>
                  <a:srgbClr val="0070C0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[Barber+, PACT ’19]</a:t>
            </a:r>
            <a:endParaRPr lang="en-US" spc="0" dirty="0">
              <a:solidFill>
                <a:srgbClr val="0070C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pc="0" dirty="0">
                <a:hlinkClick r:id="rId6" action="ppaction://hlinksldjump"/>
              </a:rPr>
              <a:t>NDA</a:t>
            </a:r>
            <a:r>
              <a:rPr lang="en-US" spc="0" dirty="0"/>
              <a:t>     </a:t>
            </a:r>
            <a:r>
              <a:rPr lang="en-US" spc="0" dirty="0">
                <a:solidFill>
                  <a:srgbClr val="0070C0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[Weisse+, MICRO ’19]</a:t>
            </a:r>
            <a:endParaRPr lang="en-US" spc="0" dirty="0">
              <a:solidFill>
                <a:srgbClr val="0070C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pc="0" dirty="0">
                <a:hlinkClick r:id="rId8" action="ppaction://hlinksldjump"/>
              </a:rPr>
              <a:t>Delay on Miss </a:t>
            </a:r>
            <a:r>
              <a:rPr lang="en-US" spc="0" dirty="0"/>
              <a:t>    </a:t>
            </a:r>
            <a:r>
              <a:rPr lang="en-US" spc="0" dirty="0">
                <a:solidFill>
                  <a:srgbClr val="0070C0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</a:t>
            </a:r>
            <a:r>
              <a:rPr lang="en-US" spc="0" dirty="0" err="1">
                <a:solidFill>
                  <a:srgbClr val="0070C0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Sakalis</a:t>
            </a:r>
            <a:r>
              <a:rPr lang="en-US" spc="0" dirty="0">
                <a:solidFill>
                  <a:srgbClr val="0070C0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+, ISCA ’19]</a:t>
            </a:r>
            <a:endParaRPr lang="en-US" spc="0" dirty="0">
              <a:solidFill>
                <a:srgbClr val="0070C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pc="0" dirty="0">
                <a:hlinkClick r:id="rId10" action="ppaction://hlinksldjump"/>
              </a:rPr>
              <a:t>SDO</a:t>
            </a:r>
            <a:r>
              <a:rPr lang="en-US" spc="0" dirty="0"/>
              <a:t>      </a:t>
            </a:r>
            <a:r>
              <a:rPr lang="en-US" spc="0" dirty="0">
                <a:solidFill>
                  <a:srgbClr val="0070C0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[Yu+, ISCA ’20]</a:t>
            </a:r>
            <a:endParaRPr lang="en-US" spc="0" dirty="0">
              <a:solidFill>
                <a:srgbClr val="0070C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pc="0" dirty="0">
                <a:hlinkClick r:id="rId12" action="ppaction://hlinksldjump"/>
              </a:rPr>
              <a:t>SPT</a:t>
            </a:r>
            <a:r>
              <a:rPr lang="en-US" spc="0" dirty="0"/>
              <a:t>     </a:t>
            </a:r>
            <a:r>
              <a:rPr lang="en-US" spc="0" dirty="0">
                <a:solidFill>
                  <a:srgbClr val="0070C0"/>
                </a:solidFill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[Choudhary+, MICRO ’21]</a:t>
            </a:r>
            <a:endParaRPr lang="en-US" spc="0" dirty="0">
              <a:solidFill>
                <a:srgbClr val="0070C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pc="0" dirty="0">
                <a:hlinkClick r:id="rId14" action="ppaction://hlinksldjump"/>
              </a:rPr>
              <a:t>Recon</a:t>
            </a:r>
            <a:r>
              <a:rPr lang="en-US" spc="0" dirty="0"/>
              <a:t>     </a:t>
            </a:r>
            <a:r>
              <a:rPr lang="en-US" spc="0" dirty="0">
                <a:solidFill>
                  <a:srgbClr val="0070C0"/>
                </a:solidFill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[Aimoniotus+, MICRO ’23]</a:t>
            </a:r>
            <a:endParaRPr lang="en-US" spc="0" dirty="0">
              <a:solidFill>
                <a:srgbClr val="0070C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pc="0" dirty="0">
                <a:solidFill>
                  <a:schemeClr val="bg2"/>
                </a:solidFill>
                <a:hlinkClick r:id="rId1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Doppelgänger loads </a:t>
            </a:r>
            <a:r>
              <a:rPr lang="en-US" spc="0" dirty="0">
                <a:solidFill>
                  <a:schemeClr val="bg2"/>
                </a:solidFill>
              </a:rPr>
              <a:t>    </a:t>
            </a:r>
            <a:r>
              <a:rPr lang="en-US" spc="0" dirty="0">
                <a:solidFill>
                  <a:srgbClr val="0070C0"/>
                </a:solidFill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[Kvalsvik+, ISCA ’23]</a:t>
            </a:r>
            <a:endParaRPr lang="en-US" spc="0" dirty="0">
              <a:solidFill>
                <a:srgbClr val="0070C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pc="0" dirty="0">
              <a:solidFill>
                <a:srgbClr val="0070C0"/>
              </a:solidFill>
            </a:endParaRPr>
          </a:p>
          <a:p>
            <a:pPr marL="0" indent="0"/>
            <a:r>
              <a:rPr lang="en-US" b="1" spc="0" dirty="0"/>
              <a:t>Non-applicable defenses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FF5A7D-26F9-0A0A-C268-CBA011B93E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0590157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5C0D7-7807-3B99-5A88-7F8FB50D9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STT — MICRO ’19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9F65B7-DFBC-D9B5-D9B0-E56225F8A9B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Defines explicit vs. implicit covert channels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Stalls </a:t>
            </a:r>
            <a:r>
              <a:rPr lang="en-US" b="1" dirty="0"/>
              <a:t>explicit</a:t>
            </a:r>
            <a:r>
              <a:rPr lang="en-US" dirty="0"/>
              <a:t> transmitters until youngest load whose return value influences data becomes nonspeculative </a:t>
            </a:r>
            <a:r>
              <a:rPr lang="en-US" b="1" dirty="0"/>
              <a:t>(YROT)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Blocks </a:t>
            </a:r>
            <a:r>
              <a:rPr lang="en-US" b="1" dirty="0"/>
              <a:t>implicit</a:t>
            </a:r>
            <a:r>
              <a:rPr lang="en-US" dirty="0"/>
              <a:t> </a:t>
            </a:r>
            <a:r>
              <a:rPr lang="en-US" b="1" dirty="0"/>
              <a:t>branch</a:t>
            </a:r>
            <a:r>
              <a:rPr lang="en-US" dirty="0"/>
              <a:t> </a:t>
            </a:r>
            <a:r>
              <a:rPr lang="en-US" b="1" dirty="0"/>
              <a:t>prediction</a:t>
            </a:r>
            <a:r>
              <a:rPr lang="en-US" dirty="0"/>
              <a:t> from operating as a function of tainted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Blocks</a:t>
            </a:r>
            <a:r>
              <a:rPr lang="en-US" b="1" dirty="0"/>
              <a:t> implicit branch resolution </a:t>
            </a:r>
            <a:r>
              <a:rPr lang="en-US" dirty="0"/>
              <a:t>from transmitting until predicate is nonspeculative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Untaints</a:t>
            </a:r>
            <a:r>
              <a:rPr lang="en-US" dirty="0"/>
              <a:t> the output of an access instruction when all older control flow instructions resolve (ctrl speculation) or when access instruction cannot be squashed (does this in 1 cycle)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DB817-6C7E-22C5-4040-D58FB1C61D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7240611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2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0475AA-72FC-8273-9AD7-FC6A66630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4576D4-AFA5-6AD9-08AB-6C1A3ED1D490}"/>
              </a:ext>
            </a:extLst>
          </p:cNvPr>
          <p:cNvSpPr/>
          <p:nvPr/>
        </p:nvSpPr>
        <p:spPr>
          <a:xfrm>
            <a:off x="860681" y="989981"/>
            <a:ext cx="8066343" cy="341144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9050">
            <a:solidFill>
              <a:srgbClr val="8C15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6E3693-644A-8549-7A66-E5BE3DB31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STT </a:t>
            </a:r>
            <a:r>
              <a:rPr lang="en-US" dirty="0" err="1"/>
              <a:t>SimSpect</a:t>
            </a:r>
            <a:r>
              <a:rPr lang="en-US" dirty="0"/>
              <a:t>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97C12-6D86-DDD1-4423-E23456E0AF1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Protection set:</a:t>
            </a:r>
            <a:r>
              <a:rPr lang="en-US" dirty="0"/>
              <a:t> all memory. </a:t>
            </a:r>
            <a:r>
              <a:rPr lang="en-US" i="1" dirty="0"/>
              <a:t>Propagation: strict dependency + YROT </a:t>
            </a:r>
            <a:r>
              <a:rPr lang="en-US" i="1" dirty="0" err="1"/>
              <a:t>untaint</a:t>
            </a:r>
            <a:r>
              <a:rPr lang="en-US" i="1" dirty="0"/>
              <a:t> calculus — a. Any speculative access instruction is tainted. b. Other output is tainted if input is tainted. Untainted once YROT nonspeculative. YROT is youngest YROT of </a:t>
            </a:r>
            <a:r>
              <a:rPr lang="en-US" i="1" dirty="0" err="1"/>
              <a:t>args</a:t>
            </a:r>
            <a:r>
              <a:rPr lang="en-US" i="1" dirty="0"/>
              <a:t> if not AI, or else AI </a:t>
            </a:r>
            <a:r>
              <a:rPr lang="en-US" i="1" dirty="0" err="1"/>
              <a:t>addr</a:t>
            </a:r>
            <a:r>
              <a:rPr lang="en-US" i="1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Leakage contract: </a:t>
            </a:r>
            <a:r>
              <a:rPr lang="en-US" dirty="0"/>
              <a:t>explicit transmitter set user-defined, implicit transmitters also handled by aforementioned prediction and resolution taint blocks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Execution contract: </a:t>
            </a:r>
            <a:r>
              <a:rPr lang="en-US" dirty="0"/>
              <a:t>Visibility point, 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D7993B-651A-E9B4-20B8-C1D1E74BCD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394578"/>
      </p:ext>
    </p:extLst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A97F9-772D-5B85-39A7-8350EFB33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128DC-DE81-CBDC-A55D-AA0BED80D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STT mechanisms to 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B7857-8752-9C6B-6238-E9C3C7A90AD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Protection set: </a:t>
            </a:r>
            <a:r>
              <a:rPr lang="en-US" dirty="0"/>
              <a:t>remove instructions, memory/registers, edges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Leakage contract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Execution contract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BB3FE-614F-6461-A69C-21BBF54CCD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1417924"/>
      </p:ext>
    </p:extLst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F259C-D2E5-C50B-1A4F-E3618A8F8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0C673-9ED6-B4D6-C44D-A6B31DA21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SpecShield</a:t>
            </a:r>
            <a:r>
              <a:rPr lang="en-US" dirty="0"/>
              <a:t> — PACT ’19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2353B-8A8C-BBA1-9B53-C585DDB06B9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STL</a:t>
            </a:r>
            <a:r>
              <a:rPr lang="en-US" dirty="0"/>
              <a:t> – delays AIs for the duration of speculation, being defined as reaching the head of the ROB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ERP</a:t>
            </a:r>
            <a:r>
              <a:rPr lang="en-US" dirty="0"/>
              <a:t> – delays AIs for the duration of speculation, by waiting until all older branches are resolved and nonspeculative and all older loads and stores have no faults (nothing is speculative)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ERP+ </a:t>
            </a:r>
            <a:r>
              <a:rPr lang="en-US" dirty="0"/>
              <a:t>– tracks taint and allows low leakage instructions to see AIs of speculative things as long as they don’t pass to high leakage things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Handles speculation primitives: meltdown, branch misprediction, memory alias misprediction, control flow hijacking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ONLY defends memory secrets, not register secrets, through AI provision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09EE2-629C-2333-6268-C5D3E08387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1651339"/>
      </p:ext>
    </p:extLst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FB9F8-BF4F-CE27-4357-F35585CA6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AC858A5-2731-2FA2-A76A-45BF6D7163D6}"/>
              </a:ext>
            </a:extLst>
          </p:cNvPr>
          <p:cNvSpPr/>
          <p:nvPr/>
        </p:nvSpPr>
        <p:spPr>
          <a:xfrm>
            <a:off x="860681" y="989981"/>
            <a:ext cx="8066343" cy="341144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9050">
            <a:solidFill>
              <a:srgbClr val="8C15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77D423-C69F-DEDB-8B1C-0E8DB0278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SpecShield-STL </a:t>
            </a:r>
            <a:r>
              <a:rPr lang="en-US" dirty="0" err="1"/>
              <a:t>SimSpect</a:t>
            </a:r>
            <a:r>
              <a:rPr lang="en-US" dirty="0"/>
              <a:t>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B12C9-7186-99E6-AF29-62479F43BF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Protection set:</a:t>
            </a:r>
            <a:r>
              <a:rPr lang="en-US" dirty="0"/>
              <a:t> All memory. </a:t>
            </a:r>
            <a:r>
              <a:rPr lang="en-US" i="1" dirty="0"/>
              <a:t>Propagation: strict dependency — a. Any speculative access instruction is protected. b. Other output is protected if input is protected (conservative because this should not be exercised because cut off at AI)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Leakage contract: </a:t>
            </a:r>
            <a:r>
              <a:rPr lang="en-US" dirty="0"/>
              <a:t>Transmitter type irrelevant, should protect for all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Execution contract: </a:t>
            </a:r>
            <a:r>
              <a:rPr lang="en-US" dirty="0"/>
              <a:t>Instructions must reach the head of the ROB to become non-speculative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615919-F7F2-7669-70A6-587C43C4AD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903724"/>
      </p:ext>
    </p:extLst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684C1-2AE1-4BE0-F9D8-EC9164898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BFD34D4-96CB-A1A9-9236-1E09334C33A3}"/>
              </a:ext>
            </a:extLst>
          </p:cNvPr>
          <p:cNvSpPr/>
          <p:nvPr/>
        </p:nvSpPr>
        <p:spPr>
          <a:xfrm>
            <a:off x="860681" y="989981"/>
            <a:ext cx="8066343" cy="341144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9050">
            <a:solidFill>
              <a:srgbClr val="8C15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76F8B1-9263-AAEC-3E04-075D4154D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SpecShield</a:t>
            </a:r>
            <a:r>
              <a:rPr lang="en-US" dirty="0"/>
              <a:t>-ERP </a:t>
            </a:r>
            <a:r>
              <a:rPr lang="en-US" dirty="0" err="1"/>
              <a:t>SimSpect</a:t>
            </a:r>
            <a:r>
              <a:rPr lang="en-US" dirty="0"/>
              <a:t>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F9CC9E-FD2D-621A-7F4B-B4499D0E62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Protection set:</a:t>
            </a:r>
            <a:r>
              <a:rPr lang="en-US" dirty="0"/>
              <a:t> All memory. </a:t>
            </a:r>
            <a:r>
              <a:rPr lang="en-US" i="1" dirty="0"/>
              <a:t>Propagation: strict dependency — a. Any speculative access instruction is protected. b. Other output is protected if input is protected (conservative because this should not be exercised because cut off at AI)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Leakage contract: </a:t>
            </a:r>
            <a:r>
              <a:rPr lang="en-US" dirty="0"/>
              <a:t>Transmitter type irrelevant, should protect for all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Execution contract: </a:t>
            </a:r>
            <a:r>
              <a:rPr lang="en-US" dirty="0"/>
              <a:t>Instructions are non-speculative at head of ROB, but also before head of ROB if ∄ older unresolved branches, and ∄ unresolved or faulted older loads and stores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A1876-4183-9F98-2F3F-91D4990F58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4389888"/>
      </p:ext>
    </p:extLst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323C8-38A2-1BCD-DBD1-1C22615A8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8BF6E6A-8FED-02DB-8B21-AA82C1360DC4}"/>
              </a:ext>
            </a:extLst>
          </p:cNvPr>
          <p:cNvSpPr/>
          <p:nvPr/>
        </p:nvSpPr>
        <p:spPr>
          <a:xfrm>
            <a:off x="860681" y="989981"/>
            <a:ext cx="8066343" cy="341144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9050">
            <a:solidFill>
              <a:srgbClr val="8C15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165613-93F8-8D19-739A-F6C45DEF5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SpecShield</a:t>
            </a:r>
            <a:r>
              <a:rPr lang="en-US" dirty="0"/>
              <a:t>-ERP+ </a:t>
            </a:r>
            <a:r>
              <a:rPr lang="en-US" dirty="0" err="1"/>
              <a:t>SimSpect</a:t>
            </a:r>
            <a:r>
              <a:rPr lang="en-US" dirty="0"/>
              <a:t>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2CE14-239C-6BBC-2E88-01D6334A3DB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Protection set:</a:t>
            </a:r>
            <a:r>
              <a:rPr lang="en-US" dirty="0"/>
              <a:t> All memory. </a:t>
            </a:r>
            <a:r>
              <a:rPr lang="en-US" i="1" dirty="0"/>
              <a:t>Propagation: strict dependency — a. Any speculative access instruction is protected. b. Other output is protected if input is protected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Leakage contract: </a:t>
            </a:r>
            <a:r>
              <a:rPr lang="en-US" dirty="0"/>
              <a:t>High-likelihood transmitters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Execution contract: </a:t>
            </a:r>
            <a:r>
              <a:rPr lang="en-US" dirty="0"/>
              <a:t>Instructions are non-speculative at head of ROB, but also before head of ROB if ∄ older unresolved branches, and ∄ unresolved or faulted older loads and stores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CE45C5-3A08-F0C5-75B4-ABCD27231D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3015451"/>
      </p:ext>
    </p:extLst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39451-1A20-A1D1-A149-33B3962C1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D6146-E07B-B40B-4A72-C9C4CFD76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NDA — MICRO ’19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4542D-9BE2-0A5A-AED6-53002F377ED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Two types of attacks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Control steering, victim control flow leaks its own information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Chosen code, attacker uses their own code to violate permissions speculatively</a:t>
            </a:r>
          </a:p>
          <a:p>
            <a:pPr marL="342900" marR="0" lvl="0" indent="-342900" algn="l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solidFill>
                  <a:srgbClr val="000000"/>
                </a:solidFill>
                <a:latin typeface="Source Sans Pro"/>
              </a:rPr>
              <a:t>An instruction is </a:t>
            </a:r>
            <a:r>
              <a:rPr lang="en-US" b="1" dirty="0">
                <a:solidFill>
                  <a:srgbClr val="000000"/>
                </a:solidFill>
                <a:latin typeface="Source Sans Pro"/>
              </a:rPr>
              <a:t>safe </a:t>
            </a:r>
            <a:r>
              <a:rPr lang="en-US" dirty="0">
                <a:solidFill>
                  <a:srgbClr val="000000"/>
                </a:solidFill>
                <a:latin typeface="Source Sans Pro"/>
              </a:rPr>
              <a:t>if not after a branch with unresolved target and direction or a store with an unresolved address</a:t>
            </a:r>
          </a:p>
          <a:p>
            <a:pPr marL="342900" marR="0" lvl="0" indent="-342900" algn="l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solidFill>
                  <a:srgbClr val="000000"/>
                </a:solidFill>
                <a:latin typeface="Source Sans Pro"/>
              </a:rPr>
              <a:t>When a </a:t>
            </a:r>
            <a:r>
              <a:rPr lang="en-US" dirty="0" err="1">
                <a:solidFill>
                  <a:srgbClr val="000000"/>
                </a:solidFill>
                <a:latin typeface="Source Sans Pro"/>
              </a:rPr>
              <a:t>microop</a:t>
            </a:r>
            <a:r>
              <a:rPr lang="en-US" dirty="0">
                <a:solidFill>
                  <a:srgbClr val="000000"/>
                </a:solidFill>
                <a:latin typeface="Source Sans Pro"/>
              </a:rPr>
              <a:t> resolves, mark things safe until the next outstanding speculation primitive</a:t>
            </a:r>
            <a:endParaRPr kumimoji="0" lang="en-US" sz="1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Pro"/>
              <a:ea typeface="ＭＳ Ｐゴシック" charset="0"/>
            </a:endParaRP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Delay broadcast of outputs until safe</a:t>
            </a:r>
          </a:p>
          <a:p>
            <a:pPr marL="342900" marR="0" lvl="0" indent="-342900" algn="l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Sans Pro"/>
                <a:ea typeface="ＭＳ Ｐゴシック" charset="0"/>
              </a:rPr>
              <a:t>Strict vs permissive propagation version, which only treats loads as AIs (only protects memory)</a:t>
            </a:r>
          </a:p>
          <a:p>
            <a:pPr marL="344488" lvl="2" indent="0">
              <a:buNone/>
            </a:pPr>
            <a:endParaRPr lang="en-US" dirty="0"/>
          </a:p>
          <a:p>
            <a:pPr marL="344488" lvl="2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3817B-EA5F-04DE-47E5-355BA98AE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389564"/>
      </p:ext>
    </p:extLst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F672D-B1B4-A28F-1D64-B4CFCA979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4D27923-425C-8803-C246-E5782446A6E0}"/>
              </a:ext>
            </a:extLst>
          </p:cNvPr>
          <p:cNvSpPr/>
          <p:nvPr/>
        </p:nvSpPr>
        <p:spPr>
          <a:xfrm>
            <a:off x="860681" y="989981"/>
            <a:ext cx="8066343" cy="341144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9050">
            <a:solidFill>
              <a:srgbClr val="8C15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F5FA58-B993-C09C-A578-0AD0A59F0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NDA-S </a:t>
            </a:r>
            <a:r>
              <a:rPr lang="en-US" dirty="0" err="1"/>
              <a:t>SimSpect</a:t>
            </a:r>
            <a:r>
              <a:rPr lang="en-US" dirty="0"/>
              <a:t>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6D826-3D8B-FD8D-7A0A-D6190C9B169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Protection set:</a:t>
            </a:r>
            <a:r>
              <a:rPr lang="en-US" dirty="0"/>
              <a:t> all memory and registers. </a:t>
            </a:r>
            <a:r>
              <a:rPr lang="en-US" i="1" dirty="0"/>
              <a:t>Propagation: strict dependency — a. Any speculative access instruction is protected. b. Other output is protected if input is protected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Leakage contract: </a:t>
            </a:r>
            <a:r>
              <a:rPr lang="en-US" dirty="0"/>
              <a:t>Transmitter type irrelevant, should protect for all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Execution contract: </a:t>
            </a:r>
            <a:r>
              <a:rPr lang="en-US" dirty="0"/>
              <a:t>Instructions are non-speculative at head of ROB, but also before head of ROB if ∄ older branches with unresolved target or address, and ∄ stores with unresolved address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1FDF2-3F23-ABB2-0E92-5C276DC84D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4770678"/>
      </p:ext>
    </p:extLst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202BC-81A8-CD61-7F69-28F6236E0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79A76E-D2B3-CBA4-C7B4-20F7F8F382F2}"/>
              </a:ext>
            </a:extLst>
          </p:cNvPr>
          <p:cNvSpPr/>
          <p:nvPr/>
        </p:nvSpPr>
        <p:spPr>
          <a:xfrm>
            <a:off x="860681" y="989981"/>
            <a:ext cx="8066343" cy="341144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9050">
            <a:solidFill>
              <a:srgbClr val="8C15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3E9781-DFFC-7160-7D86-E044428FC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NDA-P </a:t>
            </a:r>
            <a:r>
              <a:rPr lang="en-US" dirty="0" err="1"/>
              <a:t>SimSpect</a:t>
            </a:r>
            <a:r>
              <a:rPr lang="en-US" dirty="0"/>
              <a:t>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52687-C726-720F-19B3-B0D2252E4A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Protection set:</a:t>
            </a:r>
            <a:r>
              <a:rPr lang="en-US" dirty="0"/>
              <a:t> all memory. </a:t>
            </a:r>
            <a:r>
              <a:rPr lang="en-US" i="1" dirty="0"/>
              <a:t>Propagation: strict dependency — a. Any speculative access instruction is protected. b. Other output is protected if input is protected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Leakage contract: </a:t>
            </a:r>
            <a:r>
              <a:rPr lang="en-US" dirty="0"/>
              <a:t>Transmitter type irrelevant, should protect for all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Execution contract: </a:t>
            </a:r>
            <a:r>
              <a:rPr lang="en-US" dirty="0"/>
              <a:t>Instructions are non-speculative at head of ROB, but also before head of ROB if ∄ older branches with unresolved target or address, and ∄ stores with unresolved address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5C3D4-D183-05E8-930A-623E7A8CF3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4575235"/>
      </p:ext>
    </p:extLst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03A4C-861E-B524-ECD3-0DDB7470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69A9E-469D-869C-6B2A-B2A40F669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SDO — ISCA ’20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69504-7FCE-D878-D7ED-94025D786FF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Insight: Because of STT implicit branch stopping, the predictor is safe. There should be no tainted data affecting a predictor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Squashes are revealable because they happen only when predicate is no longer tainted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Only be concerned about explicit transmitters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Translate into a set of transmitter functions that cover path variability, and then predict path based on nonspeculative data (squashes are fine)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Predict based on PC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Loads are the complicated aspect, load function hides timing but not address leakage, must still block these types of leaks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F6AF49-83A0-0394-A964-5CA3A489F6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298983"/>
      </p:ext>
    </p:extLst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EE9E4-2A42-5D2C-B51B-514FE3D01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00D5F45-B70D-35F7-6D34-1ED9CAE4E4B6}"/>
              </a:ext>
            </a:extLst>
          </p:cNvPr>
          <p:cNvSpPr/>
          <p:nvPr/>
        </p:nvSpPr>
        <p:spPr>
          <a:xfrm>
            <a:off x="860681" y="989981"/>
            <a:ext cx="8066343" cy="341144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9050">
            <a:solidFill>
              <a:srgbClr val="8C15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3A1224-DDF3-A3E2-9134-1801F9E50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SDO </a:t>
            </a:r>
            <a:r>
              <a:rPr lang="en-US" dirty="0" err="1"/>
              <a:t>SimSpect</a:t>
            </a:r>
            <a:r>
              <a:rPr lang="en-US" dirty="0"/>
              <a:t>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72F30-2362-432D-B00D-3C8CD44EA37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Protection set:</a:t>
            </a:r>
            <a:r>
              <a:rPr lang="en-US" dirty="0"/>
              <a:t> all memory. </a:t>
            </a:r>
            <a:r>
              <a:rPr lang="en-US" i="1" dirty="0"/>
              <a:t>Propagation: STT - strict dependency + YROT </a:t>
            </a:r>
            <a:r>
              <a:rPr lang="en-US" i="1" dirty="0" err="1"/>
              <a:t>untaint</a:t>
            </a:r>
            <a:r>
              <a:rPr lang="en-US" i="1" dirty="0"/>
              <a:t> calculus — a. Any speculative access instruction is tainted. b. Other output is tainted if input is tainted. Untainted once YROT nonspeculative. YROT is youngest YROT of </a:t>
            </a:r>
            <a:r>
              <a:rPr lang="en-US" i="1" dirty="0" err="1"/>
              <a:t>args</a:t>
            </a:r>
            <a:r>
              <a:rPr lang="en-US" i="1" dirty="0"/>
              <a:t> if not AI, or else AI </a:t>
            </a:r>
            <a:r>
              <a:rPr lang="en-US" i="1" dirty="0" err="1"/>
              <a:t>addr</a:t>
            </a:r>
            <a:r>
              <a:rPr lang="en-US" i="1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Leakage contract: </a:t>
            </a:r>
            <a:r>
              <a:rPr lang="en-US" dirty="0"/>
              <a:t>implicit transmitters handled by aforementioned prediction and resolution taint blocks as in STT, explicit transmitters refactored such that µpaths don’t vary based on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Execution contract: </a:t>
            </a:r>
            <a:r>
              <a:rPr lang="en-US" dirty="0"/>
              <a:t>Visibility point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504E22-1403-3AA1-FDCF-7359121A01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4012201"/>
      </p:ext>
    </p:extLst>
  </p:cSld>
  <p:clrMapOvr>
    <a:masterClrMapping/>
  </p:clrMapOvr>
  <p:transition spd="slow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D69CE-DFD3-9E88-FE42-A6E435489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37CF6-8226-BCD7-90A7-ABFC9421C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SPT — MICRO ’21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1FD3D-A09A-10B6-47BA-0F9DAB9244A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STT modified with declassification pass back based on implicit instruction functions for leakage propagation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SNI – does not protect against things that haven’t already leaked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DOES NOT discriminate between partial vs full leakage of an instruction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Delayed execution protection policy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EA691-389A-0111-A690-6137376F3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4767147"/>
      </p:ext>
    </p:extLst>
  </p:cSld>
  <p:clrMapOvr>
    <a:masterClrMapping/>
  </p:clrMapOvr>
  <p:transition spd="slow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01D50-8E11-325E-A3E3-A171C3CC3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CEAAEE-2CD7-C241-6854-C50DBB37FF05}"/>
              </a:ext>
            </a:extLst>
          </p:cNvPr>
          <p:cNvSpPr/>
          <p:nvPr/>
        </p:nvSpPr>
        <p:spPr>
          <a:xfrm>
            <a:off x="860681" y="989981"/>
            <a:ext cx="8066343" cy="341144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9050">
            <a:solidFill>
              <a:srgbClr val="8C151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D404D0-0A64-4C68-46DE-EB9CAEAB3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SPT </a:t>
            </a:r>
            <a:r>
              <a:rPr lang="en-US" dirty="0" err="1"/>
              <a:t>SimSpect</a:t>
            </a:r>
            <a:r>
              <a:rPr lang="en-US" dirty="0"/>
              <a:t> specification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A8C4-65B0-52CB-7D37-405FCAE3ACF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Protection set:</a:t>
            </a:r>
            <a:r>
              <a:rPr lang="en-US" dirty="0"/>
              <a:t> all memory. </a:t>
            </a:r>
            <a:r>
              <a:rPr lang="en-US" i="1" dirty="0"/>
              <a:t>Propagation: STT. strict dependency + YROT </a:t>
            </a:r>
            <a:r>
              <a:rPr lang="en-US" i="1" dirty="0" err="1"/>
              <a:t>untaint</a:t>
            </a:r>
            <a:r>
              <a:rPr lang="en-US" i="1" dirty="0"/>
              <a:t> calculus — a. Any speculative access instruction is tainted. b. Other output is tainted if input is tainted. Untainted once YROT nonspeculative. YROT is youngest YROT of </a:t>
            </a:r>
            <a:r>
              <a:rPr lang="en-US" i="1" dirty="0" err="1"/>
              <a:t>args</a:t>
            </a:r>
            <a:r>
              <a:rPr lang="en-US" i="1" dirty="0"/>
              <a:t> if not AI, or else AI </a:t>
            </a:r>
            <a:r>
              <a:rPr lang="en-US" i="1" dirty="0" err="1"/>
              <a:t>addr</a:t>
            </a:r>
            <a:r>
              <a:rPr lang="en-US" i="1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Leakage contract: </a:t>
            </a:r>
            <a:r>
              <a:rPr lang="en-US" dirty="0"/>
              <a:t>explicit transmitter set user-defined, implicit transmitters also handled by aforementioned prediction and resolution taint blocks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Execution contract: </a:t>
            </a:r>
            <a:r>
              <a:rPr lang="en-US" dirty="0"/>
              <a:t>Visibility point</a:t>
            </a:r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145697-A976-69AD-F409-3D03BD52AD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1684796"/>
      </p:ext>
    </p:extLst>
  </p:cSld>
  <p:clrMapOvr>
    <a:masterClrMapping/>
  </p:clrMapOvr>
  <p:transition spd="slow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6936A-EE3D-1D74-0104-B0560D60E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CC3BC-884A-1285-9DBF-DA6B13118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Recon — Micro ’23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97059-CBCA-DF90-E212-67DB59CDFBA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70A5E4-AA5D-5A53-E131-B5C2836187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756391"/>
      </p:ext>
    </p:extLst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D4BA0-3769-2D17-F5A6-8AA037807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A5BA5-88F5-5914-E72F-3C205245C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Doppelganger Loads — ISCA ’23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9F5AF7-9149-9784-C093-65E356E8615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F08F3-9A39-DE20-C902-98AB5DB7BA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9513082"/>
      </p:ext>
    </p:extLst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8FAE3-E348-E9C3-4A9E-A045F5012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3F7D6-2CCD-589E-4CFE-C84B9C0A4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Delay on Miss — </a:t>
            </a:r>
            <a:r>
              <a:rPr lang="en-US" dirty="0" err="1"/>
              <a:t>smth</a:t>
            </a:r>
            <a:r>
              <a:rPr lang="en-US" dirty="0"/>
              <a:t> ’year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207E-CF3A-D628-FD25-2B455F3331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5678" y="1051101"/>
            <a:ext cx="7912750" cy="341144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4D82A-BC7D-DF15-C1C0-1F827B211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592069"/>
      </p:ext>
    </p:extLst>
  </p:cSld>
  <p:clrMapOvr>
    <a:masterClrMapping/>
  </p:clrMapOvr>
  <p:transition spd="slow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3DB2B-4C26-7DF8-7C04-F30BF4029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Non-applicable defenses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25325-C251-D3BA-44B2-52671AA4E0F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A1B41A-D12E-BCBD-6D49-6514D283B9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C8580F89-A3EA-CF4C-A13C-CD8A0A8D4F14}" type="slidenum">
              <a:rPr lang="en-US" smtClean="0"/>
              <a:pPr>
                <a:defRPr/>
              </a:pPr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0990393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SU_Template_TopBar">
  <a:themeElements>
    <a:clrScheme name="Stanford2">
      <a:dk1>
        <a:srgbClr val="000000"/>
      </a:dk1>
      <a:lt1>
        <a:srgbClr val="FFFFFF"/>
      </a:lt1>
      <a:dk2>
        <a:srgbClr val="DAD7CB"/>
      </a:dk2>
      <a:lt2>
        <a:srgbClr val="8C1515"/>
      </a:lt2>
      <a:accent1>
        <a:srgbClr val="8D3C1E"/>
      </a:accent1>
      <a:accent2>
        <a:srgbClr val="00505C"/>
      </a:accent2>
      <a:accent3>
        <a:srgbClr val="53284F"/>
      </a:accent3>
      <a:accent4>
        <a:srgbClr val="175E54"/>
      </a:accent4>
      <a:accent5>
        <a:srgbClr val="4D4F53"/>
      </a:accent5>
      <a:accent6>
        <a:srgbClr val="D2C295"/>
      </a:accent6>
      <a:hlink>
        <a:srgbClr val="A4001D"/>
      </a:hlink>
      <a:folHlink>
        <a:srgbClr val="000000"/>
      </a:folHlink>
    </a:clrScheme>
    <a:fontScheme name="Stanford">
      <a:majorFont>
        <a:latin typeface="Source Sans Pro Semibold"/>
        <a:ea typeface=""/>
        <a:cs typeface=""/>
      </a:majorFont>
      <a:minorFont>
        <a:latin typeface="Source Sans Pro"/>
        <a:ea typeface=""/>
        <a:cs typeface="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SU_Template_TopBar</Template>
  <TotalTime>10407</TotalTime>
  <Words>1315</Words>
  <Application>Microsoft Macintosh PowerPoint</Application>
  <PresentationFormat>On-screen Show (16:9)</PresentationFormat>
  <Paragraphs>143</Paragraphs>
  <Slides>20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Source Sans Pro</vt:lpstr>
      <vt:lpstr>Source Sans Pro Semibold</vt:lpstr>
      <vt:lpstr>Wingdings</vt:lpstr>
      <vt:lpstr>SU_Template_TopBar</vt:lpstr>
      <vt:lpstr>SimSpect defense specification examples</vt:lpstr>
      <vt:lpstr>Contents</vt:lpstr>
      <vt:lpstr>STT — MICRO ’19</vt:lpstr>
      <vt:lpstr>STT SimSpect specification</vt:lpstr>
      <vt:lpstr>STT mechanisms to exercise</vt:lpstr>
      <vt:lpstr>SpecShield — PACT ’19</vt:lpstr>
      <vt:lpstr>SpecShield-STL SimSpect specification</vt:lpstr>
      <vt:lpstr>SpecShield-ERP SimSpect specification</vt:lpstr>
      <vt:lpstr>SpecShield-ERP+ SimSpect specification</vt:lpstr>
      <vt:lpstr>NDA — MICRO ’19</vt:lpstr>
      <vt:lpstr>NDA-S SimSpect specification</vt:lpstr>
      <vt:lpstr>NDA-P SimSpect specification</vt:lpstr>
      <vt:lpstr>SDO — ISCA ’20</vt:lpstr>
      <vt:lpstr>SDO SimSpect specification</vt:lpstr>
      <vt:lpstr>SPT — MICRO ’21</vt:lpstr>
      <vt:lpstr>SPT SimSpect specification</vt:lpstr>
      <vt:lpstr>Recon — Micro ’23</vt:lpstr>
      <vt:lpstr>Doppelganger Loads — ISCA ’23</vt:lpstr>
      <vt:lpstr>Delay on Miss — smth ’year</vt:lpstr>
      <vt:lpstr>Non-applicable defenses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Eaton</dc:creator>
  <dc:description>2012 PowerPoint template redesign</dc:description>
  <cp:lastModifiedBy>Anna Eaton</cp:lastModifiedBy>
  <cp:revision>13</cp:revision>
  <dcterms:created xsi:type="dcterms:W3CDTF">2025-03-12T09:15:11Z</dcterms:created>
  <dcterms:modified xsi:type="dcterms:W3CDTF">2025-11-18T23:48:51Z</dcterms:modified>
</cp:coreProperties>
</file>