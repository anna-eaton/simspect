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9" r:id="rId1"/>
  </p:sldMasterIdLst>
  <p:notesMasterIdLst>
    <p:notesMasterId r:id="rId40"/>
  </p:notesMasterIdLst>
  <p:handoutMasterIdLst>
    <p:handoutMasterId r:id="rId41"/>
  </p:handoutMasterIdLst>
  <p:sldIdLst>
    <p:sldId id="286" r:id="rId2"/>
    <p:sldId id="306" r:id="rId3"/>
    <p:sldId id="329" r:id="rId4"/>
    <p:sldId id="331" r:id="rId5"/>
    <p:sldId id="333" r:id="rId6"/>
    <p:sldId id="332" r:id="rId7"/>
    <p:sldId id="287" r:id="rId8"/>
    <p:sldId id="294" r:id="rId9"/>
    <p:sldId id="295" r:id="rId10"/>
    <p:sldId id="318" r:id="rId11"/>
    <p:sldId id="288" r:id="rId12"/>
    <p:sldId id="297" r:id="rId13"/>
    <p:sldId id="298" r:id="rId14"/>
    <p:sldId id="299" r:id="rId15"/>
    <p:sldId id="289" r:id="rId16"/>
    <p:sldId id="303" r:id="rId17"/>
    <p:sldId id="296" r:id="rId18"/>
    <p:sldId id="300" r:id="rId19"/>
    <p:sldId id="321" r:id="rId20"/>
    <p:sldId id="290" r:id="rId21"/>
    <p:sldId id="304" r:id="rId22"/>
    <p:sldId id="291" r:id="rId23"/>
    <p:sldId id="305" r:id="rId24"/>
    <p:sldId id="308" r:id="rId25"/>
    <p:sldId id="323" r:id="rId26"/>
    <p:sldId id="292" r:id="rId27"/>
    <p:sldId id="312" r:id="rId28"/>
    <p:sldId id="326" r:id="rId29"/>
    <p:sldId id="322" r:id="rId30"/>
    <p:sldId id="324" r:id="rId31"/>
    <p:sldId id="269" r:id="rId32"/>
    <p:sldId id="325" r:id="rId33"/>
    <p:sldId id="293" r:id="rId34"/>
    <p:sldId id="320" r:id="rId35"/>
    <p:sldId id="327" r:id="rId36"/>
    <p:sldId id="328" r:id="rId37"/>
    <p:sldId id="330" r:id="rId38"/>
    <p:sldId id="307" r:id="rId39"/>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1515"/>
    <a:srgbClr val="4A344C"/>
    <a:srgbClr val="461F64"/>
    <a:srgbClr val="1F6B25"/>
    <a:srgbClr val="FF7F00"/>
    <a:srgbClr val="D6DDD3"/>
    <a:srgbClr val="EDE8DD"/>
    <a:srgbClr val="C2B7A1"/>
    <a:srgbClr val="918873"/>
    <a:srgbClr val="3C36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37"/>
    <p:restoredTop sz="87822"/>
  </p:normalViewPr>
  <p:slideViewPr>
    <p:cSldViewPr snapToGrid="0" snapToObjects="1">
      <p:cViewPr varScale="1">
        <p:scale>
          <a:sx n="138" d="100"/>
          <a:sy n="138" d="100"/>
        </p:scale>
        <p:origin x="184" y="49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BB96C3C-2F8B-2A41-8B9B-C7562B9ED521}" type="datetimeFigureOut">
              <a:rPr lang="en-US"/>
              <a:pPr>
                <a:defRPr/>
              </a:pPr>
              <a:t>11/19/25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C2D496DB-AFDE-9946-993D-025FE3A15619}" type="slidenum">
              <a:rPr lang="en-US"/>
              <a:pPr>
                <a:defRPr/>
              </a:pPr>
              <a:t>‹#›</a:t>
            </a:fld>
            <a:endParaRPr lang="en-US" dirty="0"/>
          </a:p>
        </p:txBody>
      </p:sp>
    </p:spTree>
    <p:extLst>
      <p:ext uri="{BB962C8B-B14F-4D97-AF65-F5344CB8AC3E}">
        <p14:creationId xmlns:p14="http://schemas.microsoft.com/office/powerpoint/2010/main" val="407347205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0:04:19.635"/>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CCDDC93F-B3BF-364B-BDAC-C35383BC4349}" type="datetimeFigureOut">
              <a:rPr lang="en-US"/>
              <a:pPr>
                <a:defRPr/>
              </a:pPr>
              <a:t>11/19/25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6E5A4F5B-0984-DF4E-8DDD-CA619A760FC6}" type="slidenum">
              <a:rPr lang="en-US"/>
              <a:pPr>
                <a:defRPr/>
              </a:pPr>
              <a:t>‹#›</a:t>
            </a:fld>
            <a:endParaRPr lang="en-US" dirty="0"/>
          </a:p>
        </p:txBody>
      </p:sp>
    </p:spTree>
    <p:extLst>
      <p:ext uri="{BB962C8B-B14F-4D97-AF65-F5344CB8AC3E}">
        <p14:creationId xmlns:p14="http://schemas.microsoft.com/office/powerpoint/2010/main" val="109792824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a:t>
            </a:fld>
            <a:endParaRPr lang="en-US" dirty="0"/>
          </a:p>
        </p:txBody>
      </p:sp>
    </p:spTree>
    <p:extLst>
      <p:ext uri="{BB962C8B-B14F-4D97-AF65-F5344CB8AC3E}">
        <p14:creationId xmlns:p14="http://schemas.microsoft.com/office/powerpoint/2010/main" val="1734980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8</a:t>
            </a:fld>
            <a:endParaRPr lang="en-US" dirty="0"/>
          </a:p>
        </p:txBody>
      </p:sp>
    </p:spTree>
    <p:extLst>
      <p:ext uri="{BB962C8B-B14F-4D97-AF65-F5344CB8AC3E}">
        <p14:creationId xmlns:p14="http://schemas.microsoft.com/office/powerpoint/2010/main" val="3039913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12</a:t>
            </a:fld>
            <a:endParaRPr lang="en-US" dirty="0"/>
          </a:p>
        </p:txBody>
      </p:sp>
    </p:spTree>
    <p:extLst>
      <p:ext uri="{BB962C8B-B14F-4D97-AF65-F5344CB8AC3E}">
        <p14:creationId xmlns:p14="http://schemas.microsoft.com/office/powerpoint/2010/main" val="4125193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see if it’s unresolved targets or addresses</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13</a:t>
            </a:fld>
            <a:endParaRPr lang="en-US" dirty="0"/>
          </a:p>
        </p:txBody>
      </p:sp>
    </p:spTree>
    <p:extLst>
      <p:ext uri="{BB962C8B-B14F-4D97-AF65-F5344CB8AC3E}">
        <p14:creationId xmlns:p14="http://schemas.microsoft.com/office/powerpoint/2010/main" val="511407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14</a:t>
            </a:fld>
            <a:endParaRPr lang="en-US" dirty="0"/>
          </a:p>
        </p:txBody>
      </p:sp>
    </p:spTree>
    <p:extLst>
      <p:ext uri="{BB962C8B-B14F-4D97-AF65-F5344CB8AC3E}">
        <p14:creationId xmlns:p14="http://schemas.microsoft.com/office/powerpoint/2010/main" val="2023728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explain why two load blocks are different</a:t>
            </a:r>
          </a:p>
          <a:p>
            <a:r>
              <a:rPr lang="en-US" dirty="0"/>
              <a:t>Whether or not we have bypass restriction</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15</a:t>
            </a:fld>
            <a:endParaRPr lang="en-US" dirty="0"/>
          </a:p>
        </p:txBody>
      </p:sp>
    </p:spTree>
    <p:extLst>
      <p:ext uri="{BB962C8B-B14F-4D97-AF65-F5344CB8AC3E}">
        <p14:creationId xmlns:p14="http://schemas.microsoft.com/office/powerpoint/2010/main" val="1341674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if it’s at head or after once committed</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16</a:t>
            </a:fld>
            <a:endParaRPr lang="en-US" dirty="0"/>
          </a:p>
        </p:txBody>
      </p:sp>
    </p:spTree>
    <p:extLst>
      <p:ext uri="{BB962C8B-B14F-4D97-AF65-F5344CB8AC3E}">
        <p14:creationId xmlns:p14="http://schemas.microsoft.com/office/powerpoint/2010/main" val="2254634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47D95-F375-5F1D-B21A-AA62F998B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1EB40-E6D2-CE21-484B-1BC0FC17A3B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C8DF15-8233-2D8C-2752-D0BC310B9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79EC7-A460-064A-F9A6-E1B9CB8B4CF3}"/>
              </a:ext>
            </a:extLst>
          </p:cNvPr>
          <p:cNvSpPr>
            <a:spLocks noGrp="1"/>
          </p:cNvSpPr>
          <p:nvPr>
            <p:ph type="sldNum" sz="quarter" idx="5"/>
          </p:nvPr>
        </p:nvSpPr>
        <p:spPr/>
        <p:txBody>
          <a:bodyPr/>
          <a:lstStyle/>
          <a:p>
            <a:pPr>
              <a:defRPr/>
            </a:pPr>
            <a:fld id="{6E5A4F5B-0984-DF4E-8DDD-CA619A760FC6}" type="slidenum">
              <a:rPr lang="en-US" smtClean="0"/>
              <a:pPr>
                <a:defRPr/>
              </a:pPr>
              <a:t>19</a:t>
            </a:fld>
            <a:endParaRPr lang="en-US" dirty="0"/>
          </a:p>
        </p:txBody>
      </p:sp>
    </p:spTree>
    <p:extLst>
      <p:ext uri="{BB962C8B-B14F-4D97-AF65-F5344CB8AC3E}">
        <p14:creationId xmlns:p14="http://schemas.microsoft.com/office/powerpoint/2010/main" val="2292066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answer q about load blocking complexity</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20</a:t>
            </a:fld>
            <a:endParaRPr lang="en-US" dirty="0"/>
          </a:p>
        </p:txBody>
      </p:sp>
    </p:spTree>
    <p:extLst>
      <p:ext uri="{BB962C8B-B14F-4D97-AF65-F5344CB8AC3E}">
        <p14:creationId xmlns:p14="http://schemas.microsoft.com/office/powerpoint/2010/main" val="1625615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301E-AF81-6146-3814-536D5CAE0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7FAE1-2BAF-F96E-EC4E-C94541F6BDF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3E031A-0AA4-94E2-1D14-05B80D30D43A}"/>
              </a:ext>
            </a:extLst>
          </p:cNvPr>
          <p:cNvSpPr>
            <a:spLocks noGrp="1"/>
          </p:cNvSpPr>
          <p:nvPr>
            <p:ph type="body" idx="1"/>
          </p:nvPr>
        </p:nvSpPr>
        <p:spPr/>
        <p:txBody>
          <a:bodyPr/>
          <a:lstStyle/>
          <a:p>
            <a:endParaRPr lang="en-US" dirty="0"/>
          </a:p>
          <a:p>
            <a:r>
              <a:rPr lang="en-US" dirty="0"/>
              <a:t>Implementation detail – test via variability </a:t>
            </a:r>
          </a:p>
        </p:txBody>
      </p:sp>
      <p:sp>
        <p:nvSpPr>
          <p:cNvPr id="4" name="Slide Number Placeholder 3">
            <a:extLst>
              <a:ext uri="{FF2B5EF4-FFF2-40B4-BE49-F238E27FC236}">
                <a16:creationId xmlns:a16="http://schemas.microsoft.com/office/drawing/2014/main" id="{E6320F5E-0FD3-B823-75FE-73DB7806A32E}"/>
              </a:ext>
            </a:extLst>
          </p:cNvPr>
          <p:cNvSpPr>
            <a:spLocks noGrp="1"/>
          </p:cNvSpPr>
          <p:nvPr>
            <p:ph type="sldNum" sz="quarter" idx="5"/>
          </p:nvPr>
        </p:nvSpPr>
        <p:spPr/>
        <p:txBody>
          <a:bodyPr/>
          <a:lstStyle/>
          <a:p>
            <a:pPr>
              <a:defRPr/>
            </a:pPr>
            <a:fld id="{6E5A4F5B-0984-DF4E-8DDD-CA619A760FC6}" type="slidenum">
              <a:rPr lang="en-US" smtClean="0"/>
              <a:pPr>
                <a:defRPr/>
              </a:pPr>
              <a:t>21</a:t>
            </a:fld>
            <a:endParaRPr lang="en-US" dirty="0"/>
          </a:p>
        </p:txBody>
      </p:sp>
    </p:spTree>
    <p:extLst>
      <p:ext uri="{BB962C8B-B14F-4D97-AF65-F5344CB8AC3E}">
        <p14:creationId xmlns:p14="http://schemas.microsoft.com/office/powerpoint/2010/main" val="4260299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AA09-3B73-C92C-3C02-CF6DEDFE5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EFE6B-6FAF-5F4C-5CA9-40AA522BDE5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3A09655-BFF9-5C1F-33BC-EDE041021C73}"/>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B72CB95F-0993-9D37-E74B-306DB7352300}"/>
              </a:ext>
            </a:extLst>
          </p:cNvPr>
          <p:cNvSpPr>
            <a:spLocks noGrp="1"/>
          </p:cNvSpPr>
          <p:nvPr>
            <p:ph type="sldNum" sz="quarter" idx="5"/>
          </p:nvPr>
        </p:nvSpPr>
        <p:spPr/>
        <p:txBody>
          <a:bodyPr/>
          <a:lstStyle/>
          <a:p>
            <a:pPr>
              <a:defRPr/>
            </a:pPr>
            <a:fld id="{6E5A4F5B-0984-DF4E-8DDD-CA619A760FC6}" type="slidenum">
              <a:rPr lang="en-US" smtClean="0"/>
              <a:pPr>
                <a:defRPr/>
              </a:pPr>
              <a:t>23</a:t>
            </a:fld>
            <a:endParaRPr lang="en-US" dirty="0"/>
          </a:p>
        </p:txBody>
      </p:sp>
    </p:spTree>
    <p:extLst>
      <p:ext uri="{BB962C8B-B14F-4D97-AF65-F5344CB8AC3E}">
        <p14:creationId xmlns:p14="http://schemas.microsoft.com/office/powerpoint/2010/main" val="336833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25</a:t>
            </a:fld>
            <a:endParaRPr lang="en-US" dirty="0"/>
          </a:p>
        </p:txBody>
      </p:sp>
    </p:spTree>
    <p:extLst>
      <p:ext uri="{BB962C8B-B14F-4D97-AF65-F5344CB8AC3E}">
        <p14:creationId xmlns:p14="http://schemas.microsoft.com/office/powerpoint/2010/main" val="598282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C4B2-95FD-BE70-A738-48D87A029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8709-65FF-89AB-0AAF-8BB4CE66333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BEA96F2-8744-1743-922B-0103FFE6B58F}"/>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85E8458A-89A8-E431-8BF3-38D742C1C1FC}"/>
              </a:ext>
            </a:extLst>
          </p:cNvPr>
          <p:cNvSpPr>
            <a:spLocks noGrp="1"/>
          </p:cNvSpPr>
          <p:nvPr>
            <p:ph type="sldNum" sz="quarter" idx="5"/>
          </p:nvPr>
        </p:nvSpPr>
        <p:spPr/>
        <p:txBody>
          <a:bodyPr/>
          <a:lstStyle/>
          <a:p>
            <a:pPr>
              <a:defRPr/>
            </a:pPr>
            <a:fld id="{6E5A4F5B-0984-DF4E-8DDD-CA619A760FC6}" type="slidenum">
              <a:rPr lang="en-US" smtClean="0"/>
              <a:pPr>
                <a:defRPr/>
              </a:pPr>
              <a:t>27</a:t>
            </a:fld>
            <a:endParaRPr lang="en-US" dirty="0"/>
          </a:p>
        </p:txBody>
      </p:sp>
    </p:spTree>
    <p:extLst>
      <p:ext uri="{BB962C8B-B14F-4D97-AF65-F5344CB8AC3E}">
        <p14:creationId xmlns:p14="http://schemas.microsoft.com/office/powerpoint/2010/main" val="2208000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33B-3FAE-49C6-25BE-018572C71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0FF33-B681-0094-A2D9-863BA59A073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D1A76D-1335-B257-BE1B-6001E29D4C58}"/>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E8C70744-8769-FFDF-2F67-94BB326531EB}"/>
              </a:ext>
            </a:extLst>
          </p:cNvPr>
          <p:cNvSpPr>
            <a:spLocks noGrp="1"/>
          </p:cNvSpPr>
          <p:nvPr>
            <p:ph type="sldNum" sz="quarter" idx="5"/>
          </p:nvPr>
        </p:nvSpPr>
        <p:spPr/>
        <p:txBody>
          <a:bodyPr/>
          <a:lstStyle/>
          <a:p>
            <a:pPr>
              <a:defRPr/>
            </a:pPr>
            <a:fld id="{6E5A4F5B-0984-DF4E-8DDD-CA619A760FC6}" type="slidenum">
              <a:rPr lang="en-US" smtClean="0"/>
              <a:pPr>
                <a:defRPr/>
              </a:pPr>
              <a:t>28</a:t>
            </a:fld>
            <a:endParaRPr lang="en-US" dirty="0"/>
          </a:p>
        </p:txBody>
      </p:sp>
    </p:spTree>
    <p:extLst>
      <p:ext uri="{BB962C8B-B14F-4D97-AF65-F5344CB8AC3E}">
        <p14:creationId xmlns:p14="http://schemas.microsoft.com/office/powerpoint/2010/main" val="1778272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A3DD-E8AD-F6F0-18B8-87D666402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C5610-97DB-1BC3-DBF9-BCB9DE7D0EA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27B188B-BB99-E804-60A6-157A74318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4167E-2A21-38F6-B277-BDC364AD4B12}"/>
              </a:ext>
            </a:extLst>
          </p:cNvPr>
          <p:cNvSpPr>
            <a:spLocks noGrp="1"/>
          </p:cNvSpPr>
          <p:nvPr>
            <p:ph type="sldNum" sz="quarter" idx="5"/>
          </p:nvPr>
        </p:nvSpPr>
        <p:spPr/>
        <p:txBody>
          <a:bodyPr/>
          <a:lstStyle/>
          <a:p>
            <a:pPr>
              <a:defRPr/>
            </a:pPr>
            <a:fld id="{6E5A4F5B-0984-DF4E-8DDD-CA619A760FC6}" type="slidenum">
              <a:rPr lang="en-US" smtClean="0"/>
              <a:pPr>
                <a:defRPr/>
              </a:pPr>
              <a:t>30</a:t>
            </a:fld>
            <a:endParaRPr lang="en-US" dirty="0"/>
          </a:p>
        </p:txBody>
      </p:sp>
    </p:spTree>
    <p:extLst>
      <p:ext uri="{BB962C8B-B14F-4D97-AF65-F5344CB8AC3E}">
        <p14:creationId xmlns:p14="http://schemas.microsoft.com/office/powerpoint/2010/main" val="1509128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31</a:t>
            </a:fld>
            <a:endParaRPr lang="en-US" dirty="0"/>
          </a:p>
        </p:txBody>
      </p:sp>
    </p:spTree>
    <p:extLst>
      <p:ext uri="{BB962C8B-B14F-4D97-AF65-F5344CB8AC3E}">
        <p14:creationId xmlns:p14="http://schemas.microsoft.com/office/powerpoint/2010/main" val="594620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01EA-7DC2-6A88-7586-62D98B09A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F5132-28B2-E194-6879-4EFF032E7B8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1B6BBAB-DD70-A254-2B7D-9503DD710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914138-C2F7-CC6F-7CD0-3D5034529E80}"/>
              </a:ext>
            </a:extLst>
          </p:cNvPr>
          <p:cNvSpPr>
            <a:spLocks noGrp="1"/>
          </p:cNvSpPr>
          <p:nvPr>
            <p:ph type="sldNum" sz="quarter" idx="5"/>
          </p:nvPr>
        </p:nvSpPr>
        <p:spPr/>
        <p:txBody>
          <a:bodyPr/>
          <a:lstStyle/>
          <a:p>
            <a:pPr>
              <a:defRPr/>
            </a:pPr>
            <a:fld id="{6E5A4F5B-0984-DF4E-8DDD-CA619A760FC6}" type="slidenum">
              <a:rPr lang="en-US" smtClean="0"/>
              <a:pPr>
                <a:defRPr/>
              </a:pPr>
              <a:t>32</a:t>
            </a:fld>
            <a:endParaRPr lang="en-US" dirty="0"/>
          </a:p>
        </p:txBody>
      </p:sp>
    </p:spTree>
    <p:extLst>
      <p:ext uri="{BB962C8B-B14F-4D97-AF65-F5344CB8AC3E}">
        <p14:creationId xmlns:p14="http://schemas.microsoft.com/office/powerpoint/2010/main" val="1340693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BCBE2-A85A-203A-3819-E14942773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71C06-E22C-C192-61CA-D1917B9495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480FD81-9AEF-D7F1-0FD0-2CBC45DE07D7}"/>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1DF8E8E1-E8F7-A136-8E2A-6AE49B9B9DF3}"/>
              </a:ext>
            </a:extLst>
          </p:cNvPr>
          <p:cNvSpPr>
            <a:spLocks noGrp="1"/>
          </p:cNvSpPr>
          <p:nvPr>
            <p:ph type="sldNum" sz="quarter" idx="5"/>
          </p:nvPr>
        </p:nvSpPr>
        <p:spPr/>
        <p:txBody>
          <a:bodyPr/>
          <a:lstStyle/>
          <a:p>
            <a:pPr>
              <a:defRPr/>
            </a:pPr>
            <a:fld id="{6E5A4F5B-0984-DF4E-8DDD-CA619A760FC6}" type="slidenum">
              <a:rPr lang="en-US" smtClean="0"/>
              <a:pPr>
                <a:defRPr/>
              </a:pPr>
              <a:t>34</a:t>
            </a:fld>
            <a:endParaRPr lang="en-US" dirty="0"/>
          </a:p>
        </p:txBody>
      </p:sp>
    </p:spTree>
    <p:extLst>
      <p:ext uri="{BB962C8B-B14F-4D97-AF65-F5344CB8AC3E}">
        <p14:creationId xmlns:p14="http://schemas.microsoft.com/office/powerpoint/2010/main" val="4263675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C252-E67C-A30C-A9F1-F9D20A84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F89CE-F978-CAF5-6C37-86430178755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3F794C3-8587-4000-2B6A-591CD0FE83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549BF-76A5-DA0C-FC48-92094ACAF8D9}"/>
              </a:ext>
            </a:extLst>
          </p:cNvPr>
          <p:cNvSpPr>
            <a:spLocks noGrp="1"/>
          </p:cNvSpPr>
          <p:nvPr>
            <p:ph type="sldNum" sz="quarter" idx="5"/>
          </p:nvPr>
        </p:nvSpPr>
        <p:spPr/>
        <p:txBody>
          <a:bodyPr/>
          <a:lstStyle/>
          <a:p>
            <a:pPr>
              <a:defRPr/>
            </a:pPr>
            <a:fld id="{6E5A4F5B-0984-DF4E-8DDD-CA619A760FC6}" type="slidenum">
              <a:rPr lang="en-US" smtClean="0"/>
              <a:pPr>
                <a:defRPr/>
              </a:pPr>
              <a:t>35</a:t>
            </a:fld>
            <a:endParaRPr lang="en-US" dirty="0"/>
          </a:p>
        </p:txBody>
      </p:sp>
    </p:spTree>
    <p:extLst>
      <p:ext uri="{BB962C8B-B14F-4D97-AF65-F5344CB8AC3E}">
        <p14:creationId xmlns:p14="http://schemas.microsoft.com/office/powerpoint/2010/main" val="2774339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0AA0-542D-8209-E592-10292B91E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69ECD-A3FE-B6F7-A1D0-8309AB602D9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8B3F734-BF2D-09FD-058F-FD280CCB0729}"/>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32DF88FB-486B-69A2-C94F-876DF05742DB}"/>
              </a:ext>
            </a:extLst>
          </p:cNvPr>
          <p:cNvSpPr>
            <a:spLocks noGrp="1"/>
          </p:cNvSpPr>
          <p:nvPr>
            <p:ph type="sldNum" sz="quarter" idx="5"/>
          </p:nvPr>
        </p:nvSpPr>
        <p:spPr/>
        <p:txBody>
          <a:bodyPr/>
          <a:lstStyle/>
          <a:p>
            <a:pPr>
              <a:defRPr/>
            </a:pPr>
            <a:fld id="{6E5A4F5B-0984-DF4E-8DDD-CA619A760FC6}" type="slidenum">
              <a:rPr lang="en-US" smtClean="0"/>
              <a:pPr>
                <a:defRPr/>
              </a:pPr>
              <a:t>36</a:t>
            </a:fld>
            <a:endParaRPr lang="en-US" dirty="0"/>
          </a:p>
        </p:txBody>
      </p:sp>
    </p:spTree>
    <p:extLst>
      <p:ext uri="{BB962C8B-B14F-4D97-AF65-F5344CB8AC3E}">
        <p14:creationId xmlns:p14="http://schemas.microsoft.com/office/powerpoint/2010/main" val="4314439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9" descr="SUSig_White.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4811713"/>
            <a:ext cx="2046288" cy="187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
          <p:cNvSpPr/>
          <p:nvPr/>
        </p:nvSpPr>
        <p:spPr>
          <a:xfrm>
            <a:off x="0" y="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sp>
        <p:nvSpPr>
          <p:cNvPr id="2"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12" name="Text Placeholder 33"/>
          <p:cNvSpPr>
            <a:spLocks noGrp="1"/>
          </p:cNvSpPr>
          <p:nvPr>
            <p:ph type="body" sz="quarter" idx="18" hasCustomPrompt="1"/>
          </p:nvPr>
        </p:nvSpPr>
        <p:spPr>
          <a:xfrm>
            <a:off x="1603375" y="3599022"/>
            <a:ext cx="6059488" cy="205740"/>
          </a:xfrm>
          <a:prstGeom prst="rect">
            <a:avLst/>
          </a:prstGeom>
        </p:spPr>
        <p:txBody>
          <a:bodyPr wrap="none" anchor="ctr" anchorCtr="1">
            <a:noAutofit/>
          </a:bodyPr>
          <a:lstStyle>
            <a:lvl1pPr algn="ctr">
              <a:buNone/>
              <a:defRPr sz="1800" cap="none" spc="0" baseline="0">
                <a:solidFill>
                  <a:schemeClr val="tx1">
                    <a:lumMod val="65000"/>
                    <a:lumOff val="35000"/>
                  </a:schemeClr>
                </a:solidFill>
              </a:defRPr>
            </a:lvl1pPr>
            <a:lvl2pPr>
              <a:buNone/>
              <a:defRPr/>
            </a:lvl2pPr>
            <a:lvl3pPr>
              <a:buNone/>
              <a:defRPr/>
            </a:lvl3pPr>
            <a:lvl4pPr>
              <a:buNone/>
              <a:defRPr/>
            </a:lvl4pPr>
            <a:lvl5pPr>
              <a:buNone/>
              <a:defRPr/>
            </a:lvl5pPr>
          </a:lstStyle>
          <a:p>
            <a:pPr lvl="0"/>
            <a:r>
              <a:rPr lang="en-US" dirty="0"/>
              <a:t>Insert date here</a:t>
            </a:r>
          </a:p>
        </p:txBody>
      </p:sp>
      <p:sp>
        <p:nvSpPr>
          <p:cNvPr id="13"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4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8" name="Picture 7" descr="EE-web.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9"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77551307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5" name="Rectangle 4"/>
          <p:cNvSpPr/>
          <p:nvPr/>
        </p:nvSpPr>
        <p:spPr>
          <a:xfrm>
            <a:off x="0" y="-635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pic>
        <p:nvPicPr>
          <p:cNvPr id="7" name="Picture 6" descr="EE-web.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8"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9"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1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652903222"/>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7" name="Content Placeholder 6"/>
          <p:cNvSpPr>
            <a:spLocks noGrp="1"/>
          </p:cNvSpPr>
          <p:nvPr>
            <p:ph sz="quarter" idx="10" hasCustomPrompt="1"/>
          </p:nvPr>
        </p:nvSpPr>
        <p:spPr>
          <a:xfrm>
            <a:off x="955677" y="1051101"/>
            <a:ext cx="7700963" cy="341144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842601043"/>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4" name="Content Placeholder 13"/>
          <p:cNvSpPr>
            <a:spLocks noGrp="1"/>
          </p:cNvSpPr>
          <p:nvPr>
            <p:ph sz="quarter" idx="10" hasCustomPrompt="1"/>
          </p:nvPr>
        </p:nvSpPr>
        <p:spPr>
          <a:xfrm>
            <a:off x="949327" y="1051102"/>
            <a:ext cx="3787775" cy="3423314"/>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5"/>
          <p:cNvSpPr>
            <a:spLocks noGrp="1"/>
          </p:cNvSpPr>
          <p:nvPr>
            <p:ph sz="quarter" idx="11" hasCustomPrompt="1"/>
          </p:nvPr>
        </p:nvSpPr>
        <p:spPr>
          <a:xfrm>
            <a:off x="4876800" y="1051102"/>
            <a:ext cx="3779838" cy="3423314"/>
          </a:xfrm>
        </p:spPr>
        <p:txBody>
          <a:bodyPr/>
          <a:lstStyle>
            <a:lvl1pPr>
              <a:defRPr sz="1800"/>
            </a:lvl1pPr>
          </a:lstStyle>
          <a:p>
            <a:pPr lvl="0"/>
            <a:r>
              <a:rPr lang="en-US"/>
              <a:t>Click to edit text, or click icon to insert image</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3100370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Horizontal">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2" name="Content Placeholder 11"/>
          <p:cNvSpPr>
            <a:spLocks noGrp="1"/>
          </p:cNvSpPr>
          <p:nvPr>
            <p:ph sz="quarter" idx="10" hasCustomPrompt="1"/>
          </p:nvPr>
        </p:nvSpPr>
        <p:spPr>
          <a:xfrm>
            <a:off x="948777" y="1051101"/>
            <a:ext cx="7707862"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11" hasCustomPrompt="1"/>
          </p:nvPr>
        </p:nvSpPr>
        <p:spPr>
          <a:xfrm>
            <a:off x="949327" y="2818935"/>
            <a:ext cx="7707313"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409633034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3" name="Content Placeholder 2"/>
          <p:cNvSpPr>
            <a:spLocks noGrp="1"/>
          </p:cNvSpPr>
          <p:nvPr>
            <p:ph sz="quarter" idx="10" hasCustomPrompt="1"/>
          </p:nvPr>
        </p:nvSpPr>
        <p:spPr>
          <a:xfrm>
            <a:off x="949327" y="1051101"/>
            <a:ext cx="3787775" cy="3504490"/>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1" hasCustomPrompt="1"/>
          </p:nvPr>
        </p:nvSpPr>
        <p:spPr>
          <a:xfrm>
            <a:off x="4876800" y="1051102"/>
            <a:ext cx="3779838" cy="167678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9" name="Content Placeholder 8"/>
          <p:cNvSpPr>
            <a:spLocks noGrp="1"/>
          </p:cNvSpPr>
          <p:nvPr>
            <p:ph sz="quarter" idx="12" hasCustomPrompt="1"/>
          </p:nvPr>
        </p:nvSpPr>
        <p:spPr>
          <a:xfrm>
            <a:off x="4876800" y="2880810"/>
            <a:ext cx="3779838" cy="1674781"/>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541328948"/>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4" name="Content Placeholder 3"/>
          <p:cNvSpPr>
            <a:spLocks noGrp="1"/>
          </p:cNvSpPr>
          <p:nvPr>
            <p:ph sz="quarter" idx="10" hasCustomPrompt="1"/>
          </p:nvPr>
        </p:nvSpPr>
        <p:spPr>
          <a:xfrm>
            <a:off x="949327" y="1051102"/>
            <a:ext cx="3787775"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1" name="Content Placeholder 10"/>
          <p:cNvSpPr>
            <a:spLocks noGrp="1"/>
          </p:cNvSpPr>
          <p:nvPr>
            <p:ph sz="quarter" idx="11" hasCustomPrompt="1"/>
          </p:nvPr>
        </p:nvSpPr>
        <p:spPr>
          <a:xfrm>
            <a:off x="955677" y="2860189"/>
            <a:ext cx="3781425"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3" name="Content Placeholder 12"/>
          <p:cNvSpPr>
            <a:spLocks noGrp="1"/>
          </p:cNvSpPr>
          <p:nvPr>
            <p:ph sz="quarter" idx="12" hasCustomPrompt="1"/>
          </p:nvPr>
        </p:nvSpPr>
        <p:spPr>
          <a:xfrm>
            <a:off x="4876800" y="1051102"/>
            <a:ext cx="3779838"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13" hasCustomPrompt="1"/>
          </p:nvPr>
        </p:nvSpPr>
        <p:spPr>
          <a:xfrm>
            <a:off x="4876800" y="2860189"/>
            <a:ext cx="3779838"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8" name="Slide Number Placeholder 4"/>
          <p:cNvSpPr>
            <a:spLocks noGrp="1"/>
          </p:cNvSpPr>
          <p:nvPr>
            <p:ph type="sldNum" sz="quarter" idx="4"/>
          </p:nvPr>
        </p:nvSpPr>
        <p:spPr>
          <a:xfrm>
            <a:off x="3961"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65649337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E7A2F-A57C-9E4E-9C8D-2D0F644FF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564099-AB26-8E3C-76E5-5A083D91F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91FB3-9CB9-F4B6-8772-6F02C7325C1C}"/>
              </a:ext>
            </a:extLst>
          </p:cNvPr>
          <p:cNvSpPr>
            <a:spLocks noGrp="1"/>
          </p:cNvSpPr>
          <p:nvPr>
            <p:ph type="dt" sz="half" idx="10"/>
          </p:nvPr>
        </p:nvSpPr>
        <p:spPr/>
        <p:txBody>
          <a:bodyPr/>
          <a:lstStyle/>
          <a:p>
            <a:fld id="{8348C6FF-131A-EA4F-9443-1ED9745F780B}" type="datetimeFigureOut">
              <a:rPr lang="en-US" smtClean="0"/>
              <a:t>11/19/25</a:t>
            </a:fld>
            <a:endParaRPr lang="en-US" dirty="0"/>
          </a:p>
        </p:txBody>
      </p:sp>
      <p:sp>
        <p:nvSpPr>
          <p:cNvPr id="5" name="Footer Placeholder 4">
            <a:extLst>
              <a:ext uri="{FF2B5EF4-FFF2-40B4-BE49-F238E27FC236}">
                <a16:creationId xmlns:a16="http://schemas.microsoft.com/office/drawing/2014/main" id="{305F088F-7B8E-E008-6216-19CFE7C28E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AD6FC7-8949-6C68-7140-10C13AFDEFA7}"/>
              </a:ext>
            </a:extLst>
          </p:cNvPr>
          <p:cNvSpPr>
            <a:spLocks noGrp="1"/>
          </p:cNvSpPr>
          <p:nvPr>
            <p:ph type="sldNum" sz="quarter" idx="12"/>
          </p:nvPr>
        </p:nvSpPr>
        <p:spPr/>
        <p:txBody>
          <a:bodyPr/>
          <a:lstStyle/>
          <a:p>
            <a:fld id="{A5FCC17E-B8BD-CE42-81F8-A04DC44B498A}" type="slidenum">
              <a:rPr lang="en-US" smtClean="0"/>
              <a:t>‹#›</a:t>
            </a:fld>
            <a:endParaRPr lang="en-US" dirty="0"/>
          </a:p>
        </p:txBody>
      </p:sp>
    </p:spTree>
    <p:extLst>
      <p:ext uri="{BB962C8B-B14F-4D97-AF65-F5344CB8AC3E}">
        <p14:creationId xmlns:p14="http://schemas.microsoft.com/office/powerpoint/2010/main" val="3293250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2"/>
          <p:cNvSpPr>
            <a:spLocks noGrp="1"/>
          </p:cNvSpPr>
          <p:nvPr>
            <p:ph type="title"/>
          </p:nvPr>
        </p:nvSpPr>
        <p:spPr bwMode="auto">
          <a:xfrm>
            <a:off x="949325" y="584200"/>
            <a:ext cx="7707313"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p>
            <a:pPr lvl="0"/>
            <a:r>
              <a:rPr lang="en-US"/>
              <a:t>Click to edit Master title style</a:t>
            </a:r>
            <a:endParaRPr lang="en-US" dirty="0"/>
          </a:p>
        </p:txBody>
      </p:sp>
      <p:sp>
        <p:nvSpPr>
          <p:cNvPr id="4" name="Text Placeholder 3"/>
          <p:cNvSpPr>
            <a:spLocks noGrp="1"/>
          </p:cNvSpPr>
          <p:nvPr>
            <p:ph type="body" idx="1"/>
          </p:nvPr>
        </p:nvSpPr>
        <p:spPr>
          <a:xfrm>
            <a:off x="949325" y="1128713"/>
            <a:ext cx="7707313" cy="3303587"/>
          </a:xfrm>
          <a:prstGeom prst="rect">
            <a:avLst/>
          </a:prstGeom>
        </p:spPr>
        <p:txBody>
          <a:bodyPr vert="horz" lIns="0" tIns="45720" rIns="0" bIns="45720" rtlCol="0">
            <a:normAutofit/>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348490" cy="5143500"/>
          </a:xfrm>
          <a:prstGeom prst="rect">
            <a:avLst/>
          </a:prstGeom>
          <a:solidFill>
            <a:schemeClr val="bg2"/>
          </a:solidFill>
          <a:ln>
            <a:solidFill>
              <a:srgbClr val="8C1515"/>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rgbClr val="8C1515"/>
              </a:solidFill>
              <a:latin typeface="Arial"/>
            </a:endParaRPr>
          </a:p>
        </p:txBody>
      </p:sp>
      <p:pic>
        <p:nvPicPr>
          <p:cNvPr id="2" name="Picture 1" descr="EE-web.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Lst>
  <p:transition spd="slow">
    <p:fade/>
  </p:transition>
  <p:hf hdr="0" ftr="0" dt="0"/>
  <p:txStyles>
    <p:title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defRPr kern="1200" spc="20">
          <a:solidFill>
            <a:schemeClr val="tx1"/>
          </a:solidFill>
          <a:latin typeface="+mn-lt"/>
          <a:ea typeface="ＭＳ Ｐゴシック" charset="0"/>
          <a:cs typeface="ＭＳ Ｐゴシック" charset="0"/>
        </a:defRPr>
      </a:lvl1pPr>
      <a:lvl2pPr marL="288925" indent="-288925" algn="l" defTabSz="457200" rtl="0" eaLnBrk="1" fontAlgn="base" hangingPunct="1">
        <a:spcBef>
          <a:spcPct val="20000"/>
        </a:spcBef>
        <a:spcAft>
          <a:spcPct val="0"/>
        </a:spcAft>
        <a:buClr>
          <a:schemeClr val="bg2"/>
        </a:buClr>
        <a:buFont typeface="Wingdings" charset="0"/>
        <a:buChar char="§"/>
        <a:defRPr kern="1200">
          <a:solidFill>
            <a:srgbClr val="595959"/>
          </a:solidFill>
          <a:latin typeface="+mn-lt"/>
          <a:ea typeface="ＭＳ Ｐゴシック" charset="0"/>
          <a:cs typeface="+mn-cs"/>
        </a:defRPr>
      </a:lvl2pPr>
      <a:lvl3pPr marL="569913" indent="-225425" algn="l" defTabSz="457200" rtl="0" eaLnBrk="1" fontAlgn="base" hangingPunct="1">
        <a:spcBef>
          <a:spcPct val="20000"/>
        </a:spcBef>
        <a:spcAft>
          <a:spcPct val="0"/>
        </a:spcAft>
        <a:buClr>
          <a:schemeClr val="bg2"/>
        </a:buClr>
        <a:buSzPct val="102000"/>
        <a:buFont typeface="Source Sans Pro" charset="0"/>
        <a:buChar char="›"/>
        <a:defRPr kern="1200">
          <a:solidFill>
            <a:srgbClr val="595959"/>
          </a:solidFill>
          <a:latin typeface="+mn-lt"/>
          <a:ea typeface="ＭＳ Ｐゴシック" charset="0"/>
          <a:cs typeface="+mn-cs"/>
        </a:defRPr>
      </a:lvl3pPr>
      <a:lvl4pPr marL="914400" indent="-227013" algn="l" defTabSz="457200" rtl="0" eaLnBrk="1" fontAlgn="base" hangingPunct="1">
        <a:spcBef>
          <a:spcPct val="20000"/>
        </a:spcBef>
        <a:spcAft>
          <a:spcPct val="0"/>
        </a:spcAft>
        <a:buClr>
          <a:schemeClr val="bg2"/>
        </a:buClr>
        <a:buFont typeface="Arial" charset="0"/>
        <a:buChar char="•"/>
        <a:defRPr kern="1200">
          <a:solidFill>
            <a:srgbClr val="595959"/>
          </a:solidFill>
          <a:latin typeface="+mn-lt"/>
          <a:ea typeface="ＭＳ Ｐゴシック" charset="0"/>
          <a:cs typeface="+mn-cs"/>
        </a:defRPr>
      </a:lvl4pPr>
      <a:lvl5pPr marL="1258888" indent="-227013" algn="l" defTabSz="457200" rtl="0" eaLnBrk="1" fontAlgn="base" hangingPunct="1">
        <a:spcBef>
          <a:spcPct val="20000"/>
        </a:spcBef>
        <a:spcAft>
          <a:spcPct val="0"/>
        </a:spcAft>
        <a:buClr>
          <a:schemeClr val="bg2"/>
        </a:buClr>
        <a:buFont typeface="Source Sans Pro" charset="0"/>
        <a:buChar char="–"/>
        <a:defRPr kern="1200">
          <a:solidFill>
            <a:srgbClr val="595959"/>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hyperlink" Target="https://cwfletcher.github.io/content/research/2021.micro.spt.paper.pdf" TargetMode="External"/><Relationship Id="rId3" Type="http://schemas.openxmlformats.org/officeDocument/2006/relationships/hyperlink" Target="https://iacoma.cs.uiuc.edu/iacoma-papers/micro19_2.pdf" TargetMode="External"/><Relationship Id="rId7" Type="http://schemas.openxmlformats.org/officeDocument/2006/relationships/hyperlink" Target="https://dl.acm.org/doi/10.1145/3352460.3358306" TargetMode="External"/><Relationship Id="rId12" Type="http://schemas.openxmlformats.org/officeDocument/2006/relationships/slide" Target="slide22.xml"/><Relationship Id="rId17" Type="http://schemas.openxmlformats.org/officeDocument/2006/relationships/hyperlink" Target="https://dl.acm.org/doi/abs/10.1145/3579371.3589088" TargetMode="External"/><Relationship Id="rId2" Type="http://schemas.openxmlformats.org/officeDocument/2006/relationships/slide" Target="slide7.xml"/><Relationship Id="rId16" Type="http://schemas.openxmlformats.org/officeDocument/2006/relationships/slide" Target="slide33.xml"/><Relationship Id="rId1" Type="http://schemas.openxmlformats.org/officeDocument/2006/relationships/slideLayout" Target="../slideLayouts/slideLayout3.xml"/><Relationship Id="rId6" Type="http://schemas.openxmlformats.org/officeDocument/2006/relationships/slide" Target="slide15.xml"/><Relationship Id="rId11" Type="http://schemas.openxmlformats.org/officeDocument/2006/relationships/hyperlink" Target="https://iacoma.cs.uiuc.edu/iacoma-papers/isca20_2.pdf" TargetMode="External"/><Relationship Id="rId5" Type="http://schemas.openxmlformats.org/officeDocument/2006/relationships/hyperlink" Target="https://dl.acm.org/doi/10.1109/PACT.2019.00020" TargetMode="External"/><Relationship Id="rId15" Type="http://schemas.openxmlformats.org/officeDocument/2006/relationships/hyperlink" Target="https://dl.acm.org/doi/10.1145/3613424.3623770" TargetMode="External"/><Relationship Id="rId10" Type="http://schemas.openxmlformats.org/officeDocument/2006/relationships/slide" Target="slide20.xml"/><Relationship Id="rId4" Type="http://schemas.openxmlformats.org/officeDocument/2006/relationships/slide" Target="slide11.xml"/><Relationship Id="rId9" Type="http://schemas.openxmlformats.org/officeDocument/2006/relationships/hyperlink" Target="https://dl.acm.org/doi/pdf/10.1145/3307650.3322216" TargetMode="External"/><Relationship Id="rId14" Type="http://schemas.openxmlformats.org/officeDocument/2006/relationships/slide" Target="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CB23-FA56-5392-9B75-D93DDACBE890}"/>
              </a:ext>
            </a:extLst>
          </p:cNvPr>
          <p:cNvSpPr>
            <a:spLocks noGrp="1"/>
          </p:cNvSpPr>
          <p:nvPr>
            <p:ph type="ctrTitle"/>
          </p:nvPr>
        </p:nvSpPr>
        <p:spPr/>
        <p:txBody>
          <a:bodyPr/>
          <a:lstStyle/>
          <a:p>
            <a:r>
              <a:rPr lang="en-US" dirty="0"/>
              <a:t>SimSpect defense specification reference</a:t>
            </a:r>
          </a:p>
        </p:txBody>
      </p:sp>
      <p:sp>
        <p:nvSpPr>
          <p:cNvPr id="3" name="Text Placeholder 2">
            <a:extLst>
              <a:ext uri="{FF2B5EF4-FFF2-40B4-BE49-F238E27FC236}">
                <a16:creationId xmlns:a16="http://schemas.microsoft.com/office/drawing/2014/main" id="{E636F7B0-CB7F-EB73-92B6-5D73104961D9}"/>
              </a:ext>
            </a:extLst>
          </p:cNvPr>
          <p:cNvSpPr>
            <a:spLocks noGrp="1"/>
          </p:cNvSpPr>
          <p:nvPr>
            <p:ph type="body" sz="quarter" idx="18"/>
          </p:nvPr>
        </p:nvSpPr>
        <p:spPr/>
        <p:txBody>
          <a:bodyPr/>
          <a:lstStyle/>
          <a:p>
            <a:r>
              <a:rPr lang="en-US" dirty="0"/>
              <a:t> </a:t>
            </a:r>
          </a:p>
        </p:txBody>
      </p:sp>
      <p:sp>
        <p:nvSpPr>
          <p:cNvPr id="4" name="Subtitle 3">
            <a:extLst>
              <a:ext uri="{FF2B5EF4-FFF2-40B4-BE49-F238E27FC236}">
                <a16:creationId xmlns:a16="http://schemas.microsoft.com/office/drawing/2014/main" id="{A8D5BC3D-9017-1BC4-72D8-218E18918030}"/>
              </a:ext>
            </a:extLst>
          </p:cNvPr>
          <p:cNvSpPr>
            <a:spLocks noGrp="1"/>
          </p:cNvSpPr>
          <p:nvPr>
            <p:ph type="subTitle" idx="1"/>
          </p:nvPr>
        </p:nvSpPr>
        <p:spPr/>
        <p:txBody>
          <a:bodyPr/>
          <a:lstStyle/>
          <a:p>
            <a:r>
              <a:rPr lang="en-US" spc="0" dirty="0"/>
              <a:t>Guide to defense implementations in SimSpect formal language and model notes </a:t>
            </a:r>
          </a:p>
        </p:txBody>
      </p:sp>
    </p:spTree>
    <p:extLst>
      <p:ext uri="{BB962C8B-B14F-4D97-AF65-F5344CB8AC3E}">
        <p14:creationId xmlns:p14="http://schemas.microsoft.com/office/powerpoint/2010/main" val="1544788280"/>
      </p:ext>
    </p:extLst>
  </p:cSld>
  <p:clrMapOvr>
    <a:masterClrMapping/>
  </p:clrMapOvr>
  <p:transition spd="slow" advTm="5877">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D490-BB27-AD74-B3CD-16E9AC064930}"/>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48F64DCC-A90B-FB2D-44F5-C6BAAE256E5D}"/>
              </a:ext>
            </a:extLst>
          </p:cNvPr>
          <p:cNvSpPr>
            <a:spLocks noGrp="1"/>
          </p:cNvSpPr>
          <p:nvPr>
            <p:ph sz="quarter" idx="10"/>
          </p:nvPr>
        </p:nvSpPr>
        <p:spPr>
          <a:xfrm>
            <a:off x="955677" y="1051100"/>
            <a:ext cx="7700963" cy="4092399"/>
          </a:xfrm>
        </p:spPr>
        <p:txBody>
          <a:bodyPr>
            <a:normAutofit fontScale="70000" lnSpcReduction="20000"/>
          </a:bodyPr>
          <a:lstStyle/>
          <a:p>
            <a:r>
              <a:rPr lang="en-US" b="1" spc="0" dirty="0"/>
              <a:t>For each defense we outline:</a:t>
            </a:r>
          </a:p>
          <a:p>
            <a:pPr>
              <a:buFont typeface="Arial" panose="020B0604020202020204" pitchFamily="34" charset="0"/>
              <a:buChar char="•"/>
            </a:pPr>
            <a:r>
              <a:rPr lang="en-US" spc="0" dirty="0"/>
              <a:t>Defense overview and paper notes</a:t>
            </a:r>
          </a:p>
          <a:p>
            <a:pPr>
              <a:buFont typeface="Arial" panose="020B0604020202020204" pitchFamily="34" charset="0"/>
              <a:buChar char="•"/>
            </a:pPr>
            <a:r>
              <a:rPr lang="en-US" spc="0" dirty="0"/>
              <a:t>SimSpect specification of each defense variant</a:t>
            </a:r>
          </a:p>
          <a:p>
            <a:pPr>
              <a:buFont typeface="Arial" panose="020B0604020202020204" pitchFamily="34" charset="0"/>
              <a:buChar char="•"/>
            </a:pPr>
            <a:r>
              <a:rPr lang="en-US" spc="0" dirty="0"/>
              <a:t>Implementation notes and mechanisms to exercise in test generation</a:t>
            </a:r>
          </a:p>
          <a:p>
            <a:pPr>
              <a:buFont typeface="Arial" panose="020B0604020202020204" pitchFamily="34" charset="0"/>
              <a:buChar char="•"/>
            </a:pPr>
            <a:r>
              <a:rPr lang="en-US" spc="0" dirty="0"/>
              <a:t>Known bugs (if applicable)</a:t>
            </a:r>
          </a:p>
          <a:p>
            <a:pPr>
              <a:buFont typeface="Arial" panose="020B0604020202020204" pitchFamily="34" charset="0"/>
              <a:buChar char="•"/>
            </a:pPr>
            <a:endParaRPr lang="en-US" spc="0" dirty="0"/>
          </a:p>
          <a:p>
            <a:pPr marL="0" indent="0"/>
            <a:r>
              <a:rPr lang="en-US" b="1" spc="0" dirty="0"/>
              <a:t>Defenses:</a:t>
            </a:r>
          </a:p>
          <a:p>
            <a:pPr>
              <a:buFont typeface="Arial" panose="020B0604020202020204" pitchFamily="34" charset="0"/>
              <a:buChar char="•"/>
            </a:pPr>
            <a:r>
              <a:rPr lang="en-US" spc="0" dirty="0">
                <a:hlinkClick r:id="rId2" action="ppaction://hlinksldjump"/>
              </a:rPr>
              <a:t>STT</a:t>
            </a:r>
            <a:r>
              <a:rPr lang="en-US" spc="0" dirty="0"/>
              <a:t>     </a:t>
            </a:r>
            <a:r>
              <a:rPr lang="en-US" spc="0" dirty="0">
                <a:solidFill>
                  <a:srgbClr val="0070C0"/>
                </a:solidFill>
                <a:hlinkClick r:id="rId3">
                  <a:extLst>
                    <a:ext uri="{A12FA001-AC4F-418D-AE19-62706E023703}">
                      <ahyp:hlinkClr xmlns:ahyp="http://schemas.microsoft.com/office/drawing/2018/hyperlinkcolor" val="tx"/>
                    </a:ext>
                  </a:extLst>
                </a:hlinkClick>
              </a:rPr>
              <a:t>[Yu+, MICRO ’19]</a:t>
            </a:r>
            <a:endParaRPr lang="en-US" spc="0" dirty="0">
              <a:solidFill>
                <a:srgbClr val="0070C0"/>
              </a:solidFill>
            </a:endParaRPr>
          </a:p>
          <a:p>
            <a:pPr>
              <a:buFont typeface="Arial" panose="020B0604020202020204" pitchFamily="34" charset="0"/>
              <a:buChar char="•"/>
            </a:pPr>
            <a:r>
              <a:rPr lang="en-US" spc="0" dirty="0">
                <a:hlinkClick r:id="rId4" action="ppaction://hlinksldjump"/>
              </a:rPr>
              <a:t>SpecShield</a:t>
            </a:r>
            <a:r>
              <a:rPr lang="en-US" spc="0" dirty="0"/>
              <a:t>     </a:t>
            </a:r>
            <a:r>
              <a:rPr lang="en-US" spc="0" dirty="0">
                <a:solidFill>
                  <a:srgbClr val="0070C0"/>
                </a:solidFill>
                <a:hlinkClick r:id="rId5">
                  <a:extLst>
                    <a:ext uri="{A12FA001-AC4F-418D-AE19-62706E023703}">
                      <ahyp:hlinkClr xmlns:ahyp="http://schemas.microsoft.com/office/drawing/2018/hyperlinkcolor" val="tx"/>
                    </a:ext>
                  </a:extLst>
                </a:hlinkClick>
              </a:rPr>
              <a:t>[Barber+, PACT ’19]</a:t>
            </a:r>
            <a:endParaRPr lang="en-US" spc="0" dirty="0">
              <a:solidFill>
                <a:srgbClr val="0070C0"/>
              </a:solidFill>
            </a:endParaRPr>
          </a:p>
          <a:p>
            <a:pPr>
              <a:buFont typeface="Arial" panose="020B0604020202020204" pitchFamily="34" charset="0"/>
              <a:buChar char="•"/>
            </a:pPr>
            <a:r>
              <a:rPr lang="en-US" spc="0" dirty="0">
                <a:hlinkClick r:id="rId6" action="ppaction://hlinksldjump"/>
              </a:rPr>
              <a:t>NDA</a:t>
            </a:r>
            <a:r>
              <a:rPr lang="en-US" spc="0" dirty="0"/>
              <a:t>     </a:t>
            </a:r>
            <a:r>
              <a:rPr lang="en-US" spc="0" dirty="0">
                <a:solidFill>
                  <a:srgbClr val="0070C0"/>
                </a:solidFill>
                <a:hlinkClick r:id="rId7">
                  <a:extLst>
                    <a:ext uri="{A12FA001-AC4F-418D-AE19-62706E023703}">
                      <ahyp:hlinkClr xmlns:ahyp="http://schemas.microsoft.com/office/drawing/2018/hyperlinkcolor" val="tx"/>
                    </a:ext>
                  </a:extLst>
                </a:hlinkClick>
              </a:rPr>
              <a:t>[Weisse+, MICRO ’19]</a:t>
            </a:r>
            <a:endParaRPr lang="en-US" spc="0" dirty="0">
              <a:solidFill>
                <a:srgbClr val="0070C0"/>
              </a:solidFill>
            </a:endParaRPr>
          </a:p>
          <a:p>
            <a:pPr>
              <a:buFont typeface="Arial" panose="020B0604020202020204" pitchFamily="34" charset="0"/>
              <a:buChar char="•"/>
            </a:pPr>
            <a:r>
              <a:rPr lang="en-US" spc="0" dirty="0">
                <a:hlinkClick r:id="rId8" action="ppaction://hlinksldjump"/>
              </a:rPr>
              <a:t>Delay-on-Miss </a:t>
            </a:r>
            <a:r>
              <a:rPr lang="en-US" spc="0" dirty="0"/>
              <a:t>    </a:t>
            </a:r>
            <a:r>
              <a:rPr lang="en-US" spc="0" dirty="0">
                <a:solidFill>
                  <a:srgbClr val="0070C0"/>
                </a:solidFill>
                <a:hlinkClick r:id="rId9">
                  <a:extLst>
                    <a:ext uri="{A12FA001-AC4F-418D-AE19-62706E023703}">
                      <ahyp:hlinkClr xmlns:ahyp="http://schemas.microsoft.com/office/drawing/2018/hyperlinkcolor" val="tx"/>
                    </a:ext>
                  </a:extLst>
                </a:hlinkClick>
              </a:rPr>
              <a:t>[Sakalis+, ISCA ’19]</a:t>
            </a:r>
            <a:endParaRPr lang="en-US" spc="0" dirty="0">
              <a:solidFill>
                <a:srgbClr val="0070C0"/>
              </a:solidFill>
            </a:endParaRPr>
          </a:p>
          <a:p>
            <a:pPr>
              <a:buFont typeface="Arial" panose="020B0604020202020204" pitchFamily="34" charset="0"/>
              <a:buChar char="•"/>
            </a:pPr>
            <a:r>
              <a:rPr lang="en-US" spc="0" dirty="0">
                <a:hlinkClick r:id="rId10" action="ppaction://hlinksldjump"/>
              </a:rPr>
              <a:t>SDO</a:t>
            </a:r>
            <a:r>
              <a:rPr lang="en-US" spc="0" dirty="0"/>
              <a:t>      </a:t>
            </a:r>
            <a:r>
              <a:rPr lang="en-US" spc="0" dirty="0">
                <a:solidFill>
                  <a:srgbClr val="0070C0"/>
                </a:solidFill>
                <a:hlinkClick r:id="rId11">
                  <a:extLst>
                    <a:ext uri="{A12FA001-AC4F-418D-AE19-62706E023703}">
                      <ahyp:hlinkClr xmlns:ahyp="http://schemas.microsoft.com/office/drawing/2018/hyperlinkcolor" val="tx"/>
                    </a:ext>
                  </a:extLst>
                </a:hlinkClick>
              </a:rPr>
              <a:t>[Yu+, ISCA ’20]</a:t>
            </a:r>
            <a:endParaRPr lang="en-US" spc="0" dirty="0">
              <a:solidFill>
                <a:srgbClr val="0070C0"/>
              </a:solidFill>
            </a:endParaRPr>
          </a:p>
          <a:p>
            <a:pPr>
              <a:buFont typeface="Arial" panose="020B0604020202020204" pitchFamily="34" charset="0"/>
              <a:buChar char="•"/>
            </a:pPr>
            <a:r>
              <a:rPr lang="en-US" spc="0" dirty="0">
                <a:hlinkClick r:id="rId12" action="ppaction://hlinksldjump"/>
              </a:rPr>
              <a:t>SPT</a:t>
            </a:r>
            <a:r>
              <a:rPr lang="en-US" spc="0" dirty="0"/>
              <a:t>     </a:t>
            </a:r>
            <a:r>
              <a:rPr lang="en-US" spc="0" dirty="0">
                <a:solidFill>
                  <a:srgbClr val="0070C0"/>
                </a:solidFill>
                <a:hlinkClick r:id="rId13">
                  <a:extLst>
                    <a:ext uri="{A12FA001-AC4F-418D-AE19-62706E023703}">
                      <ahyp:hlinkClr xmlns:ahyp="http://schemas.microsoft.com/office/drawing/2018/hyperlinkcolor" val="tx"/>
                    </a:ext>
                  </a:extLst>
                </a:hlinkClick>
              </a:rPr>
              <a:t>[Choudhary+, MICRO ’21]</a:t>
            </a:r>
            <a:endParaRPr lang="en-US" spc="0" dirty="0">
              <a:solidFill>
                <a:srgbClr val="0070C0"/>
              </a:solidFill>
            </a:endParaRPr>
          </a:p>
          <a:p>
            <a:pPr>
              <a:buFont typeface="Arial" panose="020B0604020202020204" pitchFamily="34" charset="0"/>
              <a:buChar char="•"/>
            </a:pPr>
            <a:r>
              <a:rPr lang="en-US" spc="0" dirty="0">
                <a:hlinkClick r:id="rId14" action="ppaction://hlinksldjump"/>
              </a:rPr>
              <a:t>Recon</a:t>
            </a:r>
            <a:r>
              <a:rPr lang="en-US" spc="0" dirty="0"/>
              <a:t>     </a:t>
            </a:r>
            <a:r>
              <a:rPr lang="en-US" spc="0" dirty="0">
                <a:solidFill>
                  <a:srgbClr val="0070C0"/>
                </a:solidFill>
                <a:hlinkClick r:id="rId15">
                  <a:extLst>
                    <a:ext uri="{A12FA001-AC4F-418D-AE19-62706E023703}">
                      <ahyp:hlinkClr xmlns:ahyp="http://schemas.microsoft.com/office/drawing/2018/hyperlinkcolor" val="tx"/>
                    </a:ext>
                  </a:extLst>
                </a:hlinkClick>
              </a:rPr>
              <a:t>[Aimoniotus+, MICRO ’23]</a:t>
            </a:r>
            <a:endParaRPr lang="en-US" spc="0" dirty="0">
              <a:solidFill>
                <a:srgbClr val="0070C0"/>
              </a:solidFill>
            </a:endParaRPr>
          </a:p>
          <a:p>
            <a:pPr>
              <a:buFont typeface="Arial" panose="020B0604020202020204" pitchFamily="34" charset="0"/>
              <a:buChar char="•"/>
            </a:pPr>
            <a:r>
              <a:rPr lang="en-US" spc="0" dirty="0">
                <a:solidFill>
                  <a:schemeClr val="bg2"/>
                </a:solidFill>
                <a:hlinkClick r:id="rId16" action="ppaction://hlinksldjump">
                  <a:extLst>
                    <a:ext uri="{A12FA001-AC4F-418D-AE19-62706E023703}">
                      <ahyp:hlinkClr xmlns:ahyp="http://schemas.microsoft.com/office/drawing/2018/hyperlinkcolor" val="tx"/>
                    </a:ext>
                  </a:extLst>
                </a:hlinkClick>
              </a:rPr>
              <a:t>Doppelgänger loads </a:t>
            </a:r>
            <a:r>
              <a:rPr lang="en-US" spc="0" dirty="0">
                <a:solidFill>
                  <a:schemeClr val="bg2"/>
                </a:solidFill>
              </a:rPr>
              <a:t>    </a:t>
            </a:r>
            <a:r>
              <a:rPr lang="en-US" spc="0" dirty="0">
                <a:solidFill>
                  <a:srgbClr val="0070C0"/>
                </a:solidFill>
                <a:hlinkClick r:id="rId17">
                  <a:extLst>
                    <a:ext uri="{A12FA001-AC4F-418D-AE19-62706E023703}">
                      <ahyp:hlinkClr xmlns:ahyp="http://schemas.microsoft.com/office/drawing/2018/hyperlinkcolor" val="tx"/>
                    </a:ext>
                  </a:extLst>
                </a:hlinkClick>
              </a:rPr>
              <a:t>[Kvalsvik+, ISCA ’23]</a:t>
            </a:r>
            <a:endParaRPr lang="en-US" spc="0" dirty="0">
              <a:solidFill>
                <a:srgbClr val="0070C0"/>
              </a:solidFill>
            </a:endParaRPr>
          </a:p>
          <a:p>
            <a:pPr>
              <a:buFont typeface="Arial" panose="020B0604020202020204" pitchFamily="34" charset="0"/>
              <a:buChar char="•"/>
            </a:pPr>
            <a:r>
              <a:rPr lang="en-US" spc="0" dirty="0"/>
              <a:t>Protean</a:t>
            </a:r>
          </a:p>
          <a:p>
            <a:pPr>
              <a:buFont typeface="Arial" panose="020B0604020202020204" pitchFamily="34" charset="0"/>
              <a:buChar char="•"/>
            </a:pPr>
            <a:endParaRPr lang="en-US" spc="0" dirty="0">
              <a:solidFill>
                <a:srgbClr val="0070C0"/>
              </a:solidFill>
            </a:endParaRPr>
          </a:p>
          <a:p>
            <a:pPr marL="0" indent="0"/>
            <a:r>
              <a:rPr lang="en-US" b="1" spc="0" dirty="0"/>
              <a:t>Non-applicable defenses</a:t>
            </a:r>
          </a:p>
          <a:p>
            <a:pPr marL="285750" indent="-285750">
              <a:buFont typeface="Arial" panose="020B0604020202020204" pitchFamily="34" charset="0"/>
              <a:buChar char="•"/>
            </a:pPr>
            <a:r>
              <a:rPr lang="en-US" spc="0" dirty="0"/>
              <a:t>Under construction</a:t>
            </a:r>
          </a:p>
          <a:p>
            <a:endParaRPr lang="en-US" dirty="0"/>
          </a:p>
        </p:txBody>
      </p:sp>
      <p:sp>
        <p:nvSpPr>
          <p:cNvPr id="4" name="Slide Number Placeholder 3">
            <a:extLst>
              <a:ext uri="{FF2B5EF4-FFF2-40B4-BE49-F238E27FC236}">
                <a16:creationId xmlns:a16="http://schemas.microsoft.com/office/drawing/2014/main" id="{C8FF5A7D-26F9-0A0A-C268-CBA011B93ED5}"/>
              </a:ext>
            </a:extLst>
          </p:cNvPr>
          <p:cNvSpPr>
            <a:spLocks noGrp="1"/>
          </p:cNvSpPr>
          <p:nvPr>
            <p:ph type="sldNum" sz="quarter" idx="4"/>
          </p:nvPr>
        </p:nvSpPr>
        <p:spPr/>
        <p:txBody>
          <a:bodyPr/>
          <a:lstStyle/>
          <a:p>
            <a:pPr>
              <a:defRPr/>
            </a:pPr>
            <a:fld id="{C8580F89-A3EA-CF4C-A13C-CD8A0A8D4F14}" type="slidenum">
              <a:rPr lang="en-US" smtClean="0"/>
              <a:pPr>
                <a:defRPr/>
              </a:pPr>
              <a:t>2</a:t>
            </a:fld>
            <a:endParaRPr lang="en-US" dirty="0"/>
          </a:p>
        </p:txBody>
      </p:sp>
    </p:spTree>
    <p:extLst>
      <p:ext uri="{BB962C8B-B14F-4D97-AF65-F5344CB8AC3E}">
        <p14:creationId xmlns:p14="http://schemas.microsoft.com/office/powerpoint/2010/main" val="312059015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64AD-3261-B909-7AAC-84F6331A0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5AD18-2E3F-6E23-11D8-B412F87D7197}"/>
              </a:ext>
            </a:extLst>
          </p:cNvPr>
          <p:cNvSpPr>
            <a:spLocks noGrp="1"/>
          </p:cNvSpPr>
          <p:nvPr>
            <p:ph type="title"/>
          </p:nvPr>
        </p:nvSpPr>
        <p:spPr/>
        <p:txBody>
          <a:bodyPr/>
          <a:lstStyle/>
          <a:p>
            <a:r>
              <a:rPr lang="en-US" dirty="0"/>
              <a:t>Simple alloy model</a:t>
            </a:r>
          </a:p>
        </p:txBody>
      </p:sp>
      <p:sp>
        <p:nvSpPr>
          <p:cNvPr id="3" name="Content Placeholder 2">
            <a:extLst>
              <a:ext uri="{FF2B5EF4-FFF2-40B4-BE49-F238E27FC236}">
                <a16:creationId xmlns:a16="http://schemas.microsoft.com/office/drawing/2014/main" id="{3F832F2C-9CC8-EFD2-3822-6CAA1EC2533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 Leakage contract, and Execution contract</a:t>
            </a:r>
          </a:p>
          <a:p>
            <a:pPr lvl="2">
              <a:buFont typeface="Arial" panose="020B0604020202020204" pitchFamily="34" charset="0"/>
              <a:buChar char="•"/>
            </a:pPr>
            <a:r>
              <a:rPr lang="en-US" dirty="0"/>
              <a:t>Relaxations remove instructions, memory/registers, connecting edges from the model</a:t>
            </a:r>
          </a:p>
          <a:p>
            <a:pPr lvl="2">
              <a:buFont typeface="Arial" panose="020B0604020202020204" pitchFamily="34" charset="0"/>
              <a:buChar char="•"/>
            </a:pPr>
            <a:r>
              <a:rPr lang="en-US" dirty="0"/>
              <a:t>Have generic speculation primitives, transmitters</a:t>
            </a:r>
          </a:p>
          <a:p>
            <a:pPr lvl="2">
              <a:buFont typeface="Arial" panose="020B0604020202020204" pitchFamily="34" charset="0"/>
              <a:buChar char="•"/>
            </a:pPr>
            <a:r>
              <a:rPr lang="en-US" dirty="0"/>
              <a:t>Base of GLIFT-style information flow tracking to conservatively measure protection set propagation through the model</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5A64021-98C5-6FBA-C267-2394B15ED674}"/>
              </a:ext>
            </a:extLst>
          </p:cNvPr>
          <p:cNvSpPr>
            <a:spLocks noGrp="1"/>
          </p:cNvSpPr>
          <p:nvPr>
            <p:ph type="sldNum" sz="quarter" idx="4"/>
          </p:nvPr>
        </p:nvSpPr>
        <p:spPr/>
        <p:txBody>
          <a:bodyPr/>
          <a:lstStyle/>
          <a:p>
            <a:pPr>
              <a:defRPr/>
            </a:pPr>
            <a:fld id="{C8580F89-A3EA-CF4C-A13C-CD8A0A8D4F14}" type="slidenum">
              <a:rPr lang="en-US" smtClean="0"/>
              <a:pPr>
                <a:defRPr/>
              </a:pPr>
              <a:t>3</a:t>
            </a:fld>
            <a:endParaRPr lang="en-US" dirty="0"/>
          </a:p>
        </p:txBody>
      </p:sp>
    </p:spTree>
    <p:extLst>
      <p:ext uri="{BB962C8B-B14F-4D97-AF65-F5344CB8AC3E}">
        <p14:creationId xmlns:p14="http://schemas.microsoft.com/office/powerpoint/2010/main" val="9445409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EF9D1-4D44-0080-42BC-742D49C8CC95}"/>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08FA05F8-C34B-5F2D-CB4D-4AC52AB256C3}"/>
              </a:ext>
            </a:extLst>
          </p:cNvPr>
          <p:cNvSpPr>
            <a:spLocks noGrp="1"/>
          </p:cNvSpPr>
          <p:nvPr>
            <p:ph sz="quarter" idx="10"/>
          </p:nvPr>
        </p:nvSpPr>
        <p:spPr/>
        <p:txBody>
          <a:bodyPr/>
          <a:lstStyle/>
          <a:p>
            <a:pPr>
              <a:buFont typeface="Arial" panose="020B0604020202020204" pitchFamily="34" charset="0"/>
              <a:buChar char="•"/>
            </a:pPr>
            <a:r>
              <a:rPr lang="en-US" dirty="0"/>
              <a:t>Left Booleans out of . logic for readability</a:t>
            </a:r>
          </a:p>
          <a:p>
            <a:pPr>
              <a:buFont typeface="Arial" panose="020B0604020202020204" pitchFamily="34" charset="0"/>
              <a:buChar char="•"/>
            </a:pPr>
            <a:r>
              <a:rPr lang="en-US" dirty="0"/>
              <a:t>Branch ctrl discrimination</a:t>
            </a:r>
          </a:p>
          <a:p>
            <a:pPr>
              <a:buFont typeface="Arial" panose="020B0604020202020204" pitchFamily="34" charset="0"/>
              <a:buChar char="•"/>
            </a:pPr>
            <a:r>
              <a:rPr lang="en-US" dirty="0"/>
              <a:t>Taint tracking – how to represent STT register declassification </a:t>
            </a:r>
          </a:p>
          <a:p>
            <a:pPr>
              <a:buFont typeface="Arial" panose="020B0604020202020204" pitchFamily="34" charset="0"/>
              <a:buChar char="•"/>
            </a:pPr>
            <a:r>
              <a:rPr lang="en-US" dirty="0"/>
              <a:t>Questions:</a:t>
            </a:r>
          </a:p>
          <a:p>
            <a:pPr lvl="2">
              <a:buFont typeface="Arial" panose="020B0604020202020204" pitchFamily="34" charset="0"/>
              <a:buChar char="•"/>
            </a:pPr>
            <a:r>
              <a:rPr lang="en-US" dirty="0"/>
              <a:t>STL forwarding not directly handled by any defense</a:t>
            </a:r>
          </a:p>
          <a:p>
            <a:pPr lvl="2">
              <a:buFont typeface="Arial" panose="020B0604020202020204" pitchFamily="34" charset="0"/>
              <a:buChar char="•"/>
            </a:pPr>
            <a:r>
              <a:rPr lang="en-US" dirty="0"/>
              <a:t>Control speculation primitives not directly handled</a:t>
            </a:r>
          </a:p>
          <a:p>
            <a:pPr lvl="2">
              <a:buFont typeface="Arial" panose="020B0604020202020204" pitchFamily="34" charset="0"/>
              <a:buChar char="•"/>
            </a:pPr>
            <a:r>
              <a:rPr lang="en-US" dirty="0"/>
              <a:t>Defining DoM execution contract</a:t>
            </a:r>
          </a:p>
        </p:txBody>
      </p:sp>
      <p:sp>
        <p:nvSpPr>
          <p:cNvPr id="4" name="Slide Number Placeholder 3">
            <a:extLst>
              <a:ext uri="{FF2B5EF4-FFF2-40B4-BE49-F238E27FC236}">
                <a16:creationId xmlns:a16="http://schemas.microsoft.com/office/drawing/2014/main" id="{A0FCE8D1-3F13-B54B-308E-06384011C0BB}"/>
              </a:ext>
            </a:extLst>
          </p:cNvPr>
          <p:cNvSpPr>
            <a:spLocks noGrp="1"/>
          </p:cNvSpPr>
          <p:nvPr>
            <p:ph type="sldNum" sz="quarter" idx="4"/>
          </p:nvPr>
        </p:nvSpPr>
        <p:spPr/>
        <p:txBody>
          <a:bodyPr/>
          <a:lstStyle/>
          <a:p>
            <a:pPr>
              <a:defRPr/>
            </a:pPr>
            <a:fld id="{C8580F89-A3EA-CF4C-A13C-CD8A0A8D4F14}" type="slidenum">
              <a:rPr lang="en-US" smtClean="0"/>
              <a:pPr>
                <a:defRPr/>
              </a:pPr>
              <a:t>4</a:t>
            </a:fld>
            <a:endParaRPr lang="en-US" dirty="0"/>
          </a:p>
        </p:txBody>
      </p:sp>
    </p:spTree>
    <p:extLst>
      <p:ext uri="{BB962C8B-B14F-4D97-AF65-F5344CB8AC3E}">
        <p14:creationId xmlns:p14="http://schemas.microsoft.com/office/powerpoint/2010/main" val="374860022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C42B-7580-DEE4-C0F8-A3F057436707}"/>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DD4C6B7E-7D06-E38E-1E9A-4CDDE70B8FA3}"/>
              </a:ext>
            </a:extLst>
          </p:cNvPr>
          <p:cNvSpPr>
            <a:spLocks noGrp="1"/>
          </p:cNvSpPr>
          <p:nvPr>
            <p:ph sz="quarter" idx="10"/>
          </p:nvPr>
        </p:nvSpPr>
        <p:spPr/>
        <p:txBody>
          <a:bodyPr/>
          <a:lstStyle/>
          <a:p>
            <a:pPr>
              <a:buFont typeface="Arial" panose="020B0604020202020204" pitchFamily="34" charset="0"/>
              <a:buChar char="•"/>
            </a:pPr>
            <a:r>
              <a:rPr lang="en-US" dirty="0"/>
              <a:t>Define STT weak SNI definition for security contract</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67D032F-CDF1-4B7D-A468-9B24D4C877A4}"/>
              </a:ext>
            </a:extLst>
          </p:cNvPr>
          <p:cNvSpPr>
            <a:spLocks noGrp="1"/>
          </p:cNvSpPr>
          <p:nvPr>
            <p:ph type="sldNum" sz="quarter" idx="4"/>
          </p:nvPr>
        </p:nvSpPr>
        <p:spPr/>
        <p:txBody>
          <a:bodyPr/>
          <a:lstStyle/>
          <a:p>
            <a:pPr>
              <a:defRPr/>
            </a:pPr>
            <a:fld id="{C8580F89-A3EA-CF4C-A13C-CD8A0A8D4F14}" type="slidenum">
              <a:rPr lang="en-US" smtClean="0"/>
              <a:pPr>
                <a:defRPr/>
              </a:pPr>
              <a:t>5</a:t>
            </a:fld>
            <a:endParaRPr lang="en-US" dirty="0"/>
          </a:p>
        </p:txBody>
      </p:sp>
    </p:spTree>
    <p:extLst>
      <p:ext uri="{BB962C8B-B14F-4D97-AF65-F5344CB8AC3E}">
        <p14:creationId xmlns:p14="http://schemas.microsoft.com/office/powerpoint/2010/main" val="4949469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1BE7-223C-049A-DF33-9654A56171C6}"/>
              </a:ext>
            </a:extLst>
          </p:cNvPr>
          <p:cNvSpPr>
            <a:spLocks noGrp="1"/>
          </p:cNvSpPr>
          <p:nvPr>
            <p:ph type="title"/>
          </p:nvPr>
        </p:nvSpPr>
        <p:spPr/>
        <p:txBody>
          <a:bodyPr/>
          <a:lstStyle/>
          <a:p>
            <a:r>
              <a:rPr lang="en-US" dirty="0"/>
              <a:t>Model</a:t>
            </a:r>
          </a:p>
        </p:txBody>
      </p:sp>
      <p:sp>
        <p:nvSpPr>
          <p:cNvPr id="3" name="Content Placeholder 2">
            <a:extLst>
              <a:ext uri="{FF2B5EF4-FFF2-40B4-BE49-F238E27FC236}">
                <a16:creationId xmlns:a16="http://schemas.microsoft.com/office/drawing/2014/main" id="{924B66D9-E02F-4837-2F2C-F5AA0FC55F61}"/>
              </a:ext>
            </a:extLst>
          </p:cNvPr>
          <p:cNvSpPr>
            <a:spLocks noGrp="1"/>
          </p:cNvSpPr>
          <p:nvPr>
            <p:ph sz="quarter" idx="10"/>
          </p:nvPr>
        </p:nvSpPr>
        <p:spPr/>
        <p:txBody>
          <a:bodyPr numCol="2">
            <a:normAutofit/>
          </a:bodyPr>
          <a:lstStyle/>
          <a:p>
            <a:r>
              <a:rPr lang="en-US" sz="1600" dirty="0"/>
              <a:t>Nodes:</a:t>
            </a:r>
          </a:p>
          <a:p>
            <a:pPr marL="285750" indent="-285750">
              <a:buFont typeface="Arial" panose="020B0604020202020204" pitchFamily="34" charset="0"/>
              <a:buChar char="•"/>
            </a:pPr>
            <a:r>
              <a:rPr lang="en-US" sz="1600" dirty="0"/>
              <a:t>Instructions: </a:t>
            </a:r>
            <a:r>
              <a:rPr lang="en-US" sz="1600" dirty="0" err="1"/>
              <a:t>xmit</a:t>
            </a:r>
            <a:r>
              <a:rPr lang="en-US" sz="1600" baseline="-25000" dirty="0" err="1"/>
              <a:t>nonmem</a:t>
            </a:r>
            <a:r>
              <a:rPr lang="en-US" sz="1600" dirty="0"/>
              <a:t>, </a:t>
            </a:r>
            <a:r>
              <a:rPr lang="en-US" sz="1600" dirty="0" err="1"/>
              <a:t>ld</a:t>
            </a:r>
            <a:r>
              <a:rPr lang="en-US" sz="1600" dirty="0"/>
              <a:t>, str, </a:t>
            </a:r>
            <a:r>
              <a:rPr lang="en-US" sz="1600" dirty="0" err="1"/>
              <a:t>br</a:t>
            </a:r>
            <a:r>
              <a:rPr lang="en-US" sz="1600" dirty="0"/>
              <a:t>, other, (ctrl?)</a:t>
            </a:r>
          </a:p>
          <a:p>
            <a:pPr marL="285750" indent="-285750">
              <a:buFont typeface="Arial" panose="020B0604020202020204" pitchFamily="34" charset="0"/>
              <a:buChar char="•"/>
            </a:pPr>
            <a:r>
              <a:rPr lang="en-US" sz="1600" dirty="0"/>
              <a:t>State: reg, mem</a:t>
            </a:r>
          </a:p>
          <a:p>
            <a:pPr marL="0" indent="0"/>
            <a:r>
              <a:rPr lang="en-US" sz="1600" dirty="0"/>
              <a:t>Booleans:</a:t>
            </a:r>
          </a:p>
          <a:p>
            <a:pPr marL="285750" indent="-285750">
              <a:buFont typeface="Arial" panose="020B0604020202020204" pitchFamily="34" charset="0"/>
              <a:buChar char="•"/>
            </a:pPr>
            <a:r>
              <a:rPr lang="en-US" sz="1600" dirty="0"/>
              <a:t>Committed (out of ROB, non-spec)</a:t>
            </a:r>
          </a:p>
          <a:p>
            <a:pPr marL="512763" lvl="2" indent="-285750">
              <a:buFont typeface="Arial" panose="020B0604020202020204" pitchFamily="34" charset="0"/>
              <a:buChar char="•"/>
            </a:pPr>
            <a:r>
              <a:rPr lang="en-US" sz="1600" dirty="0"/>
              <a:t>Contiguous at end of SPO</a:t>
            </a:r>
          </a:p>
          <a:p>
            <a:pPr marL="285750" indent="-285750">
              <a:buFont typeface="Arial" panose="020B0604020202020204" pitchFamily="34" charset="0"/>
              <a:buChar char="•"/>
            </a:pPr>
            <a:r>
              <a:rPr lang="en-US" sz="1600" dirty="0"/>
              <a:t>Resolved </a:t>
            </a:r>
          </a:p>
          <a:p>
            <a:pPr marL="512763" lvl="2" indent="-285750">
              <a:buFont typeface="Arial" panose="020B0604020202020204" pitchFamily="34" charset="0"/>
              <a:buChar char="•"/>
            </a:pPr>
            <a:r>
              <a:rPr lang="en-US" sz="1600" dirty="0"/>
              <a:t>Br knows target and condition</a:t>
            </a:r>
          </a:p>
          <a:p>
            <a:pPr marL="512763" lvl="2" indent="-285750">
              <a:buFont typeface="Arial" panose="020B0604020202020204" pitchFamily="34" charset="0"/>
              <a:buChar char="•"/>
            </a:pPr>
            <a:r>
              <a:rPr lang="en-US" sz="1600" dirty="0" err="1"/>
              <a:t>Ld</a:t>
            </a:r>
            <a:r>
              <a:rPr lang="en-US" sz="1600" dirty="0"/>
              <a:t> str know addr</a:t>
            </a:r>
          </a:p>
          <a:p>
            <a:pPr marL="285750" indent="-285750">
              <a:buFont typeface="Arial" panose="020B0604020202020204" pitchFamily="34" charset="0"/>
              <a:buChar char="•"/>
            </a:pPr>
            <a:r>
              <a:rPr lang="en-US" sz="1600" dirty="0"/>
              <a:t>Faulted</a:t>
            </a:r>
          </a:p>
          <a:p>
            <a:pPr marL="0" indent="0"/>
            <a:r>
              <a:rPr lang="en-US" sz="1600" dirty="0"/>
              <a:t>Edges:</a:t>
            </a:r>
          </a:p>
          <a:p>
            <a:pPr marL="285750" indent="-285750">
              <a:buFont typeface="Arial" panose="020B0604020202020204" pitchFamily="34" charset="0"/>
              <a:buChar char="•"/>
            </a:pPr>
            <a:r>
              <a:rPr lang="en-US" sz="1600" dirty="0"/>
              <a:t>Po: i-&gt;i</a:t>
            </a:r>
          </a:p>
          <a:p>
            <a:pPr marL="285750" indent="-285750">
              <a:buFont typeface="Arial" panose="020B0604020202020204" pitchFamily="34" charset="0"/>
              <a:buChar char="•"/>
            </a:pPr>
            <a:r>
              <a:rPr lang="en-US" sz="1600" dirty="0"/>
              <a:t>Spo: i-&gt;i</a:t>
            </a:r>
          </a:p>
          <a:p>
            <a:pPr marL="285750" indent="-285750">
              <a:buFont typeface="Arial" panose="020B0604020202020204" pitchFamily="34" charset="0"/>
              <a:buChar char="•"/>
            </a:pPr>
            <a:r>
              <a:rPr lang="en-US" sz="1600" dirty="0" err="1"/>
              <a:t>Rf_r</a:t>
            </a:r>
            <a:r>
              <a:rPr lang="en-US" sz="1600" dirty="0"/>
              <a:t>, </a:t>
            </a:r>
            <a:r>
              <a:rPr lang="en-US" sz="1600" dirty="0" err="1"/>
              <a:t>rf_m</a:t>
            </a:r>
            <a:r>
              <a:rPr lang="en-US" sz="1600" dirty="0"/>
              <a:t>, </a:t>
            </a:r>
            <a:r>
              <a:rPr lang="en-US" sz="1600" dirty="0" err="1"/>
              <a:t>co_r</a:t>
            </a:r>
            <a:r>
              <a:rPr lang="en-US" sz="1600" dirty="0"/>
              <a:t>, </a:t>
            </a:r>
            <a:r>
              <a:rPr lang="en-US" sz="1600" dirty="0" err="1"/>
              <a:t>co_m</a:t>
            </a:r>
            <a:r>
              <a:rPr lang="en-US" sz="1600" dirty="0"/>
              <a:t>, </a:t>
            </a:r>
            <a:r>
              <a:rPr lang="en-US" sz="1600" dirty="0" err="1"/>
              <a:t>fr_r</a:t>
            </a:r>
            <a:r>
              <a:rPr lang="en-US" sz="1600" dirty="0"/>
              <a:t>, </a:t>
            </a:r>
            <a:r>
              <a:rPr lang="en-US" sz="1600" dirty="0" err="1"/>
              <a:t>fr_m</a:t>
            </a:r>
            <a:r>
              <a:rPr lang="en-US" sz="1600" dirty="0"/>
              <a:t>: i-&gt;i</a:t>
            </a:r>
          </a:p>
          <a:p>
            <a:pPr marL="285750" indent="-285750">
              <a:buFont typeface="Arial" panose="020B0604020202020204" pitchFamily="34" charset="0"/>
              <a:buChar char="•"/>
            </a:pPr>
            <a:r>
              <a:rPr lang="en-US" sz="1600" dirty="0" err="1"/>
              <a:t>In_addr</a:t>
            </a:r>
            <a:r>
              <a:rPr lang="en-US" sz="1600" dirty="0"/>
              <a:t>, </a:t>
            </a:r>
            <a:r>
              <a:rPr lang="en-US" sz="1600" dirty="0" err="1"/>
              <a:t>in_reg</a:t>
            </a:r>
            <a:r>
              <a:rPr lang="en-US" sz="1600" dirty="0"/>
              <a:t>, </a:t>
            </a:r>
            <a:r>
              <a:rPr lang="en-US" sz="1600" dirty="0" err="1"/>
              <a:t>in_mem</a:t>
            </a:r>
            <a:r>
              <a:rPr lang="en-US" sz="1600" dirty="0"/>
              <a:t>, </a:t>
            </a:r>
            <a:r>
              <a:rPr lang="en-US" sz="1600" dirty="0" err="1"/>
              <a:t>out_reg</a:t>
            </a:r>
            <a:r>
              <a:rPr lang="en-US" sz="1600" dirty="0"/>
              <a:t>, </a:t>
            </a:r>
            <a:r>
              <a:rPr lang="en-US" sz="1600" dirty="0" err="1"/>
              <a:t>out_mem</a:t>
            </a:r>
            <a:r>
              <a:rPr lang="en-US" sz="1600" dirty="0"/>
              <a:t>: i-&gt;state</a:t>
            </a:r>
          </a:p>
          <a:p>
            <a:pPr marL="285750" indent="-285750">
              <a:buFont typeface="Arial" panose="020B0604020202020204" pitchFamily="34" charset="0"/>
              <a:buChar char="•"/>
            </a:pPr>
            <a:r>
              <a:rPr lang="en-US" sz="1600" dirty="0"/>
              <a:t>Bool: i-&gt;bool</a:t>
            </a:r>
          </a:p>
          <a:p>
            <a:pPr marL="285750" indent="-285750">
              <a:buFont typeface="Arial" panose="020B0604020202020204" pitchFamily="34" charset="0"/>
              <a:buChar char="•"/>
            </a:pPr>
            <a:endParaRPr lang="en-US" sz="1600" dirty="0"/>
          </a:p>
          <a:p>
            <a:pPr marL="0" indent="0"/>
            <a:endParaRPr lang="en-US" sz="1600" dirty="0"/>
          </a:p>
        </p:txBody>
      </p:sp>
      <p:sp>
        <p:nvSpPr>
          <p:cNvPr id="4" name="Slide Number Placeholder 3">
            <a:extLst>
              <a:ext uri="{FF2B5EF4-FFF2-40B4-BE49-F238E27FC236}">
                <a16:creationId xmlns:a16="http://schemas.microsoft.com/office/drawing/2014/main" id="{C556F408-F6BD-613D-6549-87A11A443488}"/>
              </a:ext>
            </a:extLst>
          </p:cNvPr>
          <p:cNvSpPr>
            <a:spLocks noGrp="1"/>
          </p:cNvSpPr>
          <p:nvPr>
            <p:ph type="sldNum" sz="quarter" idx="4"/>
          </p:nvPr>
        </p:nvSpPr>
        <p:spPr/>
        <p:txBody>
          <a:bodyPr/>
          <a:lstStyle/>
          <a:p>
            <a:pPr>
              <a:defRPr/>
            </a:pPr>
            <a:fld id="{C8580F89-A3EA-CF4C-A13C-CD8A0A8D4F14}" type="slidenum">
              <a:rPr lang="en-US" smtClean="0"/>
              <a:pPr>
                <a:defRPr/>
              </a:pPr>
              <a:t>6</a:t>
            </a:fld>
            <a:endParaRPr lang="en-US" dirty="0"/>
          </a:p>
        </p:txBody>
      </p:sp>
    </p:spTree>
    <p:extLst>
      <p:ext uri="{BB962C8B-B14F-4D97-AF65-F5344CB8AC3E}">
        <p14:creationId xmlns:p14="http://schemas.microsoft.com/office/powerpoint/2010/main" val="254153842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C0D7-7807-3B99-5A88-7F8FB50D9BA2}"/>
              </a:ext>
            </a:extLst>
          </p:cNvPr>
          <p:cNvSpPr>
            <a:spLocks noGrp="1"/>
          </p:cNvSpPr>
          <p:nvPr>
            <p:ph type="title"/>
          </p:nvPr>
        </p:nvSpPr>
        <p:spPr/>
        <p:txBody>
          <a:bodyPr/>
          <a:lstStyle/>
          <a:p>
            <a:r>
              <a:rPr lang="en-US" dirty="0"/>
              <a:t>Speculative Taint Tracking — MICRO ’19</a:t>
            </a:r>
          </a:p>
        </p:txBody>
      </p:sp>
      <p:sp>
        <p:nvSpPr>
          <p:cNvPr id="3" name="Content Placeholder 2">
            <a:extLst>
              <a:ext uri="{FF2B5EF4-FFF2-40B4-BE49-F238E27FC236}">
                <a16:creationId xmlns:a16="http://schemas.microsoft.com/office/drawing/2014/main" id="{DE9F65B7-DFBC-D9B5-D9B0-E56225F8A9B3}"/>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Defines explicit vs. implicit covert channels</a:t>
            </a:r>
          </a:p>
          <a:p>
            <a:pPr>
              <a:buFont typeface="Arial" panose="020B0604020202020204" pitchFamily="34" charset="0"/>
              <a:buChar char="•"/>
            </a:pPr>
            <a:r>
              <a:rPr lang="en-US" dirty="0"/>
              <a:t>Stalls </a:t>
            </a:r>
            <a:r>
              <a:rPr lang="en-US" b="1" dirty="0"/>
              <a:t>explicit</a:t>
            </a:r>
            <a:r>
              <a:rPr lang="en-US" dirty="0"/>
              <a:t> transmitters until youngest load whose return value influences data becomes nonspeculative </a:t>
            </a:r>
            <a:r>
              <a:rPr lang="en-US" b="1" dirty="0"/>
              <a:t>(YROT)</a:t>
            </a:r>
            <a:endParaRPr lang="en-US" dirty="0"/>
          </a:p>
          <a:p>
            <a:pPr>
              <a:buFont typeface="Arial" panose="020B0604020202020204" pitchFamily="34" charset="0"/>
              <a:buChar char="•"/>
            </a:pPr>
            <a:r>
              <a:rPr lang="en-US" dirty="0"/>
              <a:t>Blocks </a:t>
            </a:r>
            <a:r>
              <a:rPr lang="en-US" b="1" dirty="0"/>
              <a:t>implicit</a:t>
            </a:r>
            <a:r>
              <a:rPr lang="en-US" dirty="0"/>
              <a:t> </a:t>
            </a:r>
            <a:r>
              <a:rPr lang="en-US" b="1" dirty="0"/>
              <a:t>branch</a:t>
            </a:r>
            <a:r>
              <a:rPr lang="en-US" dirty="0"/>
              <a:t> </a:t>
            </a:r>
            <a:r>
              <a:rPr lang="en-US" b="1" dirty="0"/>
              <a:t>prediction</a:t>
            </a:r>
            <a:r>
              <a:rPr lang="en-US" dirty="0"/>
              <a:t> from operating as a function of tainted data</a:t>
            </a:r>
          </a:p>
          <a:p>
            <a:pPr>
              <a:buFont typeface="Arial" panose="020B0604020202020204" pitchFamily="34" charset="0"/>
              <a:buChar char="•"/>
            </a:pPr>
            <a:r>
              <a:rPr lang="en-US" dirty="0"/>
              <a:t>Blocks</a:t>
            </a:r>
            <a:r>
              <a:rPr lang="en-US" b="1" dirty="0"/>
              <a:t> implicit branch resolution </a:t>
            </a:r>
            <a:r>
              <a:rPr lang="en-US" dirty="0"/>
              <a:t>from transmitting until predicate is nonspeculative</a:t>
            </a:r>
          </a:p>
          <a:p>
            <a:pPr>
              <a:buFont typeface="Arial" panose="020B0604020202020204" pitchFamily="34" charset="0"/>
              <a:buChar char="•"/>
            </a:pPr>
            <a:r>
              <a:rPr lang="en-US" dirty="0"/>
              <a:t>Untaints the output of an access instruction when all older control flow instructions resolve (ctrl speculation) or when access instruction cannot be squashed (does this in 1 cycle)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27DB817-6C7E-22C5-4040-D58FB1C61DC2}"/>
              </a:ext>
            </a:extLst>
          </p:cNvPr>
          <p:cNvSpPr>
            <a:spLocks noGrp="1"/>
          </p:cNvSpPr>
          <p:nvPr>
            <p:ph type="sldNum" sz="quarter" idx="4"/>
          </p:nvPr>
        </p:nvSpPr>
        <p:spPr/>
        <p:txBody>
          <a:bodyPr/>
          <a:lstStyle/>
          <a:p>
            <a:pPr>
              <a:defRPr/>
            </a:pPr>
            <a:fld id="{C8580F89-A3EA-CF4C-A13C-CD8A0A8D4F14}" type="slidenum">
              <a:rPr lang="en-US" smtClean="0"/>
              <a:pPr>
                <a:defRPr/>
              </a:pPr>
              <a:t>7</a:t>
            </a:fld>
            <a:endParaRPr lang="en-US" dirty="0"/>
          </a:p>
        </p:txBody>
      </p:sp>
      <p:sp>
        <p:nvSpPr>
          <p:cNvPr id="7" name="Title 1">
            <a:extLst>
              <a:ext uri="{FF2B5EF4-FFF2-40B4-BE49-F238E27FC236}">
                <a16:creationId xmlns:a16="http://schemas.microsoft.com/office/drawing/2014/main" id="{ADC7FF54-189F-E062-DB7A-D0E109AD97E6}"/>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310724061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20"/>
          </a:schemeClr>
        </a:solidFill>
        <a:effectLst/>
      </p:bgPr>
    </p:bg>
    <p:spTree>
      <p:nvGrpSpPr>
        <p:cNvPr id="1" name="">
          <a:extLst>
            <a:ext uri="{FF2B5EF4-FFF2-40B4-BE49-F238E27FC236}">
              <a16:creationId xmlns:a16="http://schemas.microsoft.com/office/drawing/2014/main" id="{A40475AA-72FC-8273-9AD7-FC6A666300E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44576D4-AFA5-6AD9-08AB-6C1A3ED1D49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6E3693-644A-8549-7A66-E5BE3DB31446}"/>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A5397C12-6D86-DDD1-4423-E23456E0AF18}"/>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Mem (figure out weak SNI representation)</a:t>
            </a:r>
          </a:p>
          <a:p>
            <a:pPr>
              <a:buFont typeface="Arial" panose="020B0604020202020204" pitchFamily="34" charset="0"/>
              <a:buChar char="•"/>
            </a:pPr>
            <a:r>
              <a:rPr lang="en-US" b="1" dirty="0"/>
              <a:t>Leakage contract: </a:t>
            </a:r>
            <a:r>
              <a:rPr lang="en-US" dirty="0" err="1"/>
              <a:t>ld</a:t>
            </a:r>
            <a:r>
              <a:rPr lang="en-US" dirty="0"/>
              <a:t>-&gt;</a:t>
            </a:r>
            <a:r>
              <a:rPr lang="en-US" dirty="0" err="1"/>
              <a:t>in_addr</a:t>
            </a:r>
            <a:r>
              <a:rPr lang="en-US" dirty="0"/>
              <a:t>, </a:t>
            </a:r>
            <a:r>
              <a:rPr lang="en-US" dirty="0" err="1"/>
              <a:t>xmit</a:t>
            </a:r>
            <a:r>
              <a:rPr lang="en-US" baseline="-25000" dirty="0" err="1"/>
              <a:t>other</a:t>
            </a:r>
            <a:r>
              <a:rPr lang="en-US" dirty="0"/>
              <a:t>-&gt;</a:t>
            </a:r>
            <a:r>
              <a:rPr lang="en-US" dirty="0" err="1"/>
              <a:t>in_xmit</a:t>
            </a:r>
            <a:r>
              <a:rPr lang="en-US" dirty="0"/>
              <a:t>, </a:t>
            </a:r>
            <a:r>
              <a:rPr lang="en-US" dirty="0" err="1"/>
              <a:t>br</a:t>
            </a:r>
            <a:r>
              <a:rPr lang="en-US" dirty="0"/>
              <a:t>-&gt;</a:t>
            </a:r>
            <a:r>
              <a:rPr lang="en-US" dirty="0" err="1"/>
              <a:t>in_reg</a:t>
            </a:r>
            <a:endParaRPr lang="en-US" dirty="0"/>
          </a:p>
          <a:p>
            <a:pPr>
              <a:buFont typeface="Arial" panose="020B0604020202020204" pitchFamily="34" charset="0"/>
              <a:buChar char="•"/>
            </a:pPr>
            <a:r>
              <a:rPr lang="en-US" b="1" dirty="0"/>
              <a:t>Execution contract: </a:t>
            </a:r>
            <a:r>
              <a:rPr lang="en-US" dirty="0"/>
              <a:t>Architect-defined visibility point, definition of speculative:</a:t>
            </a:r>
          </a:p>
          <a:p>
            <a:pPr lvl="2">
              <a:buFont typeface="Arial" panose="020B0604020202020204" pitchFamily="34" charset="0"/>
              <a:buChar char="•"/>
            </a:pPr>
            <a:r>
              <a:rPr lang="en-US" dirty="0"/>
              <a:t>i not committed</a:t>
            </a:r>
          </a:p>
          <a:p>
            <a:pPr lvl="2">
              <a:buFont typeface="Arial" panose="020B0604020202020204" pitchFamily="34" charset="0"/>
              <a:buChar char="•"/>
            </a:pPr>
            <a:r>
              <a:rPr lang="en-US" dirty="0"/>
              <a:t>∄ </a:t>
            </a:r>
            <a:r>
              <a:rPr lang="en-US" dirty="0" err="1"/>
              <a:t>nonresolved</a:t>
            </a:r>
            <a:r>
              <a:rPr lang="en-US" dirty="0"/>
              <a:t> i.(~po).Br</a:t>
            </a:r>
          </a:p>
          <a:p>
            <a:pPr lvl="2">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4D7993B-651A-E9B4-20B8-C1D1E74BCDFA}"/>
              </a:ext>
            </a:extLst>
          </p:cNvPr>
          <p:cNvSpPr>
            <a:spLocks noGrp="1"/>
          </p:cNvSpPr>
          <p:nvPr>
            <p:ph type="sldNum" sz="quarter" idx="4"/>
          </p:nvPr>
        </p:nvSpPr>
        <p:spPr/>
        <p:txBody>
          <a:bodyPr/>
          <a:lstStyle/>
          <a:p>
            <a:pPr>
              <a:defRPr/>
            </a:pPr>
            <a:fld id="{C8580F89-A3EA-CF4C-A13C-CD8A0A8D4F14}" type="slidenum">
              <a:rPr lang="en-US" smtClean="0"/>
              <a:pPr>
                <a:defRPr/>
              </a:pPr>
              <a:t>8</a:t>
            </a:fld>
            <a:endParaRPr lang="en-US" dirty="0"/>
          </a:p>
        </p:txBody>
      </p:sp>
      <p:sp>
        <p:nvSpPr>
          <p:cNvPr id="8" name="Title 1">
            <a:extLst>
              <a:ext uri="{FF2B5EF4-FFF2-40B4-BE49-F238E27FC236}">
                <a16:creationId xmlns:a16="http://schemas.microsoft.com/office/drawing/2014/main" id="{449A3B0A-E5A2-2811-0263-59EB5FE0184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1043394578"/>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97F9-772D-5B85-39A7-8350EFB3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128DC-DE81-CBDC-A55D-AA0BED80D0C1}"/>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9A7B7857-8752-9C6B-6238-E9C3C7A90AD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Leakage contract</a:t>
            </a:r>
            <a:r>
              <a:rPr lang="en-US" dirty="0"/>
              <a:t>: must complicate transmitter tracking — implicit transmitters are blocked at both prediction and resolution, have two elements for those components and enable probing of relevant state for both</a:t>
            </a:r>
          </a:p>
          <a:p>
            <a:pPr>
              <a:buFont typeface="Arial" panose="020B0604020202020204" pitchFamily="34" charset="0"/>
              <a:buChar char="•"/>
            </a:pPr>
            <a:r>
              <a:rPr lang="en-US" b="1" dirty="0"/>
              <a:t>Taint tracking</a:t>
            </a:r>
            <a:r>
              <a:rPr lang="en-US" dirty="0"/>
              <a:t>: first example of taint tracking, propagate direct dependencies GLIFT-style through the program</a:t>
            </a:r>
          </a:p>
          <a:p>
            <a:pPr lvl="2">
              <a:buFont typeface="Arial" panose="020B0604020202020204" pitchFamily="34" charset="0"/>
              <a:buChar char="•"/>
            </a:pPr>
            <a:r>
              <a:rPr lang="en-US" dirty="0"/>
              <a:t>Basis for the model data-dependency propagation </a:t>
            </a:r>
          </a:p>
          <a:p>
            <a:pPr lvl="2">
              <a:buFont typeface="Arial" panose="020B0604020202020204" pitchFamily="34" charset="0"/>
              <a:buChar char="•"/>
            </a:pPr>
            <a:r>
              <a:rPr lang="en-US" dirty="0">
                <a:solidFill>
                  <a:schemeClr val="bg2"/>
                </a:solidFill>
              </a:rPr>
              <a:t>Relax the data-dependency edges by removing them</a:t>
            </a:r>
          </a:p>
          <a:p>
            <a:pPr lvl="3">
              <a:buFont typeface="Arial" panose="020B0604020202020204" pitchFamily="34" charset="0"/>
              <a:buChar char="•"/>
            </a:pPr>
            <a:r>
              <a:rPr lang="en-US" dirty="0">
                <a:solidFill>
                  <a:schemeClr val="bg2"/>
                </a:solidFill>
              </a:rPr>
              <a:t>This is sufficient because we do not check for overprotection, so no point in increasing the number of edges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D9BB3FE-614F-6461-A69C-21BBF54CCDFF}"/>
              </a:ext>
            </a:extLst>
          </p:cNvPr>
          <p:cNvSpPr>
            <a:spLocks noGrp="1"/>
          </p:cNvSpPr>
          <p:nvPr>
            <p:ph type="sldNum" sz="quarter" idx="4"/>
          </p:nvPr>
        </p:nvSpPr>
        <p:spPr/>
        <p:txBody>
          <a:bodyPr/>
          <a:lstStyle/>
          <a:p>
            <a:pPr>
              <a:defRPr/>
            </a:pPr>
            <a:fld id="{C8580F89-A3EA-CF4C-A13C-CD8A0A8D4F14}" type="slidenum">
              <a:rPr lang="en-US" smtClean="0"/>
              <a:pPr>
                <a:defRPr/>
              </a:pPr>
              <a:t>9</a:t>
            </a:fld>
            <a:endParaRPr lang="en-US" dirty="0"/>
          </a:p>
        </p:txBody>
      </p:sp>
      <p:sp>
        <p:nvSpPr>
          <p:cNvPr id="6" name="Title 1">
            <a:extLst>
              <a:ext uri="{FF2B5EF4-FFF2-40B4-BE49-F238E27FC236}">
                <a16:creationId xmlns:a16="http://schemas.microsoft.com/office/drawing/2014/main" id="{4A19E807-78C8-7165-BDF7-EA070BC7CF6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94141792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3200-3CBE-A79F-D678-25C35B7F9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58B3C-1CCF-EF01-94E9-432788E8C5DB}"/>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A6B45436-A446-8BA9-8366-DE444138A8B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Store transmitters</a:t>
            </a:r>
          </a:p>
          <a:p>
            <a:pPr lvl="2">
              <a:buFont typeface="Arial" panose="020B0604020202020204" pitchFamily="34" charset="0"/>
              <a:buChar char="•"/>
            </a:pPr>
            <a:r>
              <a:rPr lang="en-US" dirty="0"/>
              <a:t>STT does not consider stores to be transmitters. This is in line with their paper and security definitions but not in line with real life or gem5</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50B8607-C7BB-05A7-75BC-E891239AD415}"/>
              </a:ext>
            </a:extLst>
          </p:cNvPr>
          <p:cNvSpPr>
            <a:spLocks noGrp="1"/>
          </p:cNvSpPr>
          <p:nvPr>
            <p:ph type="sldNum" sz="quarter" idx="4"/>
          </p:nvPr>
        </p:nvSpPr>
        <p:spPr/>
        <p:txBody>
          <a:bodyPr/>
          <a:lstStyle/>
          <a:p>
            <a:pPr>
              <a:defRPr/>
            </a:pPr>
            <a:fld id="{C8580F89-A3EA-CF4C-A13C-CD8A0A8D4F14}" type="slidenum">
              <a:rPr lang="en-US" smtClean="0"/>
              <a:pPr>
                <a:defRPr/>
              </a:pPr>
              <a:t>10</a:t>
            </a:fld>
            <a:endParaRPr lang="en-US" dirty="0"/>
          </a:p>
        </p:txBody>
      </p:sp>
      <p:sp>
        <p:nvSpPr>
          <p:cNvPr id="6" name="Title 1">
            <a:extLst>
              <a:ext uri="{FF2B5EF4-FFF2-40B4-BE49-F238E27FC236}">
                <a16:creationId xmlns:a16="http://schemas.microsoft.com/office/drawing/2014/main" id="{337368F1-C556-65B4-00E2-E7680823781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424270254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F259C-D2E5-C50B-1A4F-E3618A8F8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0C673-9ED6-B4D6-C44D-A6B31DA21B43}"/>
              </a:ext>
            </a:extLst>
          </p:cNvPr>
          <p:cNvSpPr>
            <a:spLocks noGrp="1"/>
          </p:cNvSpPr>
          <p:nvPr>
            <p:ph type="title"/>
          </p:nvPr>
        </p:nvSpPr>
        <p:spPr/>
        <p:txBody>
          <a:bodyPr/>
          <a:lstStyle/>
          <a:p>
            <a:r>
              <a:rPr lang="en-US" dirty="0"/>
              <a:t>SpecShield — PACT ’19</a:t>
            </a:r>
          </a:p>
        </p:txBody>
      </p:sp>
      <p:sp>
        <p:nvSpPr>
          <p:cNvPr id="3" name="Content Placeholder 2">
            <a:extLst>
              <a:ext uri="{FF2B5EF4-FFF2-40B4-BE49-F238E27FC236}">
                <a16:creationId xmlns:a16="http://schemas.microsoft.com/office/drawing/2014/main" id="{5C12353B-8A8C-BBA1-9B53-C585DDB06B99}"/>
              </a:ext>
            </a:extLst>
          </p:cNvPr>
          <p:cNvSpPr>
            <a:spLocks noGrp="1"/>
          </p:cNvSpPr>
          <p:nvPr>
            <p:ph sz="quarter" idx="10"/>
          </p:nvPr>
        </p:nvSpPr>
        <p:spPr>
          <a:xfrm>
            <a:off x="955678" y="1051101"/>
            <a:ext cx="7912750" cy="3411445"/>
          </a:xfrm>
        </p:spPr>
        <p:txBody>
          <a:bodyPr>
            <a:normAutofit/>
          </a:bodyPr>
          <a:lstStyle/>
          <a:p>
            <a:pPr marL="285750" indent="-285750">
              <a:buFont typeface="Arial" panose="020B0604020202020204" pitchFamily="34" charset="0"/>
              <a:buChar char="•"/>
            </a:pPr>
            <a:r>
              <a:rPr lang="en-US" b="1" dirty="0"/>
              <a:t>STL</a:t>
            </a:r>
            <a:r>
              <a:rPr lang="en-US" dirty="0"/>
              <a:t> – delays AIs for the duration of speculation, being defined as reaching the head of the ROB</a:t>
            </a:r>
          </a:p>
          <a:p>
            <a:pPr marL="285750" indent="-285750">
              <a:buFont typeface="Arial" panose="020B0604020202020204" pitchFamily="34" charset="0"/>
              <a:buChar char="•"/>
            </a:pPr>
            <a:r>
              <a:rPr lang="en-US" b="1" dirty="0"/>
              <a:t>ERP</a:t>
            </a:r>
            <a:r>
              <a:rPr lang="en-US" dirty="0"/>
              <a:t> – delays AIs for the duration of speculation, by waiting until all older branches are resolved and nonspeculative and all older loads and stores have no faults (nothing is speculative)</a:t>
            </a:r>
          </a:p>
          <a:p>
            <a:pPr marL="285750" indent="-285750">
              <a:buFont typeface="Arial" panose="020B0604020202020204" pitchFamily="34" charset="0"/>
              <a:buChar char="•"/>
            </a:pPr>
            <a:r>
              <a:rPr lang="en-US" b="1" dirty="0"/>
              <a:t>ERP+ </a:t>
            </a:r>
            <a:r>
              <a:rPr lang="en-US" dirty="0"/>
              <a:t>– tracks taint and allows low leakage instructions to see AIs of speculative things as long as they don’t pass to high leakage things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Handles speculation primitives: meltdown, branch misprediction, memory alias misprediction, control flow hijacking</a:t>
            </a:r>
          </a:p>
          <a:p>
            <a:pPr marL="285750" indent="-285750">
              <a:buFont typeface="Arial" panose="020B0604020202020204" pitchFamily="34" charset="0"/>
              <a:buChar char="•"/>
            </a:pPr>
            <a:r>
              <a:rPr lang="en-US" dirty="0"/>
              <a:t>ONLY defends memory secrets, not register secrets, through AI provision</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2809EE2-629C-2333-6268-C5D3E0838734}"/>
              </a:ext>
            </a:extLst>
          </p:cNvPr>
          <p:cNvSpPr>
            <a:spLocks noGrp="1"/>
          </p:cNvSpPr>
          <p:nvPr>
            <p:ph type="sldNum" sz="quarter" idx="4"/>
          </p:nvPr>
        </p:nvSpPr>
        <p:spPr/>
        <p:txBody>
          <a:bodyPr/>
          <a:lstStyle/>
          <a:p>
            <a:pPr>
              <a:defRPr/>
            </a:pPr>
            <a:fld id="{C8580F89-A3EA-CF4C-A13C-CD8A0A8D4F14}" type="slidenum">
              <a:rPr lang="en-US" smtClean="0"/>
              <a:pPr>
                <a:defRPr/>
              </a:pPr>
              <a:t>11</a:t>
            </a:fld>
            <a:endParaRPr lang="en-US" dirty="0"/>
          </a:p>
        </p:txBody>
      </p:sp>
      <p:sp>
        <p:nvSpPr>
          <p:cNvPr id="5" name="Title 1">
            <a:extLst>
              <a:ext uri="{FF2B5EF4-FFF2-40B4-BE49-F238E27FC236}">
                <a16:creationId xmlns:a16="http://schemas.microsoft.com/office/drawing/2014/main" id="{36AAFB29-D262-1449-99C5-3B3C5C118D3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94165133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B9F8-BF4F-CE27-4357-F35585CA65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C858A5-2731-2FA2-A76A-45BF6D7163D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77D423-C69F-DEDB-8B1C-0E8DB027817B}"/>
              </a:ext>
            </a:extLst>
          </p:cNvPr>
          <p:cNvSpPr>
            <a:spLocks noGrp="1"/>
          </p:cNvSpPr>
          <p:nvPr>
            <p:ph type="title"/>
          </p:nvPr>
        </p:nvSpPr>
        <p:spPr/>
        <p:txBody>
          <a:bodyPr/>
          <a:lstStyle/>
          <a:p>
            <a:r>
              <a:rPr lang="en-US" dirty="0"/>
              <a:t>SpecShield-STL SimSpect specification</a:t>
            </a:r>
          </a:p>
        </p:txBody>
      </p:sp>
      <p:sp>
        <p:nvSpPr>
          <p:cNvPr id="3" name="Content Placeholder 2">
            <a:extLst>
              <a:ext uri="{FF2B5EF4-FFF2-40B4-BE49-F238E27FC236}">
                <a16:creationId xmlns:a16="http://schemas.microsoft.com/office/drawing/2014/main" id="{1C4B12C9-7186-99E6-AF29-62479F43BFAD}"/>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Mem</a:t>
            </a:r>
          </a:p>
          <a:p>
            <a:pPr>
              <a:buFont typeface="Arial" panose="020B0604020202020204" pitchFamily="34" charset="0"/>
              <a:buChar char="•"/>
            </a:pPr>
            <a:r>
              <a:rPr lang="en-US" b="1" dirty="0"/>
              <a:t>Leakage contract: </a:t>
            </a:r>
            <a:r>
              <a:rPr lang="en-US" dirty="0"/>
              <a:t>(ALL) </a:t>
            </a:r>
            <a:r>
              <a:rPr lang="en-US" dirty="0" err="1"/>
              <a:t>xmit</a:t>
            </a:r>
            <a:r>
              <a:rPr lang="en-US" baseline="-25000" dirty="0" err="1"/>
              <a:t>other</a:t>
            </a:r>
            <a:r>
              <a:rPr lang="en-US" dirty="0"/>
              <a:t>-&gt;</a:t>
            </a:r>
            <a:r>
              <a:rPr lang="en-US" dirty="0" err="1"/>
              <a:t>in_xmit</a:t>
            </a:r>
            <a:r>
              <a:rPr lang="en-US" dirty="0"/>
              <a:t>, (</a:t>
            </a:r>
            <a:r>
              <a:rPr lang="en-US" dirty="0" err="1"/>
              <a:t>ld+str</a:t>
            </a:r>
            <a:r>
              <a:rPr lang="en-US" dirty="0"/>
              <a:t>)-&gt;</a:t>
            </a:r>
            <a:r>
              <a:rPr lang="en-US" dirty="0" err="1"/>
              <a:t>in_addr</a:t>
            </a:r>
            <a:r>
              <a:rPr lang="en-US" dirty="0"/>
              <a:t>, </a:t>
            </a:r>
            <a:r>
              <a:rPr lang="en-US" dirty="0" err="1"/>
              <a:t>br</a:t>
            </a:r>
            <a:r>
              <a:rPr lang="en-US" dirty="0"/>
              <a:t>-&gt;</a:t>
            </a:r>
            <a:r>
              <a:rPr lang="en-US" dirty="0" err="1"/>
              <a:t>in_reg</a:t>
            </a:r>
            <a:r>
              <a:rPr lang="en-US" dirty="0"/>
              <a:t> </a:t>
            </a:r>
            <a:r>
              <a:rPr lang="en-US" b="1" dirty="0"/>
              <a:t>Execution contract: </a:t>
            </a:r>
            <a:r>
              <a:rPr lang="en-US" dirty="0"/>
              <a:t>i is speculative </a:t>
            </a:r>
            <a:r>
              <a:rPr lang="en-US" dirty="0" err="1"/>
              <a:t>iff</a:t>
            </a:r>
            <a:r>
              <a:rPr lang="en-US" dirty="0"/>
              <a:t> i not committed</a:t>
            </a:r>
          </a:p>
          <a:p>
            <a:pPr>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B615919-F7F2-7669-70A6-587C43C4AD9A}"/>
              </a:ext>
            </a:extLst>
          </p:cNvPr>
          <p:cNvSpPr>
            <a:spLocks noGrp="1"/>
          </p:cNvSpPr>
          <p:nvPr>
            <p:ph type="sldNum" sz="quarter" idx="4"/>
          </p:nvPr>
        </p:nvSpPr>
        <p:spPr/>
        <p:txBody>
          <a:bodyPr/>
          <a:lstStyle/>
          <a:p>
            <a:pPr>
              <a:defRPr/>
            </a:pPr>
            <a:fld id="{C8580F89-A3EA-CF4C-A13C-CD8A0A8D4F14}" type="slidenum">
              <a:rPr lang="en-US" smtClean="0"/>
              <a:pPr>
                <a:defRPr/>
              </a:pPr>
              <a:t>12</a:t>
            </a:fld>
            <a:endParaRPr lang="en-US" dirty="0"/>
          </a:p>
        </p:txBody>
      </p:sp>
      <p:sp>
        <p:nvSpPr>
          <p:cNvPr id="6" name="Title 1">
            <a:extLst>
              <a:ext uri="{FF2B5EF4-FFF2-40B4-BE49-F238E27FC236}">
                <a16:creationId xmlns:a16="http://schemas.microsoft.com/office/drawing/2014/main" id="{8156AA74-AC75-EDFC-EF5D-7B012F6957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51090372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84C1-2AE1-4BE0-F9D8-EC91648986C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BFD34D4-96CB-A1A9-9236-1E09334C33A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76F8B1-9263-AAEC-3E04-075D4154DD0D}"/>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2BF9CC9E-FD2D-621A-7F4B-B4499D0E6242}"/>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Mem</a:t>
            </a:r>
          </a:p>
          <a:p>
            <a:pPr>
              <a:buFont typeface="Arial" panose="020B0604020202020204" pitchFamily="34" charset="0"/>
              <a:buChar char="•"/>
            </a:pPr>
            <a:r>
              <a:rPr lang="en-US" b="1" dirty="0"/>
              <a:t>Leakage contract: </a:t>
            </a:r>
            <a:r>
              <a:rPr lang="en-US" dirty="0"/>
              <a:t>(ALL) </a:t>
            </a:r>
            <a:r>
              <a:rPr lang="en-US" dirty="0" err="1"/>
              <a:t>xmit</a:t>
            </a:r>
            <a:r>
              <a:rPr lang="en-US" baseline="-25000" dirty="0" err="1"/>
              <a:t>other</a:t>
            </a:r>
            <a:r>
              <a:rPr lang="en-US" dirty="0"/>
              <a:t>-&gt;</a:t>
            </a:r>
            <a:r>
              <a:rPr lang="en-US" dirty="0" err="1"/>
              <a:t>in_xmit</a:t>
            </a:r>
            <a:r>
              <a:rPr lang="en-US" dirty="0"/>
              <a:t>, (</a:t>
            </a:r>
            <a:r>
              <a:rPr lang="en-US" dirty="0" err="1"/>
              <a:t>ld+str</a:t>
            </a:r>
            <a:r>
              <a:rPr lang="en-US" dirty="0"/>
              <a:t>)-&gt;</a:t>
            </a:r>
            <a:r>
              <a:rPr lang="en-US" dirty="0" err="1"/>
              <a:t>in_addr</a:t>
            </a:r>
            <a:r>
              <a:rPr lang="en-US" dirty="0"/>
              <a:t>, </a:t>
            </a:r>
            <a:r>
              <a:rPr lang="en-US" dirty="0" err="1"/>
              <a:t>br</a:t>
            </a:r>
            <a:r>
              <a:rPr lang="en-US" dirty="0"/>
              <a:t>-&gt;</a:t>
            </a:r>
            <a:r>
              <a:rPr lang="en-US" dirty="0" err="1"/>
              <a:t>in_reg</a:t>
            </a:r>
            <a:r>
              <a:rPr lang="en-US" dirty="0"/>
              <a:t> </a:t>
            </a:r>
            <a:r>
              <a:rPr lang="en-US" b="1" dirty="0"/>
              <a:t>Execution contract: </a:t>
            </a:r>
            <a:r>
              <a:rPr lang="en-US" dirty="0"/>
              <a:t>i is speculative if not committed and (∃ unresolved i.(~po).Br OR ∃ (unresolved or faulted) i.(~po).(</a:t>
            </a:r>
            <a:r>
              <a:rPr lang="en-US" dirty="0" err="1"/>
              <a:t>Ld+Str</a:t>
            </a:r>
            <a:r>
              <a:rPr lang="en-US" dirty="0"/>
              <a:t>))</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5A1876-4183-9F98-2F3F-91D4990F58BD}"/>
              </a:ext>
            </a:extLst>
          </p:cNvPr>
          <p:cNvSpPr>
            <a:spLocks noGrp="1"/>
          </p:cNvSpPr>
          <p:nvPr>
            <p:ph type="sldNum" sz="quarter" idx="4"/>
          </p:nvPr>
        </p:nvSpPr>
        <p:spPr/>
        <p:txBody>
          <a:bodyPr/>
          <a:lstStyle/>
          <a:p>
            <a:pPr>
              <a:defRPr/>
            </a:pPr>
            <a:fld id="{C8580F89-A3EA-CF4C-A13C-CD8A0A8D4F14}" type="slidenum">
              <a:rPr lang="en-US" smtClean="0"/>
              <a:pPr>
                <a:defRPr/>
              </a:pPr>
              <a:t>13</a:t>
            </a:fld>
            <a:endParaRPr lang="en-US" dirty="0"/>
          </a:p>
        </p:txBody>
      </p:sp>
      <p:sp>
        <p:nvSpPr>
          <p:cNvPr id="6" name="Title 1">
            <a:extLst>
              <a:ext uri="{FF2B5EF4-FFF2-40B4-BE49-F238E27FC236}">
                <a16:creationId xmlns:a16="http://schemas.microsoft.com/office/drawing/2014/main" id="{91790729-96FA-7E15-3D9A-27E93D34735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134389888"/>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23C8-38A2-1BCD-DBD1-1C22615A85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8BF6E6A-8FED-02DB-8B21-AA82C1360DC4}"/>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165613-93F8-8D19-739A-F6C45DEF514A}"/>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B812CE14-239C-6BBC-2E88-01D6334A3DB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Mem</a:t>
            </a:r>
            <a:endParaRPr lang="en-US" i="1" dirty="0"/>
          </a:p>
          <a:p>
            <a:pPr>
              <a:buFont typeface="Arial" panose="020B0604020202020204" pitchFamily="34" charset="0"/>
              <a:buChar char="•"/>
            </a:pPr>
            <a:r>
              <a:rPr lang="en-US" b="1" dirty="0"/>
              <a:t>Leakage contract: </a:t>
            </a:r>
            <a:r>
              <a:rPr lang="en-US" dirty="0"/>
              <a:t>“High-CCR” </a:t>
            </a:r>
            <a:r>
              <a:rPr lang="en-US" dirty="0" err="1"/>
              <a:t>xmits</a:t>
            </a:r>
            <a:r>
              <a:rPr lang="en-US" dirty="0"/>
              <a:t> = (</a:t>
            </a:r>
            <a:r>
              <a:rPr lang="en-US" dirty="0" err="1"/>
              <a:t>ld+str</a:t>
            </a:r>
            <a:r>
              <a:rPr lang="en-US" dirty="0"/>
              <a:t>)-&gt;</a:t>
            </a:r>
            <a:r>
              <a:rPr lang="en-US" dirty="0" err="1"/>
              <a:t>in_addr</a:t>
            </a:r>
            <a:r>
              <a:rPr lang="en-US" dirty="0"/>
              <a:t>, </a:t>
            </a:r>
            <a:r>
              <a:rPr lang="en-US" dirty="0" err="1"/>
              <a:t>br</a:t>
            </a:r>
            <a:r>
              <a:rPr lang="en-US" dirty="0"/>
              <a:t>-&gt;</a:t>
            </a:r>
            <a:r>
              <a:rPr lang="en-US" dirty="0" err="1"/>
              <a:t>in_reg</a:t>
            </a:r>
            <a:endParaRPr lang="en-US" dirty="0"/>
          </a:p>
          <a:p>
            <a:pPr>
              <a:buFont typeface="Arial" panose="020B0604020202020204" pitchFamily="34" charset="0"/>
              <a:buChar char="•"/>
            </a:pPr>
            <a:r>
              <a:rPr lang="en-US" b="1" dirty="0"/>
              <a:t>Execution contract: </a:t>
            </a:r>
            <a:r>
              <a:rPr lang="en-US" dirty="0"/>
              <a:t>i is speculative if not committed and (∃ unresolved i.(~po).Br OR ∃ (unresolved or faulted) i.(~po).(</a:t>
            </a:r>
            <a:r>
              <a:rPr lang="en-US" dirty="0" err="1"/>
              <a:t>Ld+Str</a:t>
            </a:r>
            <a:r>
              <a:rPr lang="en-US" dirty="0"/>
              <a:t>))</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3CE45C5-3A08-F0C5-75B4-ABCD27231DB6}"/>
              </a:ext>
            </a:extLst>
          </p:cNvPr>
          <p:cNvSpPr>
            <a:spLocks noGrp="1"/>
          </p:cNvSpPr>
          <p:nvPr>
            <p:ph type="sldNum" sz="quarter" idx="4"/>
          </p:nvPr>
        </p:nvSpPr>
        <p:spPr/>
        <p:txBody>
          <a:bodyPr/>
          <a:lstStyle/>
          <a:p>
            <a:pPr>
              <a:defRPr/>
            </a:pPr>
            <a:fld id="{C8580F89-A3EA-CF4C-A13C-CD8A0A8D4F14}" type="slidenum">
              <a:rPr lang="en-US" smtClean="0"/>
              <a:pPr>
                <a:defRPr/>
              </a:pPr>
              <a:t>14</a:t>
            </a:fld>
            <a:endParaRPr lang="en-US" dirty="0"/>
          </a:p>
        </p:txBody>
      </p:sp>
      <p:sp>
        <p:nvSpPr>
          <p:cNvPr id="6" name="Title 1">
            <a:extLst>
              <a:ext uri="{FF2B5EF4-FFF2-40B4-BE49-F238E27FC236}">
                <a16:creationId xmlns:a16="http://schemas.microsoft.com/office/drawing/2014/main" id="{6B39B4FD-DAB3-0473-42F0-B84686683D2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133015451"/>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9451-1A20-A1D1-A149-33B3962C1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D6146-E07B-B40B-4A72-C9C4CFD767D7}"/>
              </a:ext>
            </a:extLst>
          </p:cNvPr>
          <p:cNvSpPr>
            <a:spLocks noGrp="1"/>
          </p:cNvSpPr>
          <p:nvPr>
            <p:ph type="title"/>
          </p:nvPr>
        </p:nvSpPr>
        <p:spPr/>
        <p:txBody>
          <a:bodyPr/>
          <a:lstStyle/>
          <a:p>
            <a:r>
              <a:rPr lang="en-US" dirty="0"/>
              <a:t>Non-speculative Data Access — MICRO ’19</a:t>
            </a:r>
          </a:p>
        </p:txBody>
      </p:sp>
      <p:sp>
        <p:nvSpPr>
          <p:cNvPr id="3" name="Content Placeholder 2">
            <a:extLst>
              <a:ext uri="{FF2B5EF4-FFF2-40B4-BE49-F238E27FC236}">
                <a16:creationId xmlns:a16="http://schemas.microsoft.com/office/drawing/2014/main" id="{C6C4542D-9BE2-0A5A-AED6-53002F377EDA}"/>
              </a:ext>
            </a:extLst>
          </p:cNvPr>
          <p:cNvSpPr>
            <a:spLocks noGrp="1"/>
          </p:cNvSpPr>
          <p:nvPr>
            <p:ph sz="quarter" idx="10"/>
          </p:nvPr>
        </p:nvSpPr>
        <p:spPr>
          <a:xfrm>
            <a:off x="955678" y="1051101"/>
            <a:ext cx="7912750" cy="3411445"/>
          </a:xfrm>
        </p:spPr>
        <p:txBody>
          <a:bodyPr>
            <a:normAutofit lnSpcReduction="10000"/>
          </a:bodyPr>
          <a:lstStyle/>
          <a:p>
            <a:pPr>
              <a:buFont typeface="Arial" panose="020B0604020202020204" pitchFamily="34" charset="0"/>
              <a:buChar char="•"/>
            </a:pPr>
            <a:r>
              <a:rPr lang="en-US" dirty="0"/>
              <a:t>Two types of attacks</a:t>
            </a:r>
          </a:p>
          <a:p>
            <a:pPr lvl="2">
              <a:buFont typeface="Arial" panose="020B0604020202020204" pitchFamily="34" charset="0"/>
              <a:buChar char="•"/>
            </a:pPr>
            <a:r>
              <a:rPr lang="en-US" dirty="0"/>
              <a:t>Control steering, victim control flow leaks its own information</a:t>
            </a:r>
          </a:p>
          <a:p>
            <a:pPr lvl="2">
              <a:buFont typeface="Arial" panose="020B0604020202020204" pitchFamily="34" charset="0"/>
              <a:buChar char="•"/>
            </a:pPr>
            <a:r>
              <a:rPr lang="en-US" dirty="0"/>
              <a:t>Chosen code, attacker uses their own code to violate permissions speculatively</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An instruction is </a:t>
            </a:r>
            <a:r>
              <a:rPr lang="en-US" b="1" dirty="0">
                <a:solidFill>
                  <a:srgbClr val="000000"/>
                </a:solidFill>
                <a:latin typeface="Source Sans Pro"/>
              </a:rPr>
              <a:t>safe </a:t>
            </a:r>
            <a:r>
              <a:rPr lang="en-US" dirty="0">
                <a:solidFill>
                  <a:srgbClr val="000000"/>
                </a:solidFill>
                <a:latin typeface="Source Sans Pro"/>
              </a:rPr>
              <a:t>if not after a branch with unresolved target and direction or a store with an unresolved address</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When a microop resolves, mark things safe until the next outstanding speculation primitive</a:t>
            </a: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lvl="2">
              <a:buFont typeface="Arial" panose="020B0604020202020204" pitchFamily="34" charset="0"/>
              <a:buChar char="•"/>
            </a:pPr>
            <a:r>
              <a:rPr lang="en-US" dirty="0"/>
              <a:t>Delay broadcast of outputs until safe</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20" normalizeH="0" baseline="0" noProof="0" dirty="0">
                <a:ln>
                  <a:noFill/>
                </a:ln>
                <a:solidFill>
                  <a:srgbClr val="000000"/>
                </a:solidFill>
                <a:effectLst/>
                <a:uLnTx/>
                <a:uFillTx/>
                <a:latin typeface="Source Sans Pro"/>
                <a:ea typeface="ＭＳ Ｐゴシック" charset="0"/>
              </a:rPr>
              <a:t>Strict vs permissive propagation version, which only treats loads as AIs (only protects memory)</a:t>
            </a:r>
          </a:p>
          <a:p>
            <a:pPr marL="344488" lvl="2" indent="0">
              <a:buNone/>
            </a:pPr>
            <a:endParaRPr lang="en-US" dirty="0"/>
          </a:p>
          <a:p>
            <a:pPr marL="344488" lvl="2" indent="0">
              <a:buNone/>
            </a:pPr>
            <a:endParaRPr lang="en-US" dirty="0"/>
          </a:p>
        </p:txBody>
      </p:sp>
      <p:sp>
        <p:nvSpPr>
          <p:cNvPr id="4" name="Slide Number Placeholder 3">
            <a:extLst>
              <a:ext uri="{FF2B5EF4-FFF2-40B4-BE49-F238E27FC236}">
                <a16:creationId xmlns:a16="http://schemas.microsoft.com/office/drawing/2014/main" id="{AEA3817B-EA5F-04DE-47E5-355BA98AE648}"/>
              </a:ext>
            </a:extLst>
          </p:cNvPr>
          <p:cNvSpPr>
            <a:spLocks noGrp="1"/>
          </p:cNvSpPr>
          <p:nvPr>
            <p:ph type="sldNum" sz="quarter" idx="4"/>
          </p:nvPr>
        </p:nvSpPr>
        <p:spPr/>
        <p:txBody>
          <a:bodyPr/>
          <a:lstStyle/>
          <a:p>
            <a:pPr>
              <a:defRPr/>
            </a:pPr>
            <a:fld id="{C8580F89-A3EA-CF4C-A13C-CD8A0A8D4F14}" type="slidenum">
              <a:rPr lang="en-US" smtClean="0"/>
              <a:pPr>
                <a:defRPr/>
              </a:pPr>
              <a:t>15</a:t>
            </a:fld>
            <a:endParaRPr lang="en-US" dirty="0"/>
          </a:p>
        </p:txBody>
      </p:sp>
      <p:sp>
        <p:nvSpPr>
          <p:cNvPr id="5" name="Title 1">
            <a:extLst>
              <a:ext uri="{FF2B5EF4-FFF2-40B4-BE49-F238E27FC236}">
                <a16:creationId xmlns:a16="http://schemas.microsoft.com/office/drawing/2014/main" id="{3BBBA1E3-3275-74C0-1457-70AF14DF0A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73438956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672D-B1B4-A28F-1D64-B4CFCA979D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4D27923-425C-8803-C246-E5782446A6E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F5FA58-B993-C09C-A578-0AD0A59F0739}"/>
              </a:ext>
            </a:extLst>
          </p:cNvPr>
          <p:cNvSpPr>
            <a:spLocks noGrp="1"/>
          </p:cNvSpPr>
          <p:nvPr>
            <p:ph type="title"/>
          </p:nvPr>
        </p:nvSpPr>
        <p:spPr/>
        <p:txBody>
          <a:bodyPr/>
          <a:lstStyle/>
          <a:p>
            <a:r>
              <a:rPr lang="en-US" dirty="0"/>
              <a:t>NDA-S SimSpect specification</a:t>
            </a:r>
          </a:p>
        </p:txBody>
      </p:sp>
      <p:sp>
        <p:nvSpPr>
          <p:cNvPr id="3" name="Content Placeholder 2">
            <a:extLst>
              <a:ext uri="{FF2B5EF4-FFF2-40B4-BE49-F238E27FC236}">
                <a16:creationId xmlns:a16="http://schemas.microsoft.com/office/drawing/2014/main" id="{C0E6D826-3D8B-FD8D-7A0A-D6190C9B169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Mem + reg</a:t>
            </a:r>
            <a:endParaRPr lang="en-US" i="1" dirty="0"/>
          </a:p>
          <a:p>
            <a:pPr>
              <a:buFont typeface="Arial" panose="020B0604020202020204" pitchFamily="34" charset="0"/>
              <a:buChar char="•"/>
            </a:pPr>
            <a:r>
              <a:rPr lang="en-US" b="1" dirty="0"/>
              <a:t>Leakage contract: </a:t>
            </a:r>
            <a:r>
              <a:rPr lang="en-US" dirty="0"/>
              <a:t>(ALL) </a:t>
            </a:r>
            <a:r>
              <a:rPr lang="en-US" dirty="0" err="1"/>
              <a:t>xmit</a:t>
            </a:r>
            <a:r>
              <a:rPr lang="en-US" baseline="-25000" dirty="0" err="1"/>
              <a:t>other</a:t>
            </a:r>
            <a:r>
              <a:rPr lang="en-US" dirty="0"/>
              <a:t>-&gt;</a:t>
            </a:r>
            <a:r>
              <a:rPr lang="en-US" dirty="0" err="1"/>
              <a:t>in_xmit</a:t>
            </a:r>
            <a:r>
              <a:rPr lang="en-US" dirty="0"/>
              <a:t>, (</a:t>
            </a:r>
            <a:r>
              <a:rPr lang="en-US" dirty="0" err="1"/>
              <a:t>ld+str</a:t>
            </a:r>
            <a:r>
              <a:rPr lang="en-US" dirty="0"/>
              <a:t>)-&gt;</a:t>
            </a:r>
            <a:r>
              <a:rPr lang="en-US" dirty="0" err="1"/>
              <a:t>in_addr</a:t>
            </a:r>
            <a:r>
              <a:rPr lang="en-US" dirty="0"/>
              <a:t>, </a:t>
            </a:r>
            <a:r>
              <a:rPr lang="en-US" dirty="0" err="1"/>
              <a:t>br</a:t>
            </a:r>
            <a:r>
              <a:rPr lang="en-US" dirty="0"/>
              <a:t>-&gt;</a:t>
            </a:r>
            <a:r>
              <a:rPr lang="en-US" dirty="0" err="1"/>
              <a:t>in_reg</a:t>
            </a:r>
            <a:r>
              <a:rPr lang="en-US" dirty="0"/>
              <a:t> </a:t>
            </a:r>
            <a:r>
              <a:rPr lang="en-US" b="1" dirty="0"/>
              <a:t>Execution contract: </a:t>
            </a:r>
            <a:r>
              <a:rPr lang="en-US" dirty="0"/>
              <a:t>i is speculative if not committed and (∃ unresolved i.(~po).Br OR (∃ unresolved i.(~po).(Str) and i is </a:t>
            </a:r>
            <a:r>
              <a:rPr lang="en-US" dirty="0" err="1"/>
              <a:t>Ld</a:t>
            </a:r>
            <a:r>
              <a:rPr lang="en-US" dirty="0"/>
              <a:t>))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591FDF2-3F23-ABB2-0E92-5C276DC84D47}"/>
              </a:ext>
            </a:extLst>
          </p:cNvPr>
          <p:cNvSpPr>
            <a:spLocks noGrp="1"/>
          </p:cNvSpPr>
          <p:nvPr>
            <p:ph type="sldNum" sz="quarter" idx="4"/>
          </p:nvPr>
        </p:nvSpPr>
        <p:spPr/>
        <p:txBody>
          <a:bodyPr/>
          <a:lstStyle/>
          <a:p>
            <a:pPr>
              <a:defRPr/>
            </a:pPr>
            <a:fld id="{C8580F89-A3EA-CF4C-A13C-CD8A0A8D4F14}" type="slidenum">
              <a:rPr lang="en-US" smtClean="0"/>
              <a:pPr>
                <a:defRPr/>
              </a:pPr>
              <a:t>16</a:t>
            </a:fld>
            <a:endParaRPr lang="en-US" dirty="0"/>
          </a:p>
        </p:txBody>
      </p:sp>
      <p:sp>
        <p:nvSpPr>
          <p:cNvPr id="6" name="Title 1">
            <a:extLst>
              <a:ext uri="{FF2B5EF4-FFF2-40B4-BE49-F238E27FC236}">
                <a16:creationId xmlns:a16="http://schemas.microsoft.com/office/drawing/2014/main" id="{73FBB86B-7F8A-A0BC-A733-4468CC950A7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70477067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202BC-81A8-CD61-7F69-28F6236E05D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79A76E-D2B3-CBA4-C7B4-20F7F8F382F2}"/>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E9781-DFFC-7160-7D86-E044428FC5C4}"/>
              </a:ext>
            </a:extLst>
          </p:cNvPr>
          <p:cNvSpPr>
            <a:spLocks noGrp="1"/>
          </p:cNvSpPr>
          <p:nvPr>
            <p:ph type="title"/>
          </p:nvPr>
        </p:nvSpPr>
        <p:spPr/>
        <p:txBody>
          <a:bodyPr/>
          <a:lstStyle/>
          <a:p>
            <a:r>
              <a:rPr lang="en-US" dirty="0"/>
              <a:t>NDA-P SimSpect specification</a:t>
            </a:r>
          </a:p>
        </p:txBody>
      </p:sp>
      <p:sp>
        <p:nvSpPr>
          <p:cNvPr id="3" name="Content Placeholder 2">
            <a:extLst>
              <a:ext uri="{FF2B5EF4-FFF2-40B4-BE49-F238E27FC236}">
                <a16:creationId xmlns:a16="http://schemas.microsoft.com/office/drawing/2014/main" id="{06F52687-C726-720F-19B3-B0D2252E4A0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Mem</a:t>
            </a:r>
            <a:endParaRPr lang="en-US" i="1" dirty="0"/>
          </a:p>
          <a:p>
            <a:pPr>
              <a:buFont typeface="Arial" panose="020B0604020202020204" pitchFamily="34" charset="0"/>
              <a:buChar char="•"/>
            </a:pPr>
            <a:r>
              <a:rPr lang="en-US" b="1" dirty="0"/>
              <a:t>Leakage contract: </a:t>
            </a:r>
            <a:r>
              <a:rPr lang="en-US" dirty="0"/>
              <a:t>(ALL) </a:t>
            </a:r>
            <a:r>
              <a:rPr lang="en-US" dirty="0" err="1"/>
              <a:t>xmit</a:t>
            </a:r>
            <a:r>
              <a:rPr lang="en-US" baseline="-25000" dirty="0" err="1"/>
              <a:t>other</a:t>
            </a:r>
            <a:r>
              <a:rPr lang="en-US" dirty="0"/>
              <a:t>-&gt;</a:t>
            </a:r>
            <a:r>
              <a:rPr lang="en-US" dirty="0" err="1"/>
              <a:t>in_xmit</a:t>
            </a:r>
            <a:r>
              <a:rPr lang="en-US" dirty="0"/>
              <a:t>, (</a:t>
            </a:r>
            <a:r>
              <a:rPr lang="en-US" dirty="0" err="1"/>
              <a:t>ld+str</a:t>
            </a:r>
            <a:r>
              <a:rPr lang="en-US" dirty="0"/>
              <a:t>)-&gt;</a:t>
            </a:r>
            <a:r>
              <a:rPr lang="en-US" dirty="0" err="1"/>
              <a:t>in_addr</a:t>
            </a:r>
            <a:r>
              <a:rPr lang="en-US" dirty="0"/>
              <a:t>, </a:t>
            </a:r>
            <a:r>
              <a:rPr lang="en-US" dirty="0" err="1"/>
              <a:t>br</a:t>
            </a:r>
            <a:r>
              <a:rPr lang="en-US" dirty="0"/>
              <a:t>-&gt;</a:t>
            </a:r>
            <a:r>
              <a:rPr lang="en-US" dirty="0" err="1"/>
              <a:t>in_reg</a:t>
            </a:r>
            <a:r>
              <a:rPr lang="en-US" dirty="0"/>
              <a:t> </a:t>
            </a:r>
          </a:p>
          <a:p>
            <a:pPr>
              <a:buFont typeface="Arial" panose="020B0604020202020204" pitchFamily="34" charset="0"/>
              <a:buChar char="•"/>
            </a:pPr>
            <a:r>
              <a:rPr lang="en-US" b="1" dirty="0"/>
              <a:t>Execution contract: </a:t>
            </a:r>
            <a:r>
              <a:rPr lang="en-US" dirty="0"/>
              <a:t>i is speculative if not committed and (∃ unresolved i.(~po).Br OR (∃ unresolved i.(~po).(Str) and i is </a:t>
            </a:r>
            <a:r>
              <a:rPr lang="en-US" dirty="0" err="1"/>
              <a:t>Ld</a:t>
            </a:r>
            <a:r>
              <a:rPr lang="en-US" dirty="0"/>
              <a:t>))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855C3D4-D183-05E8-930A-623E7A8CF3F8}"/>
              </a:ext>
            </a:extLst>
          </p:cNvPr>
          <p:cNvSpPr>
            <a:spLocks noGrp="1"/>
          </p:cNvSpPr>
          <p:nvPr>
            <p:ph type="sldNum" sz="quarter" idx="4"/>
          </p:nvPr>
        </p:nvSpPr>
        <p:spPr/>
        <p:txBody>
          <a:bodyPr/>
          <a:lstStyle/>
          <a:p>
            <a:pPr>
              <a:defRPr/>
            </a:pPr>
            <a:fld id="{C8580F89-A3EA-CF4C-A13C-CD8A0A8D4F14}" type="slidenum">
              <a:rPr lang="en-US" smtClean="0"/>
              <a:pPr>
                <a:defRPr/>
              </a:pPr>
              <a:t>17</a:t>
            </a:fld>
            <a:endParaRPr lang="en-US" dirty="0"/>
          </a:p>
        </p:txBody>
      </p:sp>
      <p:sp>
        <p:nvSpPr>
          <p:cNvPr id="6" name="Title 1">
            <a:extLst>
              <a:ext uri="{FF2B5EF4-FFF2-40B4-BE49-F238E27FC236}">
                <a16:creationId xmlns:a16="http://schemas.microsoft.com/office/drawing/2014/main" id="{4B459664-5C60-CFB1-613B-A3FA0D3063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184575235"/>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FAE3-E348-E9C3-4A9E-A045F5012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3F7D6-2CCD-589E-4CFE-C84B9C0A4017}"/>
              </a:ext>
            </a:extLst>
          </p:cNvPr>
          <p:cNvSpPr>
            <a:spLocks noGrp="1"/>
          </p:cNvSpPr>
          <p:nvPr>
            <p:ph type="title"/>
          </p:nvPr>
        </p:nvSpPr>
        <p:spPr/>
        <p:txBody>
          <a:bodyPr/>
          <a:lstStyle/>
          <a:p>
            <a:r>
              <a:rPr lang="en-US" dirty="0"/>
              <a:t>Delay-on-Miss — ISCA ’19</a:t>
            </a:r>
          </a:p>
        </p:txBody>
      </p:sp>
      <p:sp>
        <p:nvSpPr>
          <p:cNvPr id="3" name="Content Placeholder 2">
            <a:extLst>
              <a:ext uri="{FF2B5EF4-FFF2-40B4-BE49-F238E27FC236}">
                <a16:creationId xmlns:a16="http://schemas.microsoft.com/office/drawing/2014/main" id="{9077207E-CF3A-D628-FD25-2B455F33314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Blocks speculative loads from transmitting by allowing them to go to L1 cache but no further, so they don’t exhibit data-dependent timing or prime the cache</a:t>
            </a:r>
          </a:p>
          <a:p>
            <a:pPr>
              <a:buFont typeface="Arial" panose="020B0604020202020204" pitchFamily="34" charset="0"/>
              <a:buChar char="•"/>
            </a:pPr>
            <a:r>
              <a:rPr lang="en-US" dirty="0"/>
              <a:t>Doesn’t discriminate between non-speculatively and speculatively acquired secrets</a:t>
            </a:r>
          </a:p>
          <a:p>
            <a:pPr>
              <a:buFont typeface="Arial" panose="020B0604020202020204" pitchFamily="34" charset="0"/>
              <a:buChar char="•"/>
            </a:pPr>
            <a:r>
              <a:rPr lang="en-US" dirty="0"/>
              <a:t>Used value prediction to speed up secure speculation</a:t>
            </a:r>
          </a:p>
          <a:p>
            <a:pPr>
              <a:buFont typeface="Arial" panose="020B0604020202020204" pitchFamily="34" charset="0"/>
              <a:buChar char="•"/>
            </a:pPr>
            <a:r>
              <a:rPr lang="en-US" dirty="0"/>
              <a:t>Has both eager and normal speculation modes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4D4D82A-BC7D-DF15-C1C0-1F827B21194B}"/>
              </a:ext>
            </a:extLst>
          </p:cNvPr>
          <p:cNvSpPr>
            <a:spLocks noGrp="1"/>
          </p:cNvSpPr>
          <p:nvPr>
            <p:ph type="sldNum" sz="quarter" idx="4"/>
          </p:nvPr>
        </p:nvSpPr>
        <p:spPr/>
        <p:txBody>
          <a:bodyPr/>
          <a:lstStyle/>
          <a:p>
            <a:pPr>
              <a:defRPr/>
            </a:pPr>
            <a:fld id="{C8580F89-A3EA-CF4C-A13C-CD8A0A8D4F14}" type="slidenum">
              <a:rPr lang="en-US" smtClean="0"/>
              <a:pPr>
                <a:defRPr/>
              </a:pPr>
              <a:t>18</a:t>
            </a:fld>
            <a:endParaRPr lang="en-US" dirty="0"/>
          </a:p>
        </p:txBody>
      </p:sp>
      <p:sp>
        <p:nvSpPr>
          <p:cNvPr id="5" name="Title 1">
            <a:extLst>
              <a:ext uri="{FF2B5EF4-FFF2-40B4-BE49-F238E27FC236}">
                <a16:creationId xmlns:a16="http://schemas.microsoft.com/office/drawing/2014/main" id="{6470215B-87FC-62D9-4347-F5C4B2CD1BF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1243444029"/>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FA46-CABD-7A36-FFF8-2975DEC1AA1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74F7C36-28B8-3C35-9495-B6BCD25E82CC}"/>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0C6A0B-F10D-B0BE-9529-7EA9BED71093}"/>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6B431F53-0CFF-DF7B-3CCB-D7DDA4827D9E}"/>
              </a:ext>
            </a:extLst>
          </p:cNvPr>
          <p:cNvSpPr>
            <a:spLocks noGrp="1"/>
          </p:cNvSpPr>
          <p:nvPr>
            <p:ph sz="quarter" idx="10"/>
          </p:nvPr>
        </p:nvSpPr>
        <p:spPr>
          <a:xfrm>
            <a:off x="955678" y="1051101"/>
            <a:ext cx="7912750" cy="3411445"/>
          </a:xfrm>
        </p:spPr>
        <p:txBody>
          <a:bodyPr>
            <a:normAutofit lnSpcReduction="10000"/>
          </a:bodyPr>
          <a:lstStyle/>
          <a:p>
            <a:pPr>
              <a:buFont typeface="Arial" panose="020B0604020202020204" pitchFamily="34" charset="0"/>
              <a:buChar char="•"/>
            </a:pPr>
            <a:r>
              <a:rPr lang="en-US" b="1" dirty="0"/>
              <a:t>Protection set:</a:t>
            </a:r>
            <a:r>
              <a:rPr lang="en-US" dirty="0"/>
              <a:t> Reg + Mem</a:t>
            </a:r>
          </a:p>
          <a:p>
            <a:pPr>
              <a:buFont typeface="Arial" panose="020B0604020202020204" pitchFamily="34" charset="0"/>
              <a:buChar char="•"/>
            </a:pPr>
            <a:r>
              <a:rPr lang="en-US" b="1" dirty="0"/>
              <a:t>Leakage contract: </a:t>
            </a:r>
            <a:r>
              <a:rPr lang="en-US" dirty="0" err="1"/>
              <a:t>ld</a:t>
            </a:r>
            <a:r>
              <a:rPr lang="en-US" dirty="0"/>
              <a:t>-&gt;</a:t>
            </a:r>
            <a:r>
              <a:rPr lang="en-US" dirty="0" err="1"/>
              <a:t>in_addr</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lvl="2">
              <a:buFont typeface="Arial" panose="020B0604020202020204" pitchFamily="34" charset="0"/>
              <a:buChar char="•"/>
            </a:pPr>
            <a:r>
              <a:rPr lang="en-US" dirty="0"/>
              <a:t>i is speculative if not committed and (∃ unresolved i.(~po).Br OR (∃ unresolved i.(~po).(Str) and i is </a:t>
            </a:r>
            <a:r>
              <a:rPr lang="en-US" dirty="0" err="1"/>
              <a:t>Ld</a:t>
            </a:r>
            <a:r>
              <a:rPr lang="en-US" dirty="0"/>
              <a:t>)) </a:t>
            </a:r>
          </a:p>
          <a:p>
            <a:pPr lvl="2">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99E4E74-6A91-AAA9-CF43-B36C68EC1692}"/>
              </a:ext>
            </a:extLst>
          </p:cNvPr>
          <p:cNvSpPr>
            <a:spLocks noGrp="1"/>
          </p:cNvSpPr>
          <p:nvPr>
            <p:ph type="sldNum" sz="quarter" idx="4"/>
          </p:nvPr>
        </p:nvSpPr>
        <p:spPr/>
        <p:txBody>
          <a:bodyPr/>
          <a:lstStyle/>
          <a:p>
            <a:pPr>
              <a:defRPr/>
            </a:pPr>
            <a:fld id="{C8580F89-A3EA-CF4C-A13C-CD8A0A8D4F14}" type="slidenum">
              <a:rPr lang="en-US" smtClean="0"/>
              <a:pPr>
                <a:defRPr/>
              </a:pPr>
              <a:t>19</a:t>
            </a:fld>
            <a:endParaRPr lang="en-US" dirty="0"/>
          </a:p>
        </p:txBody>
      </p:sp>
      <p:sp>
        <p:nvSpPr>
          <p:cNvPr id="6" name="Title 1">
            <a:extLst>
              <a:ext uri="{FF2B5EF4-FFF2-40B4-BE49-F238E27FC236}">
                <a16:creationId xmlns:a16="http://schemas.microsoft.com/office/drawing/2014/main" id="{C9EABE44-E0AA-2E45-BAED-966A0DE4ECD5}"/>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317764589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3A4C-861E-B524-ECD3-0DDB7470E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69A9E-469D-869C-6B2A-B2A40F6692B0}"/>
              </a:ext>
            </a:extLst>
          </p:cNvPr>
          <p:cNvSpPr>
            <a:spLocks noGrp="1"/>
          </p:cNvSpPr>
          <p:nvPr>
            <p:ph type="title"/>
          </p:nvPr>
        </p:nvSpPr>
        <p:spPr/>
        <p:txBody>
          <a:bodyPr/>
          <a:lstStyle/>
          <a:p>
            <a:r>
              <a:rPr lang="en-US" dirty="0"/>
              <a:t>Speculative Data-Oblivious Execution — ISCA ’20</a:t>
            </a:r>
          </a:p>
        </p:txBody>
      </p:sp>
      <p:sp>
        <p:nvSpPr>
          <p:cNvPr id="3" name="Content Placeholder 2">
            <a:extLst>
              <a:ext uri="{FF2B5EF4-FFF2-40B4-BE49-F238E27FC236}">
                <a16:creationId xmlns:a16="http://schemas.microsoft.com/office/drawing/2014/main" id="{9A069504-7FCE-D878-D7ED-94025D786FF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Insight: Because of STT implicit branch stopping, the predictor is safe. There should be no tainted data affecting a predictor</a:t>
            </a:r>
          </a:p>
          <a:p>
            <a:pPr lvl="2">
              <a:buFont typeface="Arial" panose="020B0604020202020204" pitchFamily="34" charset="0"/>
              <a:buChar char="•"/>
            </a:pPr>
            <a:r>
              <a:rPr lang="en-US" dirty="0"/>
              <a:t>Squashes are revealable because they happen only when predicate is no longer tainted</a:t>
            </a:r>
          </a:p>
          <a:p>
            <a:pPr lvl="2">
              <a:buFont typeface="Arial" panose="020B0604020202020204" pitchFamily="34" charset="0"/>
              <a:buChar char="•"/>
            </a:pPr>
            <a:r>
              <a:rPr lang="en-US" dirty="0"/>
              <a:t>Only be concerned about explicit transmitters</a:t>
            </a:r>
          </a:p>
          <a:p>
            <a:pPr>
              <a:buFont typeface="Arial" panose="020B0604020202020204" pitchFamily="34" charset="0"/>
              <a:buChar char="•"/>
            </a:pPr>
            <a:r>
              <a:rPr lang="en-US" dirty="0"/>
              <a:t>Translate into a set of transmitter functions that cover path variability, and then predict path based on nonspeculative data (squashes are fine)</a:t>
            </a:r>
          </a:p>
          <a:p>
            <a:pPr>
              <a:buFont typeface="Arial" panose="020B0604020202020204" pitchFamily="34" charset="0"/>
              <a:buChar char="•"/>
            </a:pPr>
            <a:r>
              <a:rPr lang="en-US" dirty="0"/>
              <a:t>Predict based on PC</a:t>
            </a:r>
          </a:p>
          <a:p>
            <a:pPr>
              <a:buFont typeface="Arial" panose="020B0604020202020204" pitchFamily="34" charset="0"/>
              <a:buChar char="•"/>
            </a:pPr>
            <a:r>
              <a:rPr lang="en-US" dirty="0"/>
              <a:t>Loads are the complicated aspect, load function hides timing but not address leakage, must still block these types of leaks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F6AF49-83A0-0394-A964-5CA3A489F644}"/>
              </a:ext>
            </a:extLst>
          </p:cNvPr>
          <p:cNvSpPr>
            <a:spLocks noGrp="1"/>
          </p:cNvSpPr>
          <p:nvPr>
            <p:ph type="sldNum" sz="quarter" idx="4"/>
          </p:nvPr>
        </p:nvSpPr>
        <p:spPr/>
        <p:txBody>
          <a:bodyPr/>
          <a:lstStyle/>
          <a:p>
            <a:pPr>
              <a:defRPr/>
            </a:pPr>
            <a:fld id="{C8580F89-A3EA-CF4C-A13C-CD8A0A8D4F14}" type="slidenum">
              <a:rPr lang="en-US" smtClean="0"/>
              <a:pPr>
                <a:defRPr/>
              </a:pPr>
              <a:t>20</a:t>
            </a:fld>
            <a:endParaRPr lang="en-US" dirty="0"/>
          </a:p>
        </p:txBody>
      </p:sp>
      <p:sp>
        <p:nvSpPr>
          <p:cNvPr id="5" name="Title 1">
            <a:extLst>
              <a:ext uri="{FF2B5EF4-FFF2-40B4-BE49-F238E27FC236}">
                <a16:creationId xmlns:a16="http://schemas.microsoft.com/office/drawing/2014/main" id="{CE90D9EA-EB49-6720-31D6-A0D28D9945D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39629898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EE9E4-2A42-5D2C-B51B-514FE3D017B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0D5F45-B70D-35F7-6D34-1ED9CAE4E4B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3A1224-DDF3-A3E2-9134-1801F9E508B2}"/>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D872F30-2362-432D-B00D-3C8CD44EA37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Mem</a:t>
            </a:r>
            <a:endParaRPr lang="en-US" i="1" dirty="0"/>
          </a:p>
          <a:p>
            <a:pPr>
              <a:buFont typeface="Arial" panose="020B0604020202020204" pitchFamily="34" charset="0"/>
              <a:buChar char="•"/>
            </a:pPr>
            <a:r>
              <a:rPr lang="en-US" b="1" dirty="0"/>
              <a:t>Leakage contract: </a:t>
            </a:r>
            <a:r>
              <a:rPr lang="en-US" dirty="0"/>
              <a:t>implicit transmitters handled by aforementioned prediction and resolution taint blocks as in STT, explicit transmitters refactored such that µpaths don’t vary based on data</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7504E22-1403-3AA1-FDCF-7359121A0127}"/>
              </a:ext>
            </a:extLst>
          </p:cNvPr>
          <p:cNvSpPr>
            <a:spLocks noGrp="1"/>
          </p:cNvSpPr>
          <p:nvPr>
            <p:ph type="sldNum" sz="quarter" idx="4"/>
          </p:nvPr>
        </p:nvSpPr>
        <p:spPr/>
        <p:txBody>
          <a:bodyPr/>
          <a:lstStyle/>
          <a:p>
            <a:pPr>
              <a:defRPr/>
            </a:pPr>
            <a:fld id="{C8580F89-A3EA-CF4C-A13C-CD8A0A8D4F14}" type="slidenum">
              <a:rPr lang="en-US" smtClean="0"/>
              <a:pPr>
                <a:defRPr/>
              </a:pPr>
              <a:t>21</a:t>
            </a:fld>
            <a:endParaRPr lang="en-US" dirty="0"/>
          </a:p>
        </p:txBody>
      </p:sp>
      <p:sp>
        <p:nvSpPr>
          <p:cNvPr id="5" name="Title 1">
            <a:extLst>
              <a:ext uri="{FF2B5EF4-FFF2-40B4-BE49-F238E27FC236}">
                <a16:creationId xmlns:a16="http://schemas.microsoft.com/office/drawing/2014/main" id="{F43C350A-E1A8-1F52-0E7E-119A1E817D9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2304012201"/>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69CE-DFD3-9E88-FE42-A6E435489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37CF6-8226-BCD7-90A7-ABFC9421CA8A}"/>
              </a:ext>
            </a:extLst>
          </p:cNvPr>
          <p:cNvSpPr>
            <a:spLocks noGrp="1"/>
          </p:cNvSpPr>
          <p:nvPr>
            <p:ph type="title"/>
          </p:nvPr>
        </p:nvSpPr>
        <p:spPr/>
        <p:txBody>
          <a:bodyPr/>
          <a:lstStyle/>
          <a:p>
            <a:r>
              <a:rPr lang="en-US" dirty="0"/>
              <a:t>Speculative Privacy Tracking — MICRO ’21</a:t>
            </a:r>
          </a:p>
        </p:txBody>
      </p:sp>
      <p:sp>
        <p:nvSpPr>
          <p:cNvPr id="3" name="Content Placeholder 2">
            <a:extLst>
              <a:ext uri="{FF2B5EF4-FFF2-40B4-BE49-F238E27FC236}">
                <a16:creationId xmlns:a16="http://schemas.microsoft.com/office/drawing/2014/main" id="{3871FD3D-A09A-10B6-47BA-0F9DAB9244A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STT modified with declassification pass back based on implicit instruction functions for leakage propagation </a:t>
            </a:r>
          </a:p>
          <a:p>
            <a:pPr>
              <a:buFont typeface="Arial" panose="020B0604020202020204" pitchFamily="34" charset="0"/>
              <a:buChar char="•"/>
            </a:pPr>
            <a:r>
              <a:rPr lang="en-US" dirty="0"/>
              <a:t>SNI – does not protect against things that haven’t already leaked</a:t>
            </a:r>
          </a:p>
          <a:p>
            <a:pPr>
              <a:buFont typeface="Arial" panose="020B0604020202020204" pitchFamily="34" charset="0"/>
              <a:buChar char="•"/>
            </a:pPr>
            <a:r>
              <a:rPr lang="en-US" dirty="0"/>
              <a:t>DOES NOT discriminate between partial vs full leakage of an instruction</a:t>
            </a:r>
          </a:p>
          <a:p>
            <a:pPr>
              <a:buFont typeface="Arial" panose="020B0604020202020204" pitchFamily="34" charset="0"/>
              <a:buChar char="•"/>
            </a:pPr>
            <a:r>
              <a:rPr lang="en-US" dirty="0"/>
              <a:t>Delayed execution protection policy</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4EEA691-389A-0111-A690-6137376F3D78}"/>
              </a:ext>
            </a:extLst>
          </p:cNvPr>
          <p:cNvSpPr>
            <a:spLocks noGrp="1"/>
          </p:cNvSpPr>
          <p:nvPr>
            <p:ph type="sldNum" sz="quarter" idx="4"/>
          </p:nvPr>
        </p:nvSpPr>
        <p:spPr/>
        <p:txBody>
          <a:bodyPr/>
          <a:lstStyle/>
          <a:p>
            <a:pPr>
              <a:defRPr/>
            </a:pPr>
            <a:fld id="{C8580F89-A3EA-CF4C-A13C-CD8A0A8D4F14}" type="slidenum">
              <a:rPr lang="en-US" smtClean="0"/>
              <a:pPr>
                <a:defRPr/>
              </a:pPr>
              <a:t>22</a:t>
            </a:fld>
            <a:endParaRPr lang="en-US" dirty="0"/>
          </a:p>
        </p:txBody>
      </p:sp>
      <p:sp>
        <p:nvSpPr>
          <p:cNvPr id="5" name="Title 1">
            <a:extLst>
              <a:ext uri="{FF2B5EF4-FFF2-40B4-BE49-F238E27FC236}">
                <a16:creationId xmlns:a16="http://schemas.microsoft.com/office/drawing/2014/main" id="{34C09089-7D56-E182-06FF-681C5F2E70F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604767147"/>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1D50-8E11-325E-A3E3-A171C3CC345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CEAAEE-2CD7-C241-6854-C50DBB37FF05}"/>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D404D0-0A64-4C68-46DE-EB9CAEAB38A1}"/>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5B1A8C4-65B0-52CB-7D37-405FCAE3ACF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p>
          <a:p>
            <a:pPr>
              <a:buFont typeface="Arial" panose="020B0604020202020204" pitchFamily="34" charset="0"/>
              <a:buChar char="•"/>
            </a:pPr>
            <a:r>
              <a:rPr lang="en-US" i="1" dirty="0"/>
              <a:t>Propagation: Untainting when an operand is transmitted by a non-speculative transmit or branch, followed by propagation:</a:t>
            </a:r>
          </a:p>
          <a:p>
            <a:pPr lvl="2">
              <a:buFont typeface="Arial" panose="020B0604020202020204" pitchFamily="34" charset="0"/>
              <a:buChar char="•"/>
            </a:pPr>
            <a:r>
              <a:rPr lang="en-US" i="1" dirty="0"/>
              <a:t>Forward output untainting: if all operands untainted, output untainted</a:t>
            </a:r>
          </a:p>
          <a:p>
            <a:pPr lvl="2">
              <a:buFont typeface="Arial" panose="020B0604020202020204" pitchFamily="34" charset="0"/>
              <a:buChar char="•"/>
            </a:pPr>
            <a:r>
              <a:rPr lang="en-US" i="1" dirty="0"/>
              <a:t>Backward input untainting: if mov or invertible arith, a singular tainted input is untainted if everything else is</a:t>
            </a:r>
          </a:p>
          <a:p>
            <a:pPr lvl="2">
              <a:buFont typeface="Arial" panose="020B0604020202020204" pitchFamily="34" charset="0"/>
              <a:buChar char="•"/>
            </a:pPr>
            <a:r>
              <a:rPr lang="en-US" i="1" dirty="0"/>
              <a:t>STL load address transmission untainting</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Visibility point</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0145697-A976-69AD-F409-3D03BD52AD63}"/>
              </a:ext>
            </a:extLst>
          </p:cNvPr>
          <p:cNvSpPr>
            <a:spLocks noGrp="1"/>
          </p:cNvSpPr>
          <p:nvPr>
            <p:ph type="sldNum" sz="quarter" idx="4"/>
          </p:nvPr>
        </p:nvSpPr>
        <p:spPr/>
        <p:txBody>
          <a:bodyPr/>
          <a:lstStyle/>
          <a:p>
            <a:pPr>
              <a:defRPr/>
            </a:pPr>
            <a:fld id="{C8580F89-A3EA-CF4C-A13C-CD8A0A8D4F14}" type="slidenum">
              <a:rPr lang="en-US" smtClean="0"/>
              <a:pPr>
                <a:defRPr/>
              </a:pPr>
              <a:t>23</a:t>
            </a:fld>
            <a:endParaRPr lang="en-US" dirty="0"/>
          </a:p>
        </p:txBody>
      </p:sp>
      <p:sp>
        <p:nvSpPr>
          <p:cNvPr id="6" name="Title 1">
            <a:extLst>
              <a:ext uri="{FF2B5EF4-FFF2-40B4-BE49-F238E27FC236}">
                <a16:creationId xmlns:a16="http://schemas.microsoft.com/office/drawing/2014/main" id="{199794A3-ED52-8001-BD3E-3ED66A0005B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101684796"/>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601A8-93EF-E27C-E533-BD561DE3C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358B4-1EAC-51C1-2BB9-4AF9C31BC192}"/>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3E81EF3-3FB3-8A88-598D-36F2A3ED5644}"/>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If we don’t just want a conservative non-taint logic, need to differentiate between instructions at a finer granularity such that we can properly cover the untainting </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92CBD24-D9E1-F317-BFCD-4E62DACBDFEA}"/>
              </a:ext>
            </a:extLst>
          </p:cNvPr>
          <p:cNvSpPr>
            <a:spLocks noGrp="1"/>
          </p:cNvSpPr>
          <p:nvPr>
            <p:ph type="sldNum" sz="quarter" idx="4"/>
          </p:nvPr>
        </p:nvSpPr>
        <p:spPr/>
        <p:txBody>
          <a:bodyPr/>
          <a:lstStyle/>
          <a:p>
            <a:pPr>
              <a:defRPr/>
            </a:pPr>
            <a:fld id="{C8580F89-A3EA-CF4C-A13C-CD8A0A8D4F14}" type="slidenum">
              <a:rPr lang="en-US" smtClean="0"/>
              <a:pPr>
                <a:defRPr/>
              </a:pPr>
              <a:t>24</a:t>
            </a:fld>
            <a:endParaRPr lang="en-US" dirty="0"/>
          </a:p>
        </p:txBody>
      </p:sp>
      <p:sp>
        <p:nvSpPr>
          <p:cNvPr id="5" name="Title 1">
            <a:extLst>
              <a:ext uri="{FF2B5EF4-FFF2-40B4-BE49-F238E27FC236}">
                <a16:creationId xmlns:a16="http://schemas.microsoft.com/office/drawing/2014/main" id="{F2860B5A-800D-F04A-360C-90C21155DEFC}"/>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1958245854"/>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AB0E-6785-C402-106D-77C66440A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0C664-57B8-8C86-B62B-B48CF2623ED3}"/>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EE1EF323-F294-5EAE-3F4D-2A9B7A2ABDA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Subregister writing</a:t>
            </a:r>
          </a:p>
          <a:p>
            <a:pPr lvl="2">
              <a:buFont typeface="Arial" panose="020B0604020202020204" pitchFamily="34" charset="0"/>
              <a:buChar char="•"/>
            </a:pPr>
            <a:r>
              <a:rPr lang="en-US" dirty="0"/>
              <a:t>X86 artifact that you can write subregisters, unprotects half-written secrets but then the unaligned load can leak information</a:t>
            </a:r>
          </a:p>
          <a:p>
            <a:pPr lvl="2">
              <a:buFont typeface="Arial" panose="020B0604020202020204" pitchFamily="34" charset="0"/>
              <a:buChar char="•"/>
            </a:pPr>
            <a:r>
              <a:rPr lang="en-US" dirty="0"/>
              <a:t>Gem5 issues 2 separate calls and SPT unprotects both loads becase it has byte granularity protection but assumes the memory access hits the whole thing</a:t>
            </a:r>
          </a:p>
          <a:p>
            <a:pPr>
              <a:buFont typeface="Arial" panose="020B0604020202020204" pitchFamily="34" charset="0"/>
              <a:buChar char="•"/>
            </a:pPr>
            <a:r>
              <a:rPr lang="en-US" b="1" dirty="0"/>
              <a:t>Rename stage</a:t>
            </a:r>
          </a:p>
          <a:p>
            <a:pPr lvl="2">
              <a:buFont typeface="Arial" panose="020B0604020202020204" pitchFamily="34" charset="0"/>
              <a:buChar char="•"/>
            </a:pPr>
            <a:r>
              <a:rPr lang="en-US" dirty="0"/>
              <a:t>Default to mark registers as unprotected, then protect when renamed </a:t>
            </a:r>
          </a:p>
        </p:txBody>
      </p:sp>
      <p:sp>
        <p:nvSpPr>
          <p:cNvPr id="4" name="Slide Number Placeholder 3">
            <a:extLst>
              <a:ext uri="{FF2B5EF4-FFF2-40B4-BE49-F238E27FC236}">
                <a16:creationId xmlns:a16="http://schemas.microsoft.com/office/drawing/2014/main" id="{66609B2A-2C3F-D60C-17F6-5A316868B3C7}"/>
              </a:ext>
            </a:extLst>
          </p:cNvPr>
          <p:cNvSpPr>
            <a:spLocks noGrp="1"/>
          </p:cNvSpPr>
          <p:nvPr>
            <p:ph type="sldNum" sz="quarter" idx="4"/>
          </p:nvPr>
        </p:nvSpPr>
        <p:spPr/>
        <p:txBody>
          <a:bodyPr/>
          <a:lstStyle/>
          <a:p>
            <a:pPr>
              <a:defRPr/>
            </a:pPr>
            <a:fld id="{C8580F89-A3EA-CF4C-A13C-CD8A0A8D4F14}" type="slidenum">
              <a:rPr lang="en-US" smtClean="0"/>
              <a:pPr>
                <a:defRPr/>
              </a:pPr>
              <a:t>25</a:t>
            </a:fld>
            <a:endParaRPr lang="en-US" dirty="0"/>
          </a:p>
        </p:txBody>
      </p:sp>
      <p:sp>
        <p:nvSpPr>
          <p:cNvPr id="5" name="Title 1">
            <a:extLst>
              <a:ext uri="{FF2B5EF4-FFF2-40B4-BE49-F238E27FC236}">
                <a16:creationId xmlns:a16="http://schemas.microsoft.com/office/drawing/2014/main" id="{9EF1A0DC-2524-B1A9-C6A1-F980DA3D8AB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806214348"/>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936A-EE3D-1D74-0104-B0560D60E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CC3BC-884A-1285-9DBF-DA6B13118F49}"/>
              </a:ext>
            </a:extLst>
          </p:cNvPr>
          <p:cNvSpPr>
            <a:spLocks noGrp="1"/>
          </p:cNvSpPr>
          <p:nvPr>
            <p:ph type="title"/>
          </p:nvPr>
        </p:nvSpPr>
        <p:spPr/>
        <p:txBody>
          <a:bodyPr/>
          <a:lstStyle/>
          <a:p>
            <a:r>
              <a:rPr lang="en-US" dirty="0"/>
              <a:t>RevealConceal — Micro ’23</a:t>
            </a:r>
          </a:p>
        </p:txBody>
      </p:sp>
      <p:sp>
        <p:nvSpPr>
          <p:cNvPr id="3" name="Content Placeholder 2">
            <a:extLst>
              <a:ext uri="{FF2B5EF4-FFF2-40B4-BE49-F238E27FC236}">
                <a16:creationId xmlns:a16="http://schemas.microsoft.com/office/drawing/2014/main" id="{BA097059-CBCA-DF90-E212-67DB59CDFBA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Tracking non-speculative leakage is a good security definition, but carries a lot of overhead in tracking complexity (SPT)</a:t>
            </a:r>
          </a:p>
          <a:p>
            <a:pPr>
              <a:buFont typeface="Arial" panose="020B0604020202020204" pitchFamily="34" charset="0"/>
              <a:buChar char="•"/>
            </a:pPr>
            <a:r>
              <a:rPr lang="en-US" dirty="0"/>
              <a:t>Insight: the majority of these non-speculative leakage events are pointer dereferences (load address transmissions)</a:t>
            </a:r>
          </a:p>
          <a:p>
            <a:pPr>
              <a:buFont typeface="Arial" panose="020B0604020202020204" pitchFamily="34" charset="0"/>
              <a:buChar char="•"/>
            </a:pPr>
            <a:r>
              <a:rPr lang="en-US" dirty="0"/>
              <a:t>STT has loss of MLP in prohibition of load-load dependencies</a:t>
            </a:r>
          </a:p>
          <a:p>
            <a:pPr>
              <a:buFont typeface="Arial" panose="020B0604020202020204" pitchFamily="34" charset="0"/>
              <a:buChar char="•"/>
            </a:pPr>
            <a:r>
              <a:rPr lang="en-US" dirty="0"/>
              <a:t>Only track pointer dereference s.t. we can limit overhead</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670A5E4-AA5D-5A53-E131-B5C283618706}"/>
              </a:ext>
            </a:extLst>
          </p:cNvPr>
          <p:cNvSpPr>
            <a:spLocks noGrp="1"/>
          </p:cNvSpPr>
          <p:nvPr>
            <p:ph type="sldNum" sz="quarter" idx="4"/>
          </p:nvPr>
        </p:nvSpPr>
        <p:spPr/>
        <p:txBody>
          <a:bodyPr/>
          <a:lstStyle/>
          <a:p>
            <a:pPr>
              <a:defRPr/>
            </a:pPr>
            <a:fld id="{C8580F89-A3EA-CF4C-A13C-CD8A0A8D4F14}" type="slidenum">
              <a:rPr lang="en-US" smtClean="0"/>
              <a:pPr>
                <a:defRPr/>
              </a:pPr>
              <a:t>26</a:t>
            </a:fld>
            <a:endParaRPr lang="en-US" dirty="0"/>
          </a:p>
        </p:txBody>
      </p:sp>
      <p:sp>
        <p:nvSpPr>
          <p:cNvPr id="5" name="Title 1">
            <a:extLst>
              <a:ext uri="{FF2B5EF4-FFF2-40B4-BE49-F238E27FC236}">
                <a16:creationId xmlns:a16="http://schemas.microsoft.com/office/drawing/2014/main" id="{B0DC8B9E-A38E-BCEC-5315-54862C781F1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536756391"/>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EF4A-3AF4-283C-611B-5DF0DF606B1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9629CC4-0E64-6359-705A-C601150A480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5FB393-33B6-3A2C-2822-D34BBBA2B356}"/>
              </a:ext>
            </a:extLst>
          </p:cNvPr>
          <p:cNvSpPr>
            <a:spLocks noGrp="1"/>
          </p:cNvSpPr>
          <p:nvPr>
            <p:ph type="title"/>
          </p:nvPr>
        </p:nvSpPr>
        <p:spPr/>
        <p:txBody>
          <a:bodyPr/>
          <a:lstStyle/>
          <a:p>
            <a:r>
              <a:rPr lang="en-US" dirty="0"/>
              <a:t>ReCon-STT SimSpect specification</a:t>
            </a:r>
          </a:p>
        </p:txBody>
      </p:sp>
      <p:sp>
        <p:nvSpPr>
          <p:cNvPr id="3" name="Content Placeholder 2">
            <a:extLst>
              <a:ext uri="{FF2B5EF4-FFF2-40B4-BE49-F238E27FC236}">
                <a16:creationId xmlns:a16="http://schemas.microsoft.com/office/drawing/2014/main" id="{812B8B38-BA56-77BE-B37B-845A9CF98A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explicit transmitter set user-defined, implicit transmitters also handled by aforementioned STT prediction and resolution taint blocks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0C4C24F-DBD5-F61C-3B8F-974604CC0E70}"/>
              </a:ext>
            </a:extLst>
          </p:cNvPr>
          <p:cNvSpPr>
            <a:spLocks noGrp="1"/>
          </p:cNvSpPr>
          <p:nvPr>
            <p:ph type="sldNum" sz="quarter" idx="4"/>
          </p:nvPr>
        </p:nvSpPr>
        <p:spPr/>
        <p:txBody>
          <a:bodyPr/>
          <a:lstStyle/>
          <a:p>
            <a:pPr>
              <a:defRPr/>
            </a:pPr>
            <a:fld id="{C8580F89-A3EA-CF4C-A13C-CD8A0A8D4F14}" type="slidenum">
              <a:rPr lang="en-US" smtClean="0"/>
              <a:pPr>
                <a:defRPr/>
              </a:pPr>
              <a:t>27</a:t>
            </a:fld>
            <a:endParaRPr lang="en-US" dirty="0"/>
          </a:p>
        </p:txBody>
      </p:sp>
      <p:sp>
        <p:nvSpPr>
          <p:cNvPr id="7" name="Title 1">
            <a:extLst>
              <a:ext uri="{FF2B5EF4-FFF2-40B4-BE49-F238E27FC236}">
                <a16:creationId xmlns:a16="http://schemas.microsoft.com/office/drawing/2014/main" id="{3D46D59F-059D-D86B-A3B9-CB262036ED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3748386543"/>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BAA5-C944-18DE-9515-A5BFDC9D8DE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493B7CB-6F51-8C20-4A7D-6C9F4C287549}"/>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3EA552-402A-22A7-53E6-A98E3349C91C}"/>
              </a:ext>
            </a:extLst>
          </p:cNvPr>
          <p:cNvSpPr>
            <a:spLocks noGrp="1"/>
          </p:cNvSpPr>
          <p:nvPr>
            <p:ph type="title"/>
          </p:nvPr>
        </p:nvSpPr>
        <p:spPr/>
        <p:txBody>
          <a:bodyPr/>
          <a:lstStyle/>
          <a:p>
            <a:r>
              <a:rPr lang="en-US" dirty="0"/>
              <a:t>ReCon-NDA SimSpect specification</a:t>
            </a:r>
          </a:p>
        </p:txBody>
      </p:sp>
      <p:sp>
        <p:nvSpPr>
          <p:cNvPr id="3" name="Content Placeholder 2">
            <a:extLst>
              <a:ext uri="{FF2B5EF4-FFF2-40B4-BE49-F238E27FC236}">
                <a16:creationId xmlns:a16="http://schemas.microsoft.com/office/drawing/2014/main" id="{E280B25A-6F1E-245C-BBEB-45519B62452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all transmitters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F18E17E-7658-1FA0-1333-58C8864664A8}"/>
              </a:ext>
            </a:extLst>
          </p:cNvPr>
          <p:cNvSpPr>
            <a:spLocks noGrp="1"/>
          </p:cNvSpPr>
          <p:nvPr>
            <p:ph type="sldNum" sz="quarter" idx="4"/>
          </p:nvPr>
        </p:nvSpPr>
        <p:spPr/>
        <p:txBody>
          <a:bodyPr/>
          <a:lstStyle/>
          <a:p>
            <a:pPr>
              <a:defRPr/>
            </a:pPr>
            <a:fld id="{C8580F89-A3EA-CF4C-A13C-CD8A0A8D4F14}" type="slidenum">
              <a:rPr lang="en-US" smtClean="0"/>
              <a:pPr>
                <a:defRPr/>
              </a:pPr>
              <a:t>28</a:t>
            </a:fld>
            <a:endParaRPr lang="en-US" dirty="0"/>
          </a:p>
        </p:txBody>
      </p:sp>
      <p:sp>
        <p:nvSpPr>
          <p:cNvPr id="7" name="Title 1">
            <a:extLst>
              <a:ext uri="{FF2B5EF4-FFF2-40B4-BE49-F238E27FC236}">
                <a16:creationId xmlns:a16="http://schemas.microsoft.com/office/drawing/2014/main" id="{CBB26D9F-A888-608A-816A-8FE5A01BE17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746334970"/>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C6FF-BF0D-FF72-B31F-BE8889055881}"/>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C0496A2E-CA13-847B-E5AC-5724EB9701AD}"/>
              </a:ext>
            </a:extLst>
          </p:cNvPr>
          <p:cNvSpPr>
            <a:spLocks noGrp="1"/>
          </p:cNvSpPr>
          <p:nvPr>
            <p:ph sz="quarter" idx="10"/>
          </p:nvPr>
        </p:nvSpPr>
        <p:spPr/>
        <p:txBody>
          <a:bodyPr/>
          <a:lstStyle/>
          <a:p>
            <a:pPr>
              <a:buFont typeface="Arial" panose="020B0604020202020204" pitchFamily="34" charset="0"/>
              <a:buChar char="•"/>
            </a:pPr>
            <a:r>
              <a:rPr lang="en-US" b="1" dirty="0"/>
              <a:t>STT load order bug</a:t>
            </a:r>
            <a:endParaRPr lang="en-US" b="1" dirty="0">
              <a:solidFill>
                <a:srgbClr val="595959"/>
              </a:solidFill>
            </a:endParaRPr>
          </a:p>
          <a:p>
            <a:pPr lvl="2">
              <a:buFont typeface="Arial" panose="020B0604020202020204" pitchFamily="34" charset="0"/>
              <a:buChar char="•"/>
            </a:pPr>
            <a:r>
              <a:rPr lang="en-US" dirty="0">
                <a:solidFill>
                  <a:schemeClr val="tx1"/>
                </a:solidFill>
              </a:rPr>
              <a:t>Stalls transmitters until oldest load that the sensitive op depends on has become nonspeculative (should be youngest)</a:t>
            </a:r>
          </a:p>
          <a:p>
            <a:pPr>
              <a:buFont typeface="Arial" panose="020B0604020202020204" pitchFamily="34" charset="0"/>
              <a:buChar char="•"/>
            </a:pPr>
            <a:r>
              <a:rPr lang="en-US" b="1" dirty="0"/>
              <a:t>Secondary STT bug</a:t>
            </a:r>
          </a:p>
          <a:p>
            <a:pPr lvl="2">
              <a:buFont typeface="Arial" panose="020B0604020202020204" pitchFamily="34" charset="0"/>
              <a:buChar char="•"/>
            </a:pPr>
            <a:r>
              <a:rPr lang="en-US" dirty="0">
                <a:solidFill>
                  <a:schemeClr val="tx1"/>
                </a:solidFill>
              </a:rPr>
              <a:t>Untaints register when the youngest load it depends on reads unprotected memory, but if there are multiple you must check all speculative loads it depends on</a:t>
            </a:r>
          </a:p>
          <a:p>
            <a:pPr>
              <a:buFont typeface="Arial" panose="020B0604020202020204" pitchFamily="34" charset="0"/>
              <a:buChar char="•"/>
            </a:pPr>
            <a:r>
              <a:rPr kumimoji="0" lang="en-US" b="1" i="0" u="none" strike="noStrike" kern="1200" cap="none" spc="20" normalizeH="0" baseline="0" noProof="0" dirty="0">
                <a:ln>
                  <a:noFill/>
                </a:ln>
                <a:solidFill>
                  <a:srgbClr val="000000"/>
                </a:solidFill>
                <a:effectLst/>
                <a:uLnTx/>
                <a:uFillTx/>
                <a:latin typeface="Source Sans Pro"/>
                <a:ea typeface="ＭＳ Ｐゴシック" charset="0"/>
              </a:rPr>
              <a:t>Memory unprotection protection set tracking bug</a:t>
            </a:r>
          </a:p>
          <a:p>
            <a:pPr lvl="2">
              <a:buFont typeface="Arial" panose="020B0604020202020204" pitchFamily="34" charset="0"/>
              <a:buChar char="•"/>
            </a:pPr>
            <a:r>
              <a:rPr kumimoji="0" lang="en-US" i="0" u="none" strike="noStrike" kern="1200" cap="none" spc="20" normalizeH="0" baseline="0" noProof="0" dirty="0">
                <a:ln>
                  <a:noFill/>
                </a:ln>
                <a:solidFill>
                  <a:srgbClr val="000000"/>
                </a:solidFill>
                <a:effectLst/>
                <a:uLnTx/>
                <a:uFillTx/>
                <a:latin typeface="Source Sans Pro"/>
                <a:ea typeface="ＭＳ Ｐゴシック" charset="0"/>
              </a:rPr>
              <a:t>Recon unprotects secret memory when an interleaved store makes the memory secret but its prior value leaks later</a:t>
            </a:r>
          </a:p>
          <a:p>
            <a:pPr lvl="1" indent="-342900">
              <a:buClrTx/>
              <a:buFont typeface="Arial" panose="020B0604020202020204" pitchFamily="34" charset="0"/>
              <a:buChar char="•"/>
              <a:defRPr/>
            </a:pPr>
            <a:endParaRPr kumimoji="0" lang="en-US" i="0" u="none" strike="noStrike" kern="1200" cap="none" spc="20" normalizeH="0" baseline="0" noProof="0" dirty="0">
              <a:ln>
                <a:noFill/>
              </a:ln>
              <a:solidFill>
                <a:srgbClr val="000000"/>
              </a:solidFill>
              <a:effectLst/>
              <a:uLnTx/>
              <a:uFillTx/>
              <a:latin typeface="Source Sans Pro"/>
              <a:ea typeface="ＭＳ Ｐゴシック" charset="0"/>
            </a:endParaRP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marL="0" lvl="1" indent="0">
              <a:buNone/>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6FAE8C1-8225-128D-900F-ABFEE6FBE323}"/>
              </a:ext>
            </a:extLst>
          </p:cNvPr>
          <p:cNvSpPr>
            <a:spLocks noGrp="1"/>
          </p:cNvSpPr>
          <p:nvPr>
            <p:ph type="sldNum" sz="quarter" idx="4"/>
          </p:nvPr>
        </p:nvSpPr>
        <p:spPr/>
        <p:txBody>
          <a:bodyPr/>
          <a:lstStyle/>
          <a:p>
            <a:pPr>
              <a:defRPr/>
            </a:pPr>
            <a:fld id="{C8580F89-A3EA-CF4C-A13C-CD8A0A8D4F14}" type="slidenum">
              <a:rPr lang="en-US" smtClean="0"/>
              <a:pPr>
                <a:defRPr/>
              </a:pPr>
              <a:t>29</a:t>
            </a:fld>
            <a:endParaRPr lang="en-US" dirty="0"/>
          </a:p>
        </p:txBody>
      </p:sp>
      <p:sp>
        <p:nvSpPr>
          <p:cNvPr id="5" name="Title 1">
            <a:extLst>
              <a:ext uri="{FF2B5EF4-FFF2-40B4-BE49-F238E27FC236}">
                <a16:creationId xmlns:a16="http://schemas.microsoft.com/office/drawing/2014/main" id="{48F55709-B6EE-F1BC-A015-091329EEB40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661841804"/>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0970-5366-3473-16C2-16A3A559D263}"/>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7B6DB99F-0EEF-70FF-8910-BB4455B57989}"/>
              </a:ext>
            </a:extLst>
          </p:cNvPr>
          <p:cNvSpPr>
            <a:spLocks noGrp="1"/>
          </p:cNvSpPr>
          <p:nvPr>
            <p:ph type="title"/>
          </p:nvPr>
        </p:nvSpPr>
        <p:spPr>
          <a:xfrm>
            <a:off x="948776" y="501957"/>
            <a:ext cx="7707862" cy="488024"/>
          </a:xfrm>
        </p:spPr>
        <p:txBody>
          <a:bodyPr/>
          <a:lstStyle/>
          <a:p>
            <a:r>
              <a:rPr lang="en-US" dirty="0"/>
              <a:t>STT load order bug</a:t>
            </a:r>
          </a:p>
        </p:txBody>
      </p:sp>
      <p:sp>
        <p:nvSpPr>
          <p:cNvPr id="196" name="Title 1">
            <a:extLst>
              <a:ext uri="{FF2B5EF4-FFF2-40B4-BE49-F238E27FC236}">
                <a16:creationId xmlns:a16="http://schemas.microsoft.com/office/drawing/2014/main" id="{A8D99A13-0A49-D63E-DCFA-F607266DE67D}"/>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TextBox 1">
            <a:extLst>
              <a:ext uri="{FF2B5EF4-FFF2-40B4-BE49-F238E27FC236}">
                <a16:creationId xmlns:a16="http://schemas.microsoft.com/office/drawing/2014/main" id="{014B9ED8-1F0A-C461-2ECA-924D914C36F9}"/>
              </a:ext>
            </a:extLst>
          </p:cNvPr>
          <p:cNvSpPr txBox="1"/>
          <p:nvPr/>
        </p:nvSpPr>
        <p:spPr>
          <a:xfrm>
            <a:off x="4364689" y="375262"/>
            <a:ext cx="3988655" cy="830997"/>
          </a:xfrm>
          <a:prstGeom prst="rect">
            <a:avLst/>
          </a:prstGeom>
          <a:noFill/>
        </p:spPr>
        <p:txBody>
          <a:bodyPr wrap="square" rtlCol="0">
            <a:spAutoFit/>
          </a:bodyPr>
          <a:lstStyle/>
          <a:p>
            <a:r>
              <a:rPr lang="en-US" sz="1600" dirty="0"/>
              <a:t>Recon stalls transmitters until oldest load that the sensitive operand depends on, should be the youngest. </a:t>
            </a:r>
          </a:p>
        </p:txBody>
      </p:sp>
      <p:grpSp>
        <p:nvGrpSpPr>
          <p:cNvPr id="3" name="Group 2">
            <a:extLst>
              <a:ext uri="{FF2B5EF4-FFF2-40B4-BE49-F238E27FC236}">
                <a16:creationId xmlns:a16="http://schemas.microsoft.com/office/drawing/2014/main" id="{A201C2E3-B103-BB2D-4AAC-DB7180866965}"/>
              </a:ext>
            </a:extLst>
          </p:cNvPr>
          <p:cNvGrpSpPr/>
          <p:nvPr/>
        </p:nvGrpSpPr>
        <p:grpSpPr>
          <a:xfrm>
            <a:off x="1051428" y="1703511"/>
            <a:ext cx="4088040" cy="2268618"/>
            <a:chOff x="897706" y="1804040"/>
            <a:chExt cx="4088040" cy="2268618"/>
          </a:xfrm>
        </p:grpSpPr>
        <p:grpSp>
          <p:nvGrpSpPr>
            <p:cNvPr id="4" name="Group 3">
              <a:extLst>
                <a:ext uri="{FF2B5EF4-FFF2-40B4-BE49-F238E27FC236}">
                  <a16:creationId xmlns:a16="http://schemas.microsoft.com/office/drawing/2014/main" id="{692C6D1E-9DE7-6DB1-678F-DE4E1C174AA4}"/>
                </a:ext>
              </a:extLst>
            </p:cNvPr>
            <p:cNvGrpSpPr/>
            <p:nvPr/>
          </p:nvGrpSpPr>
          <p:grpSpPr>
            <a:xfrm>
              <a:off x="897706" y="1804040"/>
              <a:ext cx="4088040" cy="2268618"/>
              <a:chOff x="898680" y="1851390"/>
              <a:chExt cx="4088040" cy="2268618"/>
            </a:xfrm>
          </p:grpSpPr>
          <p:sp>
            <p:nvSpPr>
              <p:cNvPr id="10" name="Rounded Rectangle 9">
                <a:extLst>
                  <a:ext uri="{FF2B5EF4-FFF2-40B4-BE49-F238E27FC236}">
                    <a16:creationId xmlns:a16="http://schemas.microsoft.com/office/drawing/2014/main" id="{8D47684B-9042-D2DC-70DA-2CFB2E8F55AA}"/>
                  </a:ext>
                </a:extLst>
              </p:cNvPr>
              <p:cNvSpPr/>
              <p:nvPr/>
            </p:nvSpPr>
            <p:spPr>
              <a:xfrm>
                <a:off x="2310442" y="27623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sec -&gt; a</a:t>
                </a:r>
              </a:p>
            </p:txBody>
          </p:sp>
          <p:sp>
            <p:nvSpPr>
              <p:cNvPr id="11" name="Rounded Rectangle 10">
                <a:extLst>
                  <a:ext uri="{FF2B5EF4-FFF2-40B4-BE49-F238E27FC236}">
                    <a16:creationId xmlns:a16="http://schemas.microsoft.com/office/drawing/2014/main" id="{AFDA2C81-6896-CCCE-31EC-912D199B591E}"/>
                  </a:ext>
                </a:extLst>
              </p:cNvPr>
              <p:cNvSpPr/>
              <p:nvPr/>
            </p:nvSpPr>
            <p:spPr>
              <a:xfrm>
                <a:off x="2310442" y="32195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mem[a] -&gt; c </a:t>
                </a:r>
              </a:p>
            </p:txBody>
          </p:sp>
          <p:sp>
            <p:nvSpPr>
              <p:cNvPr id="12" name="Rounded Rectangle 11">
                <a:extLst>
                  <a:ext uri="{FF2B5EF4-FFF2-40B4-BE49-F238E27FC236}">
                    <a16:creationId xmlns:a16="http://schemas.microsoft.com/office/drawing/2014/main" id="{2A95D42B-9A59-85EB-BA5F-2D30524DB040}"/>
                  </a:ext>
                </a:extLst>
              </p:cNvPr>
              <p:cNvSpPr/>
              <p:nvPr/>
            </p:nvSpPr>
            <p:spPr>
              <a:xfrm>
                <a:off x="2306813" y="2305141"/>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b -&gt; a</a:t>
                </a:r>
              </a:p>
            </p:txBody>
          </p:sp>
          <p:sp>
            <p:nvSpPr>
              <p:cNvPr id="13" name="Oval 12">
                <a:extLst>
                  <a:ext uri="{FF2B5EF4-FFF2-40B4-BE49-F238E27FC236}">
                    <a16:creationId xmlns:a16="http://schemas.microsoft.com/office/drawing/2014/main" id="{1861BBB6-8553-C64C-CB42-BB6B58FB0F37}"/>
                  </a:ext>
                </a:extLst>
              </p:cNvPr>
              <p:cNvSpPr/>
              <p:nvPr/>
            </p:nvSpPr>
            <p:spPr>
              <a:xfrm>
                <a:off x="3559784" y="3174972"/>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 name="TextBox 13">
                <a:extLst>
                  <a:ext uri="{FF2B5EF4-FFF2-40B4-BE49-F238E27FC236}">
                    <a16:creationId xmlns:a16="http://schemas.microsoft.com/office/drawing/2014/main" id="{69EA11F0-93C4-AAB0-BAAA-862CF6AA5332}"/>
                  </a:ext>
                </a:extLst>
              </p:cNvPr>
              <p:cNvSpPr txBox="1"/>
              <p:nvPr/>
            </p:nvSpPr>
            <p:spPr>
              <a:xfrm>
                <a:off x="898680" y="1851390"/>
                <a:ext cx="1185167" cy="283796"/>
              </a:xfrm>
              <a:prstGeom prst="rect">
                <a:avLst/>
              </a:prstGeom>
              <a:noFill/>
            </p:spPr>
            <p:txBody>
              <a:bodyPr wrap="square" rtlCol="0">
                <a:spAutoFit/>
              </a:bodyPr>
              <a:lstStyle/>
              <a:p>
                <a:r>
                  <a:rPr lang="en-US" sz="1200" dirty="0"/>
                  <a:t>Protection set</a:t>
                </a:r>
              </a:p>
            </p:txBody>
          </p:sp>
          <p:sp>
            <p:nvSpPr>
              <p:cNvPr id="15" name="TextBox 14">
                <a:extLst>
                  <a:ext uri="{FF2B5EF4-FFF2-40B4-BE49-F238E27FC236}">
                    <a16:creationId xmlns:a16="http://schemas.microsoft.com/office/drawing/2014/main" id="{10EA5CC5-AB7F-40C0-54A2-DE359FB93B52}"/>
                  </a:ext>
                </a:extLst>
              </p:cNvPr>
              <p:cNvSpPr txBox="1"/>
              <p:nvPr/>
            </p:nvSpPr>
            <p:spPr>
              <a:xfrm>
                <a:off x="1391179" y="2116767"/>
                <a:ext cx="1557867" cy="276999"/>
              </a:xfrm>
              <a:prstGeom prst="rect">
                <a:avLst/>
              </a:prstGeom>
              <a:noFill/>
            </p:spPr>
            <p:txBody>
              <a:bodyPr wrap="square" rtlCol="0">
                <a:spAutoFit/>
              </a:bodyPr>
              <a:lstStyle/>
              <a:p>
                <a:r>
                  <a:rPr lang="en-US" sz="1200" dirty="0">
                    <a:solidFill>
                      <a:srgbClr val="FF0000"/>
                    </a:solidFill>
                  </a:rPr>
                  <a:t>{sec}</a:t>
                </a:r>
              </a:p>
            </p:txBody>
          </p:sp>
          <p:sp>
            <p:nvSpPr>
              <p:cNvPr id="16" name="TextBox 15">
                <a:extLst>
                  <a:ext uri="{FF2B5EF4-FFF2-40B4-BE49-F238E27FC236}">
                    <a16:creationId xmlns:a16="http://schemas.microsoft.com/office/drawing/2014/main" id="{7065199A-C567-EC57-A9FC-E059E244FBEF}"/>
                  </a:ext>
                </a:extLst>
              </p:cNvPr>
              <p:cNvSpPr txBox="1"/>
              <p:nvPr/>
            </p:nvSpPr>
            <p:spPr>
              <a:xfrm>
                <a:off x="1382907" y="2539222"/>
                <a:ext cx="1557867" cy="276999"/>
              </a:xfrm>
              <a:prstGeom prst="rect">
                <a:avLst/>
              </a:prstGeom>
              <a:noFill/>
            </p:spPr>
            <p:txBody>
              <a:bodyPr wrap="square" rtlCol="0">
                <a:spAutoFit/>
              </a:bodyPr>
              <a:lstStyle/>
              <a:p>
                <a:r>
                  <a:rPr lang="en-US" sz="1200" dirty="0">
                    <a:solidFill>
                      <a:srgbClr val="FF0000"/>
                    </a:solidFill>
                  </a:rPr>
                  <a:t>{sec}</a:t>
                </a:r>
              </a:p>
            </p:txBody>
          </p:sp>
          <p:sp>
            <p:nvSpPr>
              <p:cNvPr id="17" name="TextBox 16">
                <a:extLst>
                  <a:ext uri="{FF2B5EF4-FFF2-40B4-BE49-F238E27FC236}">
                    <a16:creationId xmlns:a16="http://schemas.microsoft.com/office/drawing/2014/main" id="{04DB73D5-4310-9750-F6BC-E51BAE8C1CAB}"/>
                  </a:ext>
                </a:extLst>
              </p:cNvPr>
              <p:cNvSpPr txBox="1"/>
              <p:nvPr/>
            </p:nvSpPr>
            <p:spPr>
              <a:xfrm>
                <a:off x="1276859" y="2985418"/>
                <a:ext cx="1557867" cy="276999"/>
              </a:xfrm>
              <a:prstGeom prst="rect">
                <a:avLst/>
              </a:prstGeom>
              <a:noFill/>
            </p:spPr>
            <p:txBody>
              <a:bodyPr wrap="square" rtlCol="0">
                <a:spAutoFit/>
              </a:bodyPr>
              <a:lstStyle/>
              <a:p>
                <a:r>
                  <a:rPr lang="en-US" sz="1200" dirty="0">
                    <a:solidFill>
                      <a:srgbClr val="FF0000"/>
                    </a:solidFill>
                  </a:rPr>
                  <a:t>{sec, a}</a:t>
                </a:r>
              </a:p>
            </p:txBody>
          </p:sp>
          <p:sp>
            <p:nvSpPr>
              <p:cNvPr id="18" name="TextBox 17">
                <a:extLst>
                  <a:ext uri="{FF2B5EF4-FFF2-40B4-BE49-F238E27FC236}">
                    <a16:creationId xmlns:a16="http://schemas.microsoft.com/office/drawing/2014/main" id="{8AE093DE-5A1E-D351-E597-E16772B1015E}"/>
                  </a:ext>
                </a:extLst>
              </p:cNvPr>
              <p:cNvSpPr txBox="1"/>
              <p:nvPr/>
            </p:nvSpPr>
            <p:spPr>
              <a:xfrm>
                <a:off x="1370764" y="3456203"/>
                <a:ext cx="1557867" cy="276999"/>
              </a:xfrm>
              <a:prstGeom prst="rect">
                <a:avLst/>
              </a:prstGeom>
              <a:noFill/>
            </p:spPr>
            <p:txBody>
              <a:bodyPr wrap="square" rtlCol="0">
                <a:spAutoFit/>
              </a:bodyPr>
              <a:lstStyle/>
              <a:p>
                <a:r>
                  <a:rPr lang="en-US" sz="1200" dirty="0">
                    <a:solidFill>
                      <a:srgbClr val="FF0000"/>
                    </a:solidFill>
                  </a:rPr>
                  <a:t>{sec}</a:t>
                </a:r>
              </a:p>
            </p:txBody>
          </p:sp>
          <p:cxnSp>
            <p:nvCxnSpPr>
              <p:cNvPr id="19" name="Curved Connector 18">
                <a:extLst>
                  <a:ext uri="{FF2B5EF4-FFF2-40B4-BE49-F238E27FC236}">
                    <a16:creationId xmlns:a16="http://schemas.microsoft.com/office/drawing/2014/main" id="{221FC441-EAE4-9925-B6F1-9010F650F111}"/>
                  </a:ext>
                </a:extLst>
              </p:cNvPr>
              <p:cNvCxnSpPr>
                <a:cxnSpLocks/>
                <a:stCxn id="12" idx="3"/>
                <a:endCxn id="10" idx="3"/>
              </p:cNvCxnSpPr>
              <p:nvPr/>
            </p:nvCxnSpPr>
            <p:spPr>
              <a:xfrm>
                <a:off x="3689299" y="2493827"/>
                <a:ext cx="1" cy="457200"/>
              </a:xfrm>
              <a:prstGeom prst="curvedConnector3">
                <a:avLst>
                  <a:gd name="adj1" fmla="val 228601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B0205BA4-1DAB-AEC3-A4DB-778FA8D5F85D}"/>
                  </a:ext>
                </a:extLst>
              </p:cNvPr>
              <p:cNvCxnSpPr>
                <a:cxnSpLocks/>
                <a:stCxn id="10" idx="3"/>
                <a:endCxn id="11" idx="3"/>
              </p:cNvCxnSpPr>
              <p:nvPr/>
            </p:nvCxnSpPr>
            <p:spPr>
              <a:xfrm>
                <a:off x="3689300" y="2951027"/>
                <a:ext cx="12700" cy="457200"/>
              </a:xfrm>
              <a:prstGeom prst="curvedConnector3">
                <a:avLst>
                  <a:gd name="adj1" fmla="val 18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9ECC580-39D8-2B7C-70EA-564DE6D35F0D}"/>
                  </a:ext>
                </a:extLst>
              </p:cNvPr>
              <p:cNvSpPr txBox="1"/>
              <p:nvPr/>
            </p:nvSpPr>
            <p:spPr>
              <a:xfrm>
                <a:off x="3858361" y="2543388"/>
                <a:ext cx="367124" cy="276999"/>
              </a:xfrm>
              <a:prstGeom prst="rect">
                <a:avLst/>
              </a:prstGeom>
              <a:noFill/>
            </p:spPr>
            <p:txBody>
              <a:bodyPr wrap="square" rtlCol="0">
                <a:spAutoFit/>
              </a:bodyPr>
              <a:lstStyle/>
              <a:p>
                <a:r>
                  <a:rPr lang="en-US" sz="1200" dirty="0">
                    <a:solidFill>
                      <a:schemeClr val="accent2"/>
                    </a:solidFill>
                  </a:rPr>
                  <a:t>co</a:t>
                </a:r>
              </a:p>
            </p:txBody>
          </p:sp>
          <p:sp>
            <p:nvSpPr>
              <p:cNvPr id="22" name="TextBox 21">
                <a:extLst>
                  <a:ext uri="{FF2B5EF4-FFF2-40B4-BE49-F238E27FC236}">
                    <a16:creationId xmlns:a16="http://schemas.microsoft.com/office/drawing/2014/main" id="{74DE8FA3-808B-4148-F6F8-3D04E2B3BB40}"/>
                  </a:ext>
                </a:extLst>
              </p:cNvPr>
              <p:cNvSpPr txBox="1"/>
              <p:nvPr/>
            </p:nvSpPr>
            <p:spPr>
              <a:xfrm>
                <a:off x="3890175" y="3036472"/>
                <a:ext cx="297214" cy="276999"/>
              </a:xfrm>
              <a:prstGeom prst="rect">
                <a:avLst/>
              </a:prstGeom>
              <a:noFill/>
            </p:spPr>
            <p:txBody>
              <a:bodyPr wrap="square" rtlCol="0">
                <a:spAutoFit/>
              </a:bodyPr>
              <a:lstStyle/>
              <a:p>
                <a:r>
                  <a:rPr lang="en-US" sz="1200" dirty="0">
                    <a:solidFill>
                      <a:schemeClr val="accent5"/>
                    </a:solidFill>
                  </a:rPr>
                  <a:t>rf</a:t>
                </a:r>
              </a:p>
            </p:txBody>
          </p:sp>
          <p:sp>
            <p:nvSpPr>
              <p:cNvPr id="23" name="TextBox 22">
                <a:extLst>
                  <a:ext uri="{FF2B5EF4-FFF2-40B4-BE49-F238E27FC236}">
                    <a16:creationId xmlns:a16="http://schemas.microsoft.com/office/drawing/2014/main" id="{49CF2321-92D6-8A98-B01A-55229ECCA885}"/>
                  </a:ext>
                </a:extLst>
              </p:cNvPr>
              <p:cNvSpPr txBox="1"/>
              <p:nvPr/>
            </p:nvSpPr>
            <p:spPr>
              <a:xfrm>
                <a:off x="2278171" y="1851390"/>
                <a:ext cx="1439770" cy="276999"/>
              </a:xfrm>
              <a:prstGeom prst="rect">
                <a:avLst/>
              </a:prstGeom>
              <a:noFill/>
            </p:spPr>
            <p:txBody>
              <a:bodyPr wrap="square" rtlCol="0">
                <a:spAutoFit/>
              </a:bodyPr>
              <a:lstStyle/>
              <a:p>
                <a:r>
                  <a:rPr lang="en-US" sz="1200" dirty="0"/>
                  <a:t>Basic instructions</a:t>
                </a:r>
              </a:p>
            </p:txBody>
          </p:sp>
          <p:sp>
            <p:nvSpPr>
              <p:cNvPr id="24" name="TextBox 23">
                <a:extLst>
                  <a:ext uri="{FF2B5EF4-FFF2-40B4-BE49-F238E27FC236}">
                    <a16:creationId xmlns:a16="http://schemas.microsoft.com/office/drawing/2014/main" id="{8DE7D243-CA59-DF12-274D-58461230DEB0}"/>
                  </a:ext>
                </a:extLst>
              </p:cNvPr>
              <p:cNvSpPr txBox="1"/>
              <p:nvPr/>
            </p:nvSpPr>
            <p:spPr>
              <a:xfrm>
                <a:off x="3838204" y="1851390"/>
                <a:ext cx="767824" cy="276999"/>
              </a:xfrm>
              <a:prstGeom prst="rect">
                <a:avLst/>
              </a:prstGeom>
              <a:noFill/>
            </p:spPr>
            <p:txBody>
              <a:bodyPr wrap="square" rtlCol="0">
                <a:spAutoFit/>
              </a:bodyPr>
              <a:lstStyle/>
              <a:p>
                <a:r>
                  <a:rPr lang="en-US" sz="1200" dirty="0"/>
                  <a:t>Edges</a:t>
                </a:r>
              </a:p>
            </p:txBody>
          </p:sp>
          <p:sp>
            <p:nvSpPr>
              <p:cNvPr id="25" name="TextBox 24">
                <a:extLst>
                  <a:ext uri="{FF2B5EF4-FFF2-40B4-BE49-F238E27FC236}">
                    <a16:creationId xmlns:a16="http://schemas.microsoft.com/office/drawing/2014/main" id="{A7F08612-D191-C565-8C03-F9ED3D67C140}"/>
                  </a:ext>
                </a:extLst>
              </p:cNvPr>
              <p:cNvSpPr txBox="1"/>
              <p:nvPr/>
            </p:nvSpPr>
            <p:spPr>
              <a:xfrm>
                <a:off x="3774932" y="3338588"/>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27" name="TextBox 26">
                <a:extLst>
                  <a:ext uri="{FF2B5EF4-FFF2-40B4-BE49-F238E27FC236}">
                    <a16:creationId xmlns:a16="http://schemas.microsoft.com/office/drawing/2014/main" id="{42122A68-22A0-5F18-5BA0-AD45AB96BFD0}"/>
                  </a:ext>
                </a:extLst>
              </p:cNvPr>
              <p:cNvSpPr txBox="1"/>
              <p:nvPr/>
            </p:nvSpPr>
            <p:spPr>
              <a:xfrm>
                <a:off x="1352295" y="3843009"/>
                <a:ext cx="3193502" cy="276999"/>
              </a:xfrm>
              <a:prstGeom prst="rect">
                <a:avLst/>
              </a:prstGeom>
              <a:noFill/>
            </p:spPr>
            <p:txBody>
              <a:bodyPr wrap="square" rtlCol="0">
                <a:spAutoFit/>
              </a:bodyPr>
              <a:lstStyle/>
              <a:p>
                <a:r>
                  <a:rPr lang="en-US" sz="1200" b="1" dirty="0">
                    <a:solidFill>
                      <a:schemeClr val="accent3"/>
                    </a:solidFill>
                  </a:rPr>
                  <a:t>A protected item (a) leaks speculatively</a:t>
                </a:r>
              </a:p>
            </p:txBody>
          </p:sp>
        </p:grpSp>
        <p:cxnSp>
          <p:nvCxnSpPr>
            <p:cNvPr id="5" name="Curved Connector 4">
              <a:extLst>
                <a:ext uri="{FF2B5EF4-FFF2-40B4-BE49-F238E27FC236}">
                  <a16:creationId xmlns:a16="http://schemas.microsoft.com/office/drawing/2014/main" id="{5F239070-78AC-D0B9-9653-9BDF040C72AB}"/>
                </a:ext>
              </a:extLst>
            </p:cNvPr>
            <p:cNvCxnSpPr>
              <a:cxnSpLocks/>
            </p:cNvCxnSpPr>
            <p:nvPr/>
          </p:nvCxnSpPr>
          <p:spPr>
            <a:xfrm>
              <a:off x="2409157" y="2411067"/>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 name="Curved Connector 5">
              <a:extLst>
                <a:ext uri="{FF2B5EF4-FFF2-40B4-BE49-F238E27FC236}">
                  <a16:creationId xmlns:a16="http://schemas.microsoft.com/office/drawing/2014/main" id="{57F2F905-6011-5FF8-12EB-E3BA57CFCBC0}"/>
                </a:ext>
              </a:extLst>
            </p:cNvPr>
            <p:cNvCxnSpPr>
              <a:cxnSpLocks/>
            </p:cNvCxnSpPr>
            <p:nvPr/>
          </p:nvCxnSpPr>
          <p:spPr>
            <a:xfrm>
              <a:off x="2283284" y="293806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E6C25DD-3619-49F3-B480-5BA4B224355D}"/>
                </a:ext>
              </a:extLst>
            </p:cNvPr>
            <p:cNvSpPr txBox="1"/>
            <p:nvPr/>
          </p:nvSpPr>
          <p:spPr>
            <a:xfrm>
              <a:off x="1967191" y="2488063"/>
              <a:ext cx="368375" cy="276999"/>
            </a:xfrm>
            <a:prstGeom prst="rect">
              <a:avLst/>
            </a:prstGeom>
            <a:noFill/>
          </p:spPr>
          <p:txBody>
            <a:bodyPr wrap="square" rtlCol="0">
              <a:spAutoFit/>
            </a:bodyPr>
            <a:lstStyle/>
            <a:p>
              <a:r>
                <a:rPr lang="en-US" sz="1200" dirty="0">
                  <a:solidFill>
                    <a:schemeClr val="accent3"/>
                  </a:solidFill>
                </a:rPr>
                <a:t>po</a:t>
              </a:r>
            </a:p>
          </p:txBody>
        </p:sp>
        <p:sp>
          <p:nvSpPr>
            <p:cNvPr id="8" name="TextBox 7">
              <a:extLst>
                <a:ext uri="{FF2B5EF4-FFF2-40B4-BE49-F238E27FC236}">
                  <a16:creationId xmlns:a16="http://schemas.microsoft.com/office/drawing/2014/main" id="{7E42F78D-0810-35ED-95C1-9F1D5738D7D2}"/>
                </a:ext>
              </a:extLst>
            </p:cNvPr>
            <p:cNvSpPr txBox="1"/>
            <p:nvPr/>
          </p:nvSpPr>
          <p:spPr>
            <a:xfrm>
              <a:off x="1900379" y="3032932"/>
              <a:ext cx="368375" cy="276999"/>
            </a:xfrm>
            <a:prstGeom prst="rect">
              <a:avLst/>
            </a:prstGeom>
            <a:noFill/>
          </p:spPr>
          <p:txBody>
            <a:bodyPr wrap="square" rtlCol="0">
              <a:spAutoFit/>
            </a:bodyPr>
            <a:lstStyle/>
            <a:p>
              <a:r>
                <a:rPr lang="en-US" sz="1200" dirty="0">
                  <a:solidFill>
                    <a:schemeClr val="accent3"/>
                  </a:solidFill>
                </a:rPr>
                <a:t>po</a:t>
              </a:r>
            </a:p>
          </p:txBody>
        </p:sp>
      </p:grpSp>
    </p:spTree>
    <p:extLst>
      <p:ext uri="{BB962C8B-B14F-4D97-AF65-F5344CB8AC3E}">
        <p14:creationId xmlns:p14="http://schemas.microsoft.com/office/powerpoint/2010/main" val="730593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304A-1D84-965E-B28D-BB80387EFC0F}"/>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15B63005-E8B6-E345-BFB2-AB06D221FDA0}"/>
              </a:ext>
            </a:extLst>
          </p:cNvPr>
          <p:cNvSpPr txBox="1"/>
          <p:nvPr/>
        </p:nvSpPr>
        <p:spPr>
          <a:xfrm>
            <a:off x="6941367" y="1180616"/>
            <a:ext cx="2202634" cy="2308324"/>
          </a:xfrm>
          <a:prstGeom prst="rect">
            <a:avLst/>
          </a:prstGeom>
          <a:noFill/>
        </p:spPr>
        <p:txBody>
          <a:bodyPr wrap="square" rtlCol="0">
            <a:spAutoFit/>
          </a:bodyPr>
          <a:lstStyle/>
          <a:p>
            <a:r>
              <a:rPr lang="en-US" sz="1200" b="1" dirty="0"/>
              <a:t>Hypothesis</a:t>
            </a:r>
            <a:r>
              <a:rPr lang="en-US" sz="1200" dirty="0"/>
              <a:t>: Consider the equivalence classes of arch. state tracked by a defense.  Poor protection set tracking occurs when non-rf edges are misinterpreted to collapse equivalence classes</a:t>
            </a:r>
          </a:p>
          <a:p>
            <a:r>
              <a:rPr lang="en-US" sz="1200" b="1" dirty="0"/>
              <a:t>Equivalence set </a:t>
            </a:r>
            <a:r>
              <a:rPr lang="en-US" sz="1200" dirty="0"/>
              <a:t>to the output of instruction i at its execution time = what state could be unprotected by transmission at i = </a:t>
            </a:r>
            <a:r>
              <a:rPr lang="en-US" sz="1200" b="1" dirty="0">
                <a:solidFill>
                  <a:schemeClr val="accent5"/>
                </a:solidFill>
              </a:rPr>
              <a:t>i.(^(~rf+rf) &amp; ^(~po))</a:t>
            </a:r>
          </a:p>
        </p:txBody>
      </p:sp>
      <p:sp>
        <p:nvSpPr>
          <p:cNvPr id="125" name="TextBox 124">
            <a:extLst>
              <a:ext uri="{FF2B5EF4-FFF2-40B4-BE49-F238E27FC236}">
                <a16:creationId xmlns:a16="http://schemas.microsoft.com/office/drawing/2014/main" id="{EB78AC14-603D-BED9-5688-48623D695B89}"/>
              </a:ext>
            </a:extLst>
          </p:cNvPr>
          <p:cNvSpPr txBox="1"/>
          <p:nvPr/>
        </p:nvSpPr>
        <p:spPr>
          <a:xfrm>
            <a:off x="673838" y="1082199"/>
            <a:ext cx="4128869" cy="830997"/>
          </a:xfrm>
          <a:prstGeom prst="rect">
            <a:avLst/>
          </a:prstGeom>
          <a:noFill/>
        </p:spPr>
        <p:txBody>
          <a:bodyPr wrap="square" rtlCol="0">
            <a:spAutoFit/>
          </a:bodyPr>
          <a:lstStyle/>
          <a:p>
            <a:r>
              <a:rPr lang="en-US" sz="1600" dirty="0"/>
              <a:t>Recon unprotects memory when it is leaked nonspeculatively despite there being an interleaved secret store.</a:t>
            </a:r>
          </a:p>
        </p:txBody>
      </p:sp>
      <p:grpSp>
        <p:nvGrpSpPr>
          <p:cNvPr id="127" name="Group 126">
            <a:extLst>
              <a:ext uri="{FF2B5EF4-FFF2-40B4-BE49-F238E27FC236}">
                <a16:creationId xmlns:a16="http://schemas.microsoft.com/office/drawing/2014/main" id="{DC8C073A-2642-8AF1-FE83-E5046AA978F8}"/>
              </a:ext>
            </a:extLst>
          </p:cNvPr>
          <p:cNvGrpSpPr/>
          <p:nvPr/>
        </p:nvGrpSpPr>
        <p:grpSpPr>
          <a:xfrm>
            <a:off x="474652" y="1914340"/>
            <a:ext cx="6503232" cy="3115956"/>
            <a:chOff x="4063168" y="111570"/>
            <a:chExt cx="6503232" cy="3115956"/>
          </a:xfrm>
        </p:grpSpPr>
        <p:sp>
          <p:nvSpPr>
            <p:cNvPr id="128" name="Rounded Rectangle 127">
              <a:extLst>
                <a:ext uri="{FF2B5EF4-FFF2-40B4-BE49-F238E27FC236}">
                  <a16:creationId xmlns:a16="http://schemas.microsoft.com/office/drawing/2014/main" id="{ADA36BAA-F9B2-BF75-2FF2-D7C9BFADF5E0}"/>
                </a:ext>
              </a:extLst>
            </p:cNvPr>
            <p:cNvSpPr/>
            <p:nvPr/>
          </p:nvSpPr>
          <p:spPr>
            <a:xfrm>
              <a:off x="6654175" y="1741080"/>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m[a] -&gt; b</a:t>
              </a:r>
            </a:p>
          </p:txBody>
        </p:sp>
        <p:sp>
          <p:nvSpPr>
            <p:cNvPr id="129" name="Rounded Rectangle 128">
              <a:extLst>
                <a:ext uri="{FF2B5EF4-FFF2-40B4-BE49-F238E27FC236}">
                  <a16:creationId xmlns:a16="http://schemas.microsoft.com/office/drawing/2014/main" id="{F4FED2AA-ADCC-235B-6024-971B052CB5EF}"/>
                </a:ext>
              </a:extLst>
            </p:cNvPr>
            <p:cNvSpPr/>
            <p:nvPr/>
          </p:nvSpPr>
          <p:spPr>
            <a:xfrm>
              <a:off x="6657290" y="2229007"/>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c</a:t>
              </a:r>
            </a:p>
          </p:txBody>
        </p:sp>
        <p:sp>
          <p:nvSpPr>
            <p:cNvPr id="130" name="Rounded Rectangle 129">
              <a:extLst>
                <a:ext uri="{FF2B5EF4-FFF2-40B4-BE49-F238E27FC236}">
                  <a16:creationId xmlns:a16="http://schemas.microsoft.com/office/drawing/2014/main" id="{8D5D7B9A-D5C5-F904-DF3C-D8D6D8F145C3}"/>
                </a:ext>
              </a:extLst>
            </p:cNvPr>
            <p:cNvSpPr/>
            <p:nvPr/>
          </p:nvSpPr>
          <p:spPr>
            <a:xfrm>
              <a:off x="6650546" y="821869"/>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a</a:t>
              </a:r>
            </a:p>
          </p:txBody>
        </p:sp>
        <p:sp>
          <p:nvSpPr>
            <p:cNvPr id="131" name="Oval 130">
              <a:extLst>
                <a:ext uri="{FF2B5EF4-FFF2-40B4-BE49-F238E27FC236}">
                  <a16:creationId xmlns:a16="http://schemas.microsoft.com/office/drawing/2014/main" id="{5CA6D5A7-78A4-A858-51AC-7DEF726A0E34}"/>
                </a:ext>
              </a:extLst>
            </p:cNvPr>
            <p:cNvSpPr/>
            <p:nvPr/>
          </p:nvSpPr>
          <p:spPr>
            <a:xfrm>
              <a:off x="6364194" y="905832"/>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32" name="Oval 131">
              <a:extLst>
                <a:ext uri="{FF2B5EF4-FFF2-40B4-BE49-F238E27FC236}">
                  <a16:creationId xmlns:a16="http://schemas.microsoft.com/office/drawing/2014/main" id="{ED363D85-75DE-ECFA-D053-F43654181097}"/>
                </a:ext>
              </a:extLst>
            </p:cNvPr>
            <p:cNvSpPr/>
            <p:nvPr/>
          </p:nvSpPr>
          <p:spPr>
            <a:xfrm>
              <a:off x="6364194" y="182504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33" name="Oval 132">
              <a:extLst>
                <a:ext uri="{FF2B5EF4-FFF2-40B4-BE49-F238E27FC236}">
                  <a16:creationId xmlns:a16="http://schemas.microsoft.com/office/drawing/2014/main" id="{F91B6C8C-43B7-B1E5-15C3-4C4C9CAA434F}"/>
                </a:ext>
              </a:extLst>
            </p:cNvPr>
            <p:cNvSpPr/>
            <p:nvPr/>
          </p:nvSpPr>
          <p:spPr>
            <a:xfrm>
              <a:off x="6364194" y="2302252"/>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34" name="TextBox 133">
              <a:extLst>
                <a:ext uri="{FF2B5EF4-FFF2-40B4-BE49-F238E27FC236}">
                  <a16:creationId xmlns:a16="http://schemas.microsoft.com/office/drawing/2014/main" id="{4F18C297-4DA6-BF6F-E91A-3F604FD36AC6}"/>
                </a:ext>
              </a:extLst>
            </p:cNvPr>
            <p:cNvSpPr txBox="1"/>
            <p:nvPr/>
          </p:nvSpPr>
          <p:spPr>
            <a:xfrm>
              <a:off x="6420893" y="207423"/>
              <a:ext cx="2663791" cy="307777"/>
            </a:xfrm>
            <a:prstGeom prst="rect">
              <a:avLst/>
            </a:prstGeom>
            <a:noFill/>
          </p:spPr>
          <p:txBody>
            <a:bodyPr wrap="square" rtlCol="0">
              <a:spAutoFit/>
            </a:bodyPr>
            <a:lstStyle/>
            <a:p>
              <a:r>
                <a:rPr lang="en-US" sz="1400" b="1" dirty="0"/>
                <a:t>Execution</a:t>
              </a:r>
            </a:p>
          </p:txBody>
        </p:sp>
        <p:sp>
          <p:nvSpPr>
            <p:cNvPr id="135" name="Rounded Rectangle 134">
              <a:extLst>
                <a:ext uri="{FF2B5EF4-FFF2-40B4-BE49-F238E27FC236}">
                  <a16:creationId xmlns:a16="http://schemas.microsoft.com/office/drawing/2014/main" id="{A5E57C6A-7EF3-91B1-8ED0-AD6C743F525C}"/>
                </a:ext>
              </a:extLst>
            </p:cNvPr>
            <p:cNvSpPr/>
            <p:nvPr/>
          </p:nvSpPr>
          <p:spPr>
            <a:xfrm>
              <a:off x="6648160" y="1283160"/>
              <a:ext cx="1384872"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Store</a:t>
              </a:r>
              <a:r>
                <a:rPr lang="en-US" sz="1200" dirty="0">
                  <a:solidFill>
                    <a:schemeClr val="tx1"/>
                  </a:solidFill>
                </a:rPr>
                <a:t> sec -&gt; m1</a:t>
              </a:r>
            </a:p>
          </p:txBody>
        </p:sp>
        <p:sp>
          <p:nvSpPr>
            <p:cNvPr id="136" name="Oval 135">
              <a:extLst>
                <a:ext uri="{FF2B5EF4-FFF2-40B4-BE49-F238E27FC236}">
                  <a16:creationId xmlns:a16="http://schemas.microsoft.com/office/drawing/2014/main" id="{CB2A9304-692B-9218-6890-BCA8BCE5CF5C}"/>
                </a:ext>
              </a:extLst>
            </p:cNvPr>
            <p:cNvSpPr/>
            <p:nvPr/>
          </p:nvSpPr>
          <p:spPr>
            <a:xfrm>
              <a:off x="6364194" y="1364530"/>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37" name="TextBox 136">
              <a:extLst>
                <a:ext uri="{FF2B5EF4-FFF2-40B4-BE49-F238E27FC236}">
                  <a16:creationId xmlns:a16="http://schemas.microsoft.com/office/drawing/2014/main" id="{06CB99C1-8428-8B93-CFC2-6EC44379B8F8}"/>
                </a:ext>
              </a:extLst>
            </p:cNvPr>
            <p:cNvSpPr txBox="1"/>
            <p:nvPr/>
          </p:nvSpPr>
          <p:spPr>
            <a:xfrm>
              <a:off x="6749171" y="530067"/>
              <a:ext cx="1563358" cy="276999"/>
            </a:xfrm>
            <a:prstGeom prst="rect">
              <a:avLst/>
            </a:prstGeom>
            <a:noFill/>
          </p:spPr>
          <p:txBody>
            <a:bodyPr wrap="square" rtlCol="0">
              <a:spAutoFit/>
            </a:bodyPr>
            <a:lstStyle/>
            <a:p>
              <a:r>
                <a:rPr lang="en-US" sz="1200" b="1" dirty="0"/>
                <a:t>Instruction</a:t>
              </a:r>
            </a:p>
          </p:txBody>
        </p:sp>
        <p:sp>
          <p:nvSpPr>
            <p:cNvPr id="138" name="TextBox 137">
              <a:extLst>
                <a:ext uri="{FF2B5EF4-FFF2-40B4-BE49-F238E27FC236}">
                  <a16:creationId xmlns:a16="http://schemas.microsoft.com/office/drawing/2014/main" id="{CE3EC329-B13E-B611-8E77-8EB706DA753A}"/>
                </a:ext>
              </a:extLst>
            </p:cNvPr>
            <p:cNvSpPr txBox="1"/>
            <p:nvPr/>
          </p:nvSpPr>
          <p:spPr>
            <a:xfrm>
              <a:off x="8678052" y="1954611"/>
              <a:ext cx="1888348" cy="646331"/>
            </a:xfrm>
            <a:prstGeom prst="rect">
              <a:avLst/>
            </a:prstGeom>
            <a:noFill/>
          </p:spPr>
          <p:txBody>
            <a:bodyPr wrap="square" rtlCol="0">
              <a:spAutoFit/>
            </a:bodyPr>
            <a:lstStyle/>
            <a:p>
              <a:r>
                <a:rPr lang="en-US" sz="1200" dirty="0">
                  <a:solidFill>
                    <a:srgbClr val="C00000"/>
                  </a:solidFill>
                </a:rPr>
                <a:t>Recon thinks m1 leaked, unprotects m1 and a, splits protection sets</a:t>
              </a:r>
            </a:p>
          </p:txBody>
        </p:sp>
        <p:sp>
          <p:nvSpPr>
            <p:cNvPr id="139" name="Rounded Rectangle 138">
              <a:extLst>
                <a:ext uri="{FF2B5EF4-FFF2-40B4-BE49-F238E27FC236}">
                  <a16:creationId xmlns:a16="http://schemas.microsoft.com/office/drawing/2014/main" id="{A0EC461C-A3C1-CB79-DFE5-766993570BD8}"/>
                </a:ext>
              </a:extLst>
            </p:cNvPr>
            <p:cNvSpPr/>
            <p:nvPr/>
          </p:nvSpPr>
          <p:spPr>
            <a:xfrm>
              <a:off x="6662456" y="2702686"/>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[c] -&gt; d</a:t>
              </a:r>
            </a:p>
          </p:txBody>
        </p:sp>
        <p:sp>
          <p:nvSpPr>
            <p:cNvPr id="140" name="Oval 139">
              <a:extLst>
                <a:ext uri="{FF2B5EF4-FFF2-40B4-BE49-F238E27FC236}">
                  <a16:creationId xmlns:a16="http://schemas.microsoft.com/office/drawing/2014/main" id="{EBF9BF27-B9A2-F05A-9E68-824F4B1608B9}"/>
                </a:ext>
              </a:extLst>
            </p:cNvPr>
            <p:cNvSpPr/>
            <p:nvPr/>
          </p:nvSpPr>
          <p:spPr>
            <a:xfrm>
              <a:off x="6358179" y="2728261"/>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sp>
          <p:nvSpPr>
            <p:cNvPr id="141" name="TextBox 140">
              <a:extLst>
                <a:ext uri="{FF2B5EF4-FFF2-40B4-BE49-F238E27FC236}">
                  <a16:creationId xmlns:a16="http://schemas.microsoft.com/office/drawing/2014/main" id="{A8CA2DA2-5AA0-7AD4-05EA-D80ADFF6ACC8}"/>
                </a:ext>
              </a:extLst>
            </p:cNvPr>
            <p:cNvSpPr txBox="1"/>
            <p:nvPr/>
          </p:nvSpPr>
          <p:spPr>
            <a:xfrm>
              <a:off x="8678052" y="2950527"/>
              <a:ext cx="1741073" cy="276999"/>
            </a:xfrm>
            <a:prstGeom prst="rect">
              <a:avLst/>
            </a:prstGeom>
            <a:noFill/>
          </p:spPr>
          <p:txBody>
            <a:bodyPr wrap="square" rtlCol="0">
              <a:spAutoFit/>
            </a:bodyPr>
            <a:lstStyle/>
            <a:p>
              <a:r>
                <a:rPr lang="en-US" sz="1200" dirty="0">
                  <a:solidFill>
                    <a:srgbClr val="C00000"/>
                  </a:solidFill>
                </a:rPr>
                <a:t>Sec leaked</a:t>
              </a:r>
            </a:p>
          </p:txBody>
        </p:sp>
        <mc:AlternateContent xmlns:mc="http://schemas.openxmlformats.org/markup-compatibility/2006" xmlns:p14="http://schemas.microsoft.com/office/powerpoint/2010/main">
          <mc:Choice Requires="p14">
            <p:contentPart p14:bwMode="auto" r:id="rId3">
              <p14:nvContentPartPr>
                <p14:cNvPr id="142" name="Ink 141">
                  <a:extLst>
                    <a:ext uri="{FF2B5EF4-FFF2-40B4-BE49-F238E27FC236}">
                      <a16:creationId xmlns:a16="http://schemas.microsoft.com/office/drawing/2014/main" id="{5BC04362-F2BE-D185-9BE8-10C961B3E78A}"/>
                    </a:ext>
                  </a:extLst>
                </p14:cNvPr>
                <p14:cNvContentPartPr/>
                <p14:nvPr/>
              </p14:nvContentPartPr>
              <p14:xfrm>
                <a:off x="7813912" y="2845477"/>
                <a:ext cx="360" cy="360"/>
              </p14:xfrm>
            </p:contentPart>
          </mc:Choice>
          <mc:Fallback xmlns="">
            <p:pic>
              <p:nvPicPr>
                <p:cNvPr id="74" name="Ink 73">
                  <a:extLst>
                    <a:ext uri="{FF2B5EF4-FFF2-40B4-BE49-F238E27FC236}">
                      <a16:creationId xmlns:a16="http://schemas.microsoft.com/office/drawing/2014/main" id="{59FD6667-CECA-26EF-C67D-A9B053B6F134}"/>
                    </a:ext>
                  </a:extLst>
                </p:cNvPr>
                <p:cNvPicPr/>
                <p:nvPr/>
              </p:nvPicPr>
              <p:blipFill>
                <a:blip r:embed="rId4"/>
                <a:stretch>
                  <a:fillRect/>
                </a:stretch>
              </p:blipFill>
              <p:spPr>
                <a:xfrm>
                  <a:off x="7807792" y="2839357"/>
                  <a:ext cx="12600" cy="12600"/>
                </a:xfrm>
                <a:prstGeom prst="rect">
                  <a:avLst/>
                </a:prstGeom>
              </p:spPr>
            </p:pic>
          </mc:Fallback>
        </mc:AlternateContent>
        <p:sp>
          <p:nvSpPr>
            <p:cNvPr id="143" name="Oval 142">
              <a:extLst>
                <a:ext uri="{FF2B5EF4-FFF2-40B4-BE49-F238E27FC236}">
                  <a16:creationId xmlns:a16="http://schemas.microsoft.com/office/drawing/2014/main" id="{88E70985-946B-6232-0F50-FAEF4E3F80B1}"/>
                </a:ext>
              </a:extLst>
            </p:cNvPr>
            <p:cNvSpPr/>
            <p:nvPr/>
          </p:nvSpPr>
          <p:spPr>
            <a:xfrm>
              <a:off x="7771444" y="2716231"/>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4" name="TextBox 143">
              <a:extLst>
                <a:ext uri="{FF2B5EF4-FFF2-40B4-BE49-F238E27FC236}">
                  <a16:creationId xmlns:a16="http://schemas.microsoft.com/office/drawing/2014/main" id="{D42395CC-3AB3-7B13-49AE-7F2173E38307}"/>
                </a:ext>
              </a:extLst>
            </p:cNvPr>
            <p:cNvSpPr txBox="1"/>
            <p:nvPr/>
          </p:nvSpPr>
          <p:spPr>
            <a:xfrm>
              <a:off x="4348601" y="623202"/>
              <a:ext cx="1809661" cy="307777"/>
            </a:xfrm>
            <a:prstGeom prst="rect">
              <a:avLst/>
            </a:prstGeom>
            <a:noFill/>
          </p:spPr>
          <p:txBody>
            <a:bodyPr wrap="square" rtlCol="0">
              <a:spAutoFit/>
            </a:bodyPr>
            <a:lstStyle/>
            <a:p>
              <a:pPr algn="r"/>
              <a:r>
                <a:rPr lang="en-US" sz="1400" dirty="0">
                  <a:solidFill>
                    <a:schemeClr val="accent1"/>
                  </a:solidFill>
                </a:rPr>
                <a:t>{sec, m1}</a:t>
              </a:r>
            </a:p>
          </p:txBody>
        </p:sp>
        <p:sp>
          <p:nvSpPr>
            <p:cNvPr id="145" name="TextBox 144">
              <a:extLst>
                <a:ext uri="{FF2B5EF4-FFF2-40B4-BE49-F238E27FC236}">
                  <a16:creationId xmlns:a16="http://schemas.microsoft.com/office/drawing/2014/main" id="{DB5C5BA0-5567-928E-365C-24FEB24D1394}"/>
                </a:ext>
              </a:extLst>
            </p:cNvPr>
            <p:cNvSpPr txBox="1"/>
            <p:nvPr/>
          </p:nvSpPr>
          <p:spPr>
            <a:xfrm>
              <a:off x="4478024" y="1956324"/>
              <a:ext cx="849743" cy="307777"/>
            </a:xfrm>
            <a:prstGeom prst="rect">
              <a:avLst/>
            </a:prstGeom>
            <a:noFill/>
          </p:spPr>
          <p:txBody>
            <a:bodyPr wrap="square" rtlCol="0">
              <a:spAutoFit/>
            </a:bodyPr>
            <a:lstStyle/>
            <a:p>
              <a:r>
                <a:rPr lang="en-US" sz="1400" dirty="0">
                  <a:solidFill>
                    <a:srgbClr val="C00000"/>
                  </a:solidFill>
                </a:rPr>
                <a:t>{sec, b} </a:t>
              </a:r>
            </a:p>
          </p:txBody>
        </p:sp>
        <p:sp>
          <p:nvSpPr>
            <p:cNvPr id="146" name="TextBox 145">
              <a:extLst>
                <a:ext uri="{FF2B5EF4-FFF2-40B4-BE49-F238E27FC236}">
                  <a16:creationId xmlns:a16="http://schemas.microsoft.com/office/drawing/2014/main" id="{32677346-8203-1673-BF17-2C47BF7732FB}"/>
                </a:ext>
              </a:extLst>
            </p:cNvPr>
            <p:cNvSpPr txBox="1"/>
            <p:nvPr/>
          </p:nvSpPr>
          <p:spPr>
            <a:xfrm>
              <a:off x="4063168" y="111570"/>
              <a:ext cx="2223132" cy="523220"/>
            </a:xfrm>
            <a:prstGeom prst="rect">
              <a:avLst/>
            </a:prstGeom>
            <a:noFill/>
          </p:spPr>
          <p:txBody>
            <a:bodyPr wrap="square" rtlCol="0">
              <a:spAutoFit/>
            </a:bodyPr>
            <a:lstStyle/>
            <a:p>
              <a:r>
                <a:rPr lang="en-US" sz="1400" dirty="0">
                  <a:solidFill>
                    <a:schemeClr val="accent1"/>
                  </a:solidFill>
                </a:rPr>
                <a:t>Protection set</a:t>
              </a:r>
            </a:p>
            <a:p>
              <a:r>
                <a:rPr lang="en-US" sz="1400" dirty="0">
                  <a:solidFill>
                    <a:srgbClr val="FF0000"/>
                  </a:solidFill>
                </a:rPr>
                <a:t>(erroneous protection set)</a:t>
              </a:r>
            </a:p>
          </p:txBody>
        </p:sp>
        <p:sp>
          <p:nvSpPr>
            <p:cNvPr id="147" name="Rectangle 146">
              <a:extLst>
                <a:ext uri="{FF2B5EF4-FFF2-40B4-BE49-F238E27FC236}">
                  <a16:creationId xmlns:a16="http://schemas.microsoft.com/office/drawing/2014/main" id="{3192BE47-1B13-DD17-9738-608732613A77}"/>
                </a:ext>
              </a:extLst>
            </p:cNvPr>
            <p:cNvSpPr/>
            <p:nvPr/>
          </p:nvSpPr>
          <p:spPr>
            <a:xfrm>
              <a:off x="4319920" y="1465786"/>
              <a:ext cx="1856434" cy="8892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8" name="Straight Arrow Connector 147">
              <a:extLst>
                <a:ext uri="{FF2B5EF4-FFF2-40B4-BE49-F238E27FC236}">
                  <a16:creationId xmlns:a16="http://schemas.microsoft.com/office/drawing/2014/main" id="{ACD0EF5D-1584-C4D9-0F47-088445F2915C}"/>
                </a:ext>
              </a:extLst>
            </p:cNvPr>
            <p:cNvCxnSpPr>
              <a:cxnSpLocks/>
              <a:endCxn id="145" idx="0"/>
            </p:cNvCxnSpPr>
            <p:nvPr/>
          </p:nvCxnSpPr>
          <p:spPr>
            <a:xfrm flipH="1">
              <a:off x="4902896" y="1800940"/>
              <a:ext cx="778885" cy="155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9" name="Straight Arrow Connector 148">
              <a:extLst>
                <a:ext uri="{FF2B5EF4-FFF2-40B4-BE49-F238E27FC236}">
                  <a16:creationId xmlns:a16="http://schemas.microsoft.com/office/drawing/2014/main" id="{C4800640-B4BB-B9DB-B92E-68CB5CAF50C4}"/>
                </a:ext>
              </a:extLst>
            </p:cNvPr>
            <p:cNvCxnSpPr>
              <a:cxnSpLocks/>
            </p:cNvCxnSpPr>
            <p:nvPr/>
          </p:nvCxnSpPr>
          <p:spPr>
            <a:xfrm>
              <a:off x="5881556" y="1824555"/>
              <a:ext cx="105058" cy="175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TextBox 149">
              <a:extLst>
                <a:ext uri="{FF2B5EF4-FFF2-40B4-BE49-F238E27FC236}">
                  <a16:creationId xmlns:a16="http://schemas.microsoft.com/office/drawing/2014/main" id="{30145CF8-7DBA-D0EE-6A7B-31569FA79A18}"/>
                </a:ext>
              </a:extLst>
            </p:cNvPr>
            <p:cNvSpPr txBox="1"/>
            <p:nvPr/>
          </p:nvSpPr>
          <p:spPr>
            <a:xfrm>
              <a:off x="8581014" y="1797259"/>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151" name="TextBox 150">
              <a:extLst>
                <a:ext uri="{FF2B5EF4-FFF2-40B4-BE49-F238E27FC236}">
                  <a16:creationId xmlns:a16="http://schemas.microsoft.com/office/drawing/2014/main" id="{69264885-D359-FF19-980B-9D143F632FD9}"/>
                </a:ext>
              </a:extLst>
            </p:cNvPr>
            <p:cNvSpPr txBox="1"/>
            <p:nvPr/>
          </p:nvSpPr>
          <p:spPr>
            <a:xfrm>
              <a:off x="8576331" y="2750333"/>
              <a:ext cx="1211788" cy="276999"/>
            </a:xfrm>
            <a:prstGeom prst="rect">
              <a:avLst/>
            </a:prstGeom>
            <a:noFill/>
          </p:spPr>
          <p:txBody>
            <a:bodyPr wrap="square" rtlCol="0">
              <a:spAutoFit/>
            </a:bodyPr>
            <a:lstStyle/>
            <a:p>
              <a:r>
                <a:rPr lang="en-US" sz="1200" dirty="0">
                  <a:solidFill>
                    <a:schemeClr val="accent4"/>
                  </a:solidFill>
                </a:rPr>
                <a:t>Transmit c</a:t>
              </a:r>
            </a:p>
          </p:txBody>
        </p:sp>
        <p:sp>
          <p:nvSpPr>
            <p:cNvPr id="152" name="TextBox 151">
              <a:extLst>
                <a:ext uri="{FF2B5EF4-FFF2-40B4-BE49-F238E27FC236}">
                  <a16:creationId xmlns:a16="http://schemas.microsoft.com/office/drawing/2014/main" id="{AD4A6675-EFED-86DE-9B57-02C3E73E311D}"/>
                </a:ext>
              </a:extLst>
            </p:cNvPr>
            <p:cNvSpPr txBox="1"/>
            <p:nvPr/>
          </p:nvSpPr>
          <p:spPr>
            <a:xfrm>
              <a:off x="4363216" y="1051657"/>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3" name="TextBox 152">
              <a:extLst>
                <a:ext uri="{FF2B5EF4-FFF2-40B4-BE49-F238E27FC236}">
                  <a16:creationId xmlns:a16="http://schemas.microsoft.com/office/drawing/2014/main" id="{03AF46F0-DDE0-C800-42CE-EEC5240D77B2}"/>
                </a:ext>
              </a:extLst>
            </p:cNvPr>
            <p:cNvSpPr txBox="1"/>
            <p:nvPr/>
          </p:nvSpPr>
          <p:spPr>
            <a:xfrm>
              <a:off x="4402305" y="1529438"/>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4" name="TextBox 153">
              <a:extLst>
                <a:ext uri="{FF2B5EF4-FFF2-40B4-BE49-F238E27FC236}">
                  <a16:creationId xmlns:a16="http://schemas.microsoft.com/office/drawing/2014/main" id="{811C047B-BB5A-21BD-5CA8-8A055667328A}"/>
                </a:ext>
              </a:extLst>
            </p:cNvPr>
            <p:cNvSpPr txBox="1"/>
            <p:nvPr/>
          </p:nvSpPr>
          <p:spPr>
            <a:xfrm>
              <a:off x="5026132" y="1956324"/>
              <a:ext cx="1185833" cy="307777"/>
            </a:xfrm>
            <a:prstGeom prst="rect">
              <a:avLst/>
            </a:prstGeom>
            <a:noFill/>
          </p:spPr>
          <p:txBody>
            <a:bodyPr wrap="square" rtlCol="0">
              <a:spAutoFit/>
            </a:bodyPr>
            <a:lstStyle/>
            <a:p>
              <a:pPr algn="r"/>
              <a:r>
                <a:rPr lang="en-US" sz="1400" dirty="0">
                  <a:solidFill>
                    <a:schemeClr val="accent1"/>
                  </a:solidFill>
                </a:rPr>
                <a:t>{sec, m1, b}</a:t>
              </a:r>
            </a:p>
          </p:txBody>
        </p:sp>
        <p:sp>
          <p:nvSpPr>
            <p:cNvPr id="155" name="TextBox 154">
              <a:extLst>
                <a:ext uri="{FF2B5EF4-FFF2-40B4-BE49-F238E27FC236}">
                  <a16:creationId xmlns:a16="http://schemas.microsoft.com/office/drawing/2014/main" id="{C948519C-558E-D435-5A56-36DDC83B3884}"/>
                </a:ext>
              </a:extLst>
            </p:cNvPr>
            <p:cNvSpPr txBox="1"/>
            <p:nvPr/>
          </p:nvSpPr>
          <p:spPr>
            <a:xfrm>
              <a:off x="4853233" y="2434503"/>
              <a:ext cx="1378857" cy="307777"/>
            </a:xfrm>
            <a:prstGeom prst="rect">
              <a:avLst/>
            </a:prstGeom>
            <a:noFill/>
          </p:spPr>
          <p:txBody>
            <a:bodyPr wrap="square" rtlCol="0">
              <a:spAutoFit/>
            </a:bodyPr>
            <a:lstStyle/>
            <a:p>
              <a:pPr algn="r"/>
              <a:r>
                <a:rPr lang="en-US" sz="1400" dirty="0">
                  <a:solidFill>
                    <a:schemeClr val="accent1"/>
                  </a:solidFill>
                </a:rPr>
                <a:t>{sec, m1, b, c}</a:t>
              </a:r>
            </a:p>
          </p:txBody>
        </p:sp>
        <p:sp>
          <p:nvSpPr>
            <p:cNvPr id="156" name="TextBox 155">
              <a:extLst>
                <a:ext uri="{FF2B5EF4-FFF2-40B4-BE49-F238E27FC236}">
                  <a16:creationId xmlns:a16="http://schemas.microsoft.com/office/drawing/2014/main" id="{A01C58B7-133C-150B-C22B-9D5097CEE694}"/>
                </a:ext>
              </a:extLst>
            </p:cNvPr>
            <p:cNvSpPr txBox="1"/>
            <p:nvPr/>
          </p:nvSpPr>
          <p:spPr>
            <a:xfrm>
              <a:off x="4324992" y="2434502"/>
              <a:ext cx="849743" cy="307777"/>
            </a:xfrm>
            <a:prstGeom prst="rect">
              <a:avLst/>
            </a:prstGeom>
            <a:noFill/>
          </p:spPr>
          <p:txBody>
            <a:bodyPr wrap="square" rtlCol="0">
              <a:spAutoFit/>
            </a:bodyPr>
            <a:lstStyle/>
            <a:p>
              <a:r>
                <a:rPr lang="en-US" sz="1400" dirty="0">
                  <a:solidFill>
                    <a:srgbClr val="C00000"/>
                  </a:solidFill>
                </a:rPr>
                <a:t>{sec, b} </a:t>
              </a:r>
            </a:p>
          </p:txBody>
        </p:sp>
        <p:sp>
          <p:nvSpPr>
            <p:cNvPr id="157" name="TextBox 156">
              <a:extLst>
                <a:ext uri="{FF2B5EF4-FFF2-40B4-BE49-F238E27FC236}">
                  <a16:creationId xmlns:a16="http://schemas.microsoft.com/office/drawing/2014/main" id="{2836E1E3-577E-8930-00E3-A3107222922C}"/>
                </a:ext>
              </a:extLst>
            </p:cNvPr>
            <p:cNvSpPr txBox="1"/>
            <p:nvPr/>
          </p:nvSpPr>
          <p:spPr>
            <a:xfrm>
              <a:off x="4860918" y="2859871"/>
              <a:ext cx="1378857" cy="307777"/>
            </a:xfrm>
            <a:prstGeom prst="rect">
              <a:avLst/>
            </a:prstGeom>
            <a:noFill/>
          </p:spPr>
          <p:txBody>
            <a:bodyPr wrap="square" rtlCol="0">
              <a:spAutoFit/>
            </a:bodyPr>
            <a:lstStyle/>
            <a:p>
              <a:pPr algn="r"/>
              <a:r>
                <a:rPr lang="en-US" sz="1400" dirty="0">
                  <a:solidFill>
                    <a:schemeClr val="accent1"/>
                  </a:solidFill>
                </a:rPr>
                <a:t>{sec, m1, b, d}</a:t>
              </a:r>
            </a:p>
          </p:txBody>
        </p:sp>
        <p:sp>
          <p:nvSpPr>
            <p:cNvPr id="158" name="TextBox 157">
              <a:extLst>
                <a:ext uri="{FF2B5EF4-FFF2-40B4-BE49-F238E27FC236}">
                  <a16:creationId xmlns:a16="http://schemas.microsoft.com/office/drawing/2014/main" id="{A57B8729-136A-7903-D5F4-8A22FCE731B3}"/>
                </a:ext>
              </a:extLst>
            </p:cNvPr>
            <p:cNvSpPr txBox="1"/>
            <p:nvPr/>
          </p:nvSpPr>
          <p:spPr>
            <a:xfrm>
              <a:off x="4324991" y="2852615"/>
              <a:ext cx="849743" cy="307777"/>
            </a:xfrm>
            <a:prstGeom prst="rect">
              <a:avLst/>
            </a:prstGeom>
            <a:noFill/>
          </p:spPr>
          <p:txBody>
            <a:bodyPr wrap="square" rtlCol="0">
              <a:spAutoFit/>
            </a:bodyPr>
            <a:lstStyle/>
            <a:p>
              <a:r>
                <a:rPr lang="en-US" sz="1400" dirty="0">
                  <a:solidFill>
                    <a:srgbClr val="C00000"/>
                  </a:solidFill>
                </a:rPr>
                <a:t>{sec, b} </a:t>
              </a:r>
            </a:p>
          </p:txBody>
        </p:sp>
        <p:cxnSp>
          <p:nvCxnSpPr>
            <p:cNvPr id="159" name="Curved Connector 158">
              <a:extLst>
                <a:ext uri="{FF2B5EF4-FFF2-40B4-BE49-F238E27FC236}">
                  <a16:creationId xmlns:a16="http://schemas.microsoft.com/office/drawing/2014/main" id="{A347D6C7-1D3D-E4E7-1576-F7AF93063182}"/>
                </a:ext>
              </a:extLst>
            </p:cNvPr>
            <p:cNvCxnSpPr>
              <a:cxnSpLocks/>
              <a:stCxn id="130" idx="3"/>
              <a:endCxn id="135" idx="3"/>
            </p:cNvCxnSpPr>
            <p:nvPr/>
          </p:nvCxnSpPr>
          <p:spPr>
            <a:xfrm>
              <a:off x="8033032" y="1010555"/>
              <a:ext cx="12700" cy="461291"/>
            </a:xfrm>
            <a:prstGeom prst="curvedConnector3">
              <a:avLst>
                <a:gd name="adj1" fmla="val 18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0" name="TextBox 159">
              <a:extLst>
                <a:ext uri="{FF2B5EF4-FFF2-40B4-BE49-F238E27FC236}">
                  <a16:creationId xmlns:a16="http://schemas.microsoft.com/office/drawing/2014/main" id="{E319679F-2BA9-7E05-24AF-D47CD2E72FBE}"/>
                </a:ext>
              </a:extLst>
            </p:cNvPr>
            <p:cNvSpPr txBox="1"/>
            <p:nvPr/>
          </p:nvSpPr>
          <p:spPr>
            <a:xfrm>
              <a:off x="8211101" y="1063428"/>
              <a:ext cx="297214" cy="276999"/>
            </a:xfrm>
            <a:prstGeom prst="rect">
              <a:avLst/>
            </a:prstGeom>
            <a:noFill/>
          </p:spPr>
          <p:txBody>
            <a:bodyPr wrap="square" rtlCol="0">
              <a:spAutoFit/>
            </a:bodyPr>
            <a:lstStyle/>
            <a:p>
              <a:r>
                <a:rPr lang="en-US" sz="1200" dirty="0">
                  <a:solidFill>
                    <a:schemeClr val="accent2"/>
                  </a:solidFill>
                </a:rPr>
                <a:t>fr</a:t>
              </a:r>
            </a:p>
          </p:txBody>
        </p:sp>
        <p:cxnSp>
          <p:nvCxnSpPr>
            <p:cNvPr id="161" name="Curved Connector 160">
              <a:extLst>
                <a:ext uri="{FF2B5EF4-FFF2-40B4-BE49-F238E27FC236}">
                  <a16:creationId xmlns:a16="http://schemas.microsoft.com/office/drawing/2014/main" id="{5D199D8B-8C9C-2095-1D0B-3E82C51CF59D}"/>
                </a:ext>
              </a:extLst>
            </p:cNvPr>
            <p:cNvCxnSpPr>
              <a:cxnSpLocks/>
              <a:stCxn id="130" idx="3"/>
              <a:endCxn id="128" idx="3"/>
            </p:cNvCxnSpPr>
            <p:nvPr/>
          </p:nvCxnSpPr>
          <p:spPr>
            <a:xfrm>
              <a:off x="8033032" y="1010555"/>
              <a:ext cx="1" cy="919211"/>
            </a:xfrm>
            <a:prstGeom prst="curvedConnector3">
              <a:avLst>
                <a:gd name="adj1" fmla="val 228601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F51DDDB3-B554-7CD6-A93A-409782E2FA6A}"/>
                </a:ext>
              </a:extLst>
            </p:cNvPr>
            <p:cNvSpPr txBox="1"/>
            <p:nvPr/>
          </p:nvSpPr>
          <p:spPr>
            <a:xfrm>
              <a:off x="8211101" y="1390938"/>
              <a:ext cx="297214" cy="276999"/>
            </a:xfrm>
            <a:prstGeom prst="rect">
              <a:avLst/>
            </a:prstGeom>
            <a:noFill/>
          </p:spPr>
          <p:txBody>
            <a:bodyPr wrap="square" rtlCol="0">
              <a:spAutoFit/>
            </a:bodyPr>
            <a:lstStyle/>
            <a:p>
              <a:r>
                <a:rPr lang="en-US" sz="1200" dirty="0">
                  <a:solidFill>
                    <a:schemeClr val="accent5"/>
                  </a:solidFill>
                </a:rPr>
                <a:t>rf</a:t>
              </a:r>
            </a:p>
          </p:txBody>
        </p:sp>
        <p:cxnSp>
          <p:nvCxnSpPr>
            <p:cNvPr id="163" name="Curved Connector 162">
              <a:extLst>
                <a:ext uri="{FF2B5EF4-FFF2-40B4-BE49-F238E27FC236}">
                  <a16:creationId xmlns:a16="http://schemas.microsoft.com/office/drawing/2014/main" id="{F864EC5A-8F12-F35B-154D-962593C1B46D}"/>
                </a:ext>
              </a:extLst>
            </p:cNvPr>
            <p:cNvCxnSpPr>
              <a:cxnSpLocks/>
              <a:stCxn id="135" idx="3"/>
              <a:endCxn id="129" idx="3"/>
            </p:cNvCxnSpPr>
            <p:nvPr/>
          </p:nvCxnSpPr>
          <p:spPr>
            <a:xfrm>
              <a:off x="8033032" y="1471846"/>
              <a:ext cx="3116" cy="945847"/>
            </a:xfrm>
            <a:prstGeom prst="curvedConnector3">
              <a:avLst>
                <a:gd name="adj1" fmla="val 7436329"/>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Curved Connector 163">
              <a:extLst>
                <a:ext uri="{FF2B5EF4-FFF2-40B4-BE49-F238E27FC236}">
                  <a16:creationId xmlns:a16="http://schemas.microsoft.com/office/drawing/2014/main" id="{D6155316-AF38-50E7-3547-3DDB9811CB44}"/>
                </a:ext>
              </a:extLst>
            </p:cNvPr>
            <p:cNvCxnSpPr>
              <a:cxnSpLocks/>
              <a:stCxn id="129" idx="3"/>
              <a:endCxn id="139" idx="3"/>
            </p:cNvCxnSpPr>
            <p:nvPr/>
          </p:nvCxnSpPr>
          <p:spPr>
            <a:xfrm>
              <a:off x="8036148" y="2417693"/>
              <a:ext cx="5166" cy="473679"/>
            </a:xfrm>
            <a:prstGeom prst="curvedConnector3">
              <a:avLst>
                <a:gd name="adj1" fmla="val 4525087"/>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497B6B9E-88AB-3B00-C7B6-24021FE112AD}"/>
                </a:ext>
              </a:extLst>
            </p:cNvPr>
            <p:cNvSpPr txBox="1"/>
            <p:nvPr/>
          </p:nvSpPr>
          <p:spPr>
            <a:xfrm>
              <a:off x="8235281" y="1824555"/>
              <a:ext cx="297214" cy="276999"/>
            </a:xfrm>
            <a:prstGeom prst="rect">
              <a:avLst/>
            </a:prstGeom>
            <a:noFill/>
          </p:spPr>
          <p:txBody>
            <a:bodyPr wrap="square" rtlCol="0">
              <a:spAutoFit/>
            </a:bodyPr>
            <a:lstStyle/>
            <a:p>
              <a:r>
                <a:rPr lang="en-US" sz="1200" dirty="0">
                  <a:solidFill>
                    <a:schemeClr val="accent5"/>
                  </a:solidFill>
                </a:rPr>
                <a:t>rf</a:t>
              </a:r>
            </a:p>
          </p:txBody>
        </p:sp>
        <p:sp>
          <p:nvSpPr>
            <p:cNvPr id="166" name="TextBox 165">
              <a:extLst>
                <a:ext uri="{FF2B5EF4-FFF2-40B4-BE49-F238E27FC236}">
                  <a16:creationId xmlns:a16="http://schemas.microsoft.com/office/drawing/2014/main" id="{B287C276-A5F0-8B8B-9209-F19FB6540134}"/>
                </a:ext>
              </a:extLst>
            </p:cNvPr>
            <p:cNvSpPr txBox="1"/>
            <p:nvPr/>
          </p:nvSpPr>
          <p:spPr>
            <a:xfrm>
              <a:off x="8219870" y="2515740"/>
              <a:ext cx="297214" cy="276999"/>
            </a:xfrm>
            <a:prstGeom prst="rect">
              <a:avLst/>
            </a:prstGeom>
            <a:noFill/>
          </p:spPr>
          <p:txBody>
            <a:bodyPr wrap="square" rtlCol="0">
              <a:spAutoFit/>
            </a:bodyPr>
            <a:lstStyle/>
            <a:p>
              <a:r>
                <a:rPr lang="en-US" sz="1200" dirty="0">
                  <a:solidFill>
                    <a:schemeClr val="accent5"/>
                  </a:solidFill>
                </a:rPr>
                <a:t>rf</a:t>
              </a:r>
            </a:p>
          </p:txBody>
        </p:sp>
      </p:grpSp>
      <p:grpSp>
        <p:nvGrpSpPr>
          <p:cNvPr id="167" name="Group 166">
            <a:extLst>
              <a:ext uri="{FF2B5EF4-FFF2-40B4-BE49-F238E27FC236}">
                <a16:creationId xmlns:a16="http://schemas.microsoft.com/office/drawing/2014/main" id="{6AD0E94B-F853-6B38-CCC4-D85404BD15CE}"/>
              </a:ext>
            </a:extLst>
          </p:cNvPr>
          <p:cNvGrpSpPr/>
          <p:nvPr/>
        </p:nvGrpSpPr>
        <p:grpSpPr>
          <a:xfrm>
            <a:off x="4018196" y="897648"/>
            <a:ext cx="2934288" cy="2531840"/>
            <a:chOff x="5881556" y="3416064"/>
            <a:chExt cx="2934288" cy="2531840"/>
          </a:xfrm>
        </p:grpSpPr>
        <p:sp>
          <p:nvSpPr>
            <p:cNvPr id="168" name="Oval 167">
              <a:extLst>
                <a:ext uri="{FF2B5EF4-FFF2-40B4-BE49-F238E27FC236}">
                  <a16:creationId xmlns:a16="http://schemas.microsoft.com/office/drawing/2014/main" id="{666837F8-D9B1-9F4A-1BCF-0A9E7D7EC2A7}"/>
                </a:ext>
              </a:extLst>
            </p:cNvPr>
            <p:cNvSpPr/>
            <p:nvPr/>
          </p:nvSpPr>
          <p:spPr>
            <a:xfrm>
              <a:off x="7482205" y="417136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69" name="Oval 168">
              <a:extLst>
                <a:ext uri="{FF2B5EF4-FFF2-40B4-BE49-F238E27FC236}">
                  <a16:creationId xmlns:a16="http://schemas.microsoft.com/office/drawing/2014/main" id="{06667FFD-CB40-1EE3-8FFE-63AEAAA21CA9}"/>
                </a:ext>
              </a:extLst>
            </p:cNvPr>
            <p:cNvSpPr/>
            <p:nvPr/>
          </p:nvSpPr>
          <p:spPr>
            <a:xfrm>
              <a:off x="7482205" y="4719139"/>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70" name="Oval 169">
              <a:extLst>
                <a:ext uri="{FF2B5EF4-FFF2-40B4-BE49-F238E27FC236}">
                  <a16:creationId xmlns:a16="http://schemas.microsoft.com/office/drawing/2014/main" id="{E2AC7442-979F-26ED-7A0B-0FC59278A999}"/>
                </a:ext>
              </a:extLst>
            </p:cNvPr>
            <p:cNvSpPr/>
            <p:nvPr/>
          </p:nvSpPr>
          <p:spPr>
            <a:xfrm>
              <a:off x="8166765" y="4159426"/>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71" name="Oval 170">
              <a:extLst>
                <a:ext uri="{FF2B5EF4-FFF2-40B4-BE49-F238E27FC236}">
                  <a16:creationId xmlns:a16="http://schemas.microsoft.com/office/drawing/2014/main" id="{BD3A4276-A4F8-5466-00A2-92D3A719F5F4}"/>
                </a:ext>
              </a:extLst>
            </p:cNvPr>
            <p:cNvSpPr/>
            <p:nvPr/>
          </p:nvSpPr>
          <p:spPr>
            <a:xfrm>
              <a:off x="8166765" y="4724255"/>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72" name="Oval 171">
              <a:extLst>
                <a:ext uri="{FF2B5EF4-FFF2-40B4-BE49-F238E27FC236}">
                  <a16:creationId xmlns:a16="http://schemas.microsoft.com/office/drawing/2014/main" id="{8100E75E-10F3-8865-4D55-5E04799AB6B7}"/>
                </a:ext>
              </a:extLst>
            </p:cNvPr>
            <p:cNvSpPr/>
            <p:nvPr/>
          </p:nvSpPr>
          <p:spPr>
            <a:xfrm>
              <a:off x="8167353" y="5247847"/>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cxnSp>
          <p:nvCxnSpPr>
            <p:cNvPr id="173" name="Curved Connector 172">
              <a:extLst>
                <a:ext uri="{FF2B5EF4-FFF2-40B4-BE49-F238E27FC236}">
                  <a16:creationId xmlns:a16="http://schemas.microsoft.com/office/drawing/2014/main" id="{BBD402E9-5AF1-ABC8-44B4-3985F17BB128}"/>
                </a:ext>
              </a:extLst>
            </p:cNvPr>
            <p:cNvCxnSpPr>
              <a:cxnSpLocks/>
              <a:stCxn id="168" idx="4"/>
              <a:endCxn id="169" idx="0"/>
            </p:cNvCxnSpPr>
            <p:nvPr/>
          </p:nvCxnSpPr>
          <p:spPr>
            <a:xfrm rot="5400000">
              <a:off x="7464869" y="4574076"/>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4" name="Curved Connector 173">
              <a:extLst>
                <a:ext uri="{FF2B5EF4-FFF2-40B4-BE49-F238E27FC236}">
                  <a16:creationId xmlns:a16="http://schemas.microsoft.com/office/drawing/2014/main" id="{1351298E-DC9D-F6EF-A65E-735B6A254CB2}"/>
                </a:ext>
              </a:extLst>
            </p:cNvPr>
            <p:cNvCxnSpPr>
              <a:cxnSpLocks/>
            </p:cNvCxnSpPr>
            <p:nvPr/>
          </p:nvCxnSpPr>
          <p:spPr>
            <a:xfrm rot="5400000">
              <a:off x="8149429" y="4583747"/>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Curved Connector 174">
              <a:extLst>
                <a:ext uri="{FF2B5EF4-FFF2-40B4-BE49-F238E27FC236}">
                  <a16:creationId xmlns:a16="http://schemas.microsoft.com/office/drawing/2014/main" id="{D2272954-AC27-6C55-8120-209584FBAA1D}"/>
                </a:ext>
              </a:extLst>
            </p:cNvPr>
            <p:cNvCxnSpPr>
              <a:cxnSpLocks/>
            </p:cNvCxnSpPr>
            <p:nvPr/>
          </p:nvCxnSpPr>
          <p:spPr>
            <a:xfrm rot="5400000">
              <a:off x="8149429" y="5115502"/>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Curved Connector 175">
              <a:extLst>
                <a:ext uri="{FF2B5EF4-FFF2-40B4-BE49-F238E27FC236}">
                  <a16:creationId xmlns:a16="http://schemas.microsoft.com/office/drawing/2014/main" id="{6F81DAC8-AD45-0191-4480-B923F01B94FC}"/>
                </a:ext>
              </a:extLst>
            </p:cNvPr>
            <p:cNvCxnSpPr>
              <a:cxnSpLocks/>
              <a:stCxn id="168" idx="6"/>
              <a:endCxn id="170" idx="2"/>
            </p:cNvCxnSpPr>
            <p:nvPr/>
          </p:nvCxnSpPr>
          <p:spPr>
            <a:xfrm flipV="1">
              <a:off x="7737659" y="4288251"/>
              <a:ext cx="429106" cy="11937"/>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77" name="TextBox 176">
              <a:extLst>
                <a:ext uri="{FF2B5EF4-FFF2-40B4-BE49-F238E27FC236}">
                  <a16:creationId xmlns:a16="http://schemas.microsoft.com/office/drawing/2014/main" id="{7A317B99-3221-0A71-D092-A2A1E6E0BB25}"/>
                </a:ext>
              </a:extLst>
            </p:cNvPr>
            <p:cNvSpPr txBox="1"/>
            <p:nvPr/>
          </p:nvSpPr>
          <p:spPr>
            <a:xfrm>
              <a:off x="7385014" y="4401414"/>
              <a:ext cx="297214" cy="276999"/>
            </a:xfrm>
            <a:prstGeom prst="rect">
              <a:avLst/>
            </a:prstGeom>
            <a:noFill/>
          </p:spPr>
          <p:txBody>
            <a:bodyPr wrap="square" rtlCol="0">
              <a:spAutoFit/>
            </a:bodyPr>
            <a:lstStyle/>
            <a:p>
              <a:r>
                <a:rPr lang="en-US" sz="1200" dirty="0">
                  <a:solidFill>
                    <a:schemeClr val="accent5"/>
                  </a:solidFill>
                </a:rPr>
                <a:t>rf</a:t>
              </a:r>
            </a:p>
          </p:txBody>
        </p:sp>
        <p:sp>
          <p:nvSpPr>
            <p:cNvPr id="178" name="TextBox 177">
              <a:extLst>
                <a:ext uri="{FF2B5EF4-FFF2-40B4-BE49-F238E27FC236}">
                  <a16:creationId xmlns:a16="http://schemas.microsoft.com/office/drawing/2014/main" id="{6A4BFC93-5E89-AC80-7F78-FFEEF1413F68}"/>
                </a:ext>
              </a:extLst>
            </p:cNvPr>
            <p:cNvSpPr txBox="1"/>
            <p:nvPr/>
          </p:nvSpPr>
          <p:spPr>
            <a:xfrm>
              <a:off x="8236257" y="4401413"/>
              <a:ext cx="297214" cy="276999"/>
            </a:xfrm>
            <a:prstGeom prst="rect">
              <a:avLst/>
            </a:prstGeom>
            <a:noFill/>
          </p:spPr>
          <p:txBody>
            <a:bodyPr wrap="square" rtlCol="0">
              <a:spAutoFit/>
            </a:bodyPr>
            <a:lstStyle/>
            <a:p>
              <a:r>
                <a:rPr lang="en-US" sz="1200" dirty="0">
                  <a:solidFill>
                    <a:schemeClr val="accent5"/>
                  </a:solidFill>
                </a:rPr>
                <a:t>rf</a:t>
              </a:r>
            </a:p>
          </p:txBody>
        </p:sp>
        <p:sp>
          <p:nvSpPr>
            <p:cNvPr id="179" name="TextBox 178">
              <a:extLst>
                <a:ext uri="{FF2B5EF4-FFF2-40B4-BE49-F238E27FC236}">
                  <a16:creationId xmlns:a16="http://schemas.microsoft.com/office/drawing/2014/main" id="{D7F43D75-3920-0AEB-8808-090139D0B98E}"/>
                </a:ext>
              </a:extLst>
            </p:cNvPr>
            <p:cNvSpPr txBox="1"/>
            <p:nvPr/>
          </p:nvSpPr>
          <p:spPr>
            <a:xfrm>
              <a:off x="8253517" y="4949418"/>
              <a:ext cx="297214" cy="276999"/>
            </a:xfrm>
            <a:prstGeom prst="rect">
              <a:avLst/>
            </a:prstGeom>
            <a:noFill/>
          </p:spPr>
          <p:txBody>
            <a:bodyPr wrap="square" rtlCol="0">
              <a:spAutoFit/>
            </a:bodyPr>
            <a:lstStyle/>
            <a:p>
              <a:r>
                <a:rPr lang="en-US" sz="1200" dirty="0">
                  <a:solidFill>
                    <a:schemeClr val="accent5"/>
                  </a:solidFill>
                </a:rPr>
                <a:t>rf</a:t>
              </a:r>
            </a:p>
          </p:txBody>
        </p:sp>
        <p:sp>
          <p:nvSpPr>
            <p:cNvPr id="180" name="TextBox 179">
              <a:extLst>
                <a:ext uri="{FF2B5EF4-FFF2-40B4-BE49-F238E27FC236}">
                  <a16:creationId xmlns:a16="http://schemas.microsoft.com/office/drawing/2014/main" id="{E6490CB6-88BE-B88D-F26C-3B1C2D736E91}"/>
                </a:ext>
              </a:extLst>
            </p:cNvPr>
            <p:cNvSpPr txBox="1"/>
            <p:nvPr/>
          </p:nvSpPr>
          <p:spPr>
            <a:xfrm>
              <a:off x="7758299" y="4039191"/>
              <a:ext cx="297214" cy="276999"/>
            </a:xfrm>
            <a:prstGeom prst="rect">
              <a:avLst/>
            </a:prstGeom>
            <a:noFill/>
          </p:spPr>
          <p:txBody>
            <a:bodyPr wrap="square" rtlCol="0">
              <a:spAutoFit/>
            </a:bodyPr>
            <a:lstStyle/>
            <a:p>
              <a:r>
                <a:rPr lang="en-US" sz="1200" dirty="0">
                  <a:solidFill>
                    <a:schemeClr val="accent2"/>
                  </a:solidFill>
                </a:rPr>
                <a:t>fr</a:t>
              </a:r>
            </a:p>
          </p:txBody>
        </p:sp>
        <p:sp>
          <p:nvSpPr>
            <p:cNvPr id="181" name="Oval 180">
              <a:extLst>
                <a:ext uri="{FF2B5EF4-FFF2-40B4-BE49-F238E27FC236}">
                  <a16:creationId xmlns:a16="http://schemas.microsoft.com/office/drawing/2014/main" id="{0181BEB4-942C-058F-7228-4742C00A5988}"/>
                </a:ext>
              </a:extLst>
            </p:cNvPr>
            <p:cNvSpPr/>
            <p:nvPr/>
          </p:nvSpPr>
          <p:spPr>
            <a:xfrm>
              <a:off x="7333364" y="3905687"/>
              <a:ext cx="521892" cy="1268450"/>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Oval 181">
              <a:extLst>
                <a:ext uri="{FF2B5EF4-FFF2-40B4-BE49-F238E27FC236}">
                  <a16:creationId xmlns:a16="http://schemas.microsoft.com/office/drawing/2014/main" id="{134C00D7-28CC-8DCE-913E-2E44B78A8537}"/>
                </a:ext>
              </a:extLst>
            </p:cNvPr>
            <p:cNvSpPr/>
            <p:nvPr/>
          </p:nvSpPr>
          <p:spPr>
            <a:xfrm>
              <a:off x="8011578" y="3946200"/>
              <a:ext cx="580121" cy="1724729"/>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7D239CBA-DCE8-A715-DBDD-BA358B2FD93E}"/>
                </a:ext>
              </a:extLst>
            </p:cNvPr>
            <p:cNvSpPr txBox="1"/>
            <p:nvPr/>
          </p:nvSpPr>
          <p:spPr>
            <a:xfrm>
              <a:off x="5881556" y="4433999"/>
              <a:ext cx="1451808" cy="646331"/>
            </a:xfrm>
            <a:prstGeom prst="rect">
              <a:avLst/>
            </a:prstGeom>
            <a:noFill/>
          </p:spPr>
          <p:txBody>
            <a:bodyPr wrap="square" rtlCol="0">
              <a:spAutoFit/>
            </a:bodyPr>
            <a:lstStyle/>
            <a:p>
              <a:pPr algn="r"/>
              <a:r>
                <a:rPr lang="en-US" sz="1200" dirty="0">
                  <a:solidFill>
                    <a:schemeClr val="accent5"/>
                  </a:solidFill>
                </a:rPr>
                <a:t>Equivalence class 1, leaked and unprotected</a:t>
              </a:r>
            </a:p>
          </p:txBody>
        </p:sp>
        <p:sp>
          <p:nvSpPr>
            <p:cNvPr id="184" name="TextBox 183">
              <a:extLst>
                <a:ext uri="{FF2B5EF4-FFF2-40B4-BE49-F238E27FC236}">
                  <a16:creationId xmlns:a16="http://schemas.microsoft.com/office/drawing/2014/main" id="{71EA1EC2-5C04-F524-86D4-2465E96852FB}"/>
                </a:ext>
              </a:extLst>
            </p:cNvPr>
            <p:cNvSpPr txBox="1"/>
            <p:nvPr/>
          </p:nvSpPr>
          <p:spPr>
            <a:xfrm>
              <a:off x="7062108" y="5301573"/>
              <a:ext cx="1753736" cy="646331"/>
            </a:xfrm>
            <a:prstGeom prst="rect">
              <a:avLst/>
            </a:prstGeom>
            <a:noFill/>
          </p:spPr>
          <p:txBody>
            <a:bodyPr wrap="square" rtlCol="0">
              <a:spAutoFit/>
            </a:bodyPr>
            <a:lstStyle/>
            <a:p>
              <a:r>
                <a:rPr lang="en-US" sz="1200" dirty="0">
                  <a:solidFill>
                    <a:schemeClr val="accent5"/>
                  </a:solidFill>
                </a:rPr>
                <a:t>Equivalence </a:t>
              </a:r>
            </a:p>
            <a:p>
              <a:r>
                <a:rPr lang="en-US" sz="1200" dirty="0">
                  <a:solidFill>
                    <a:schemeClr val="accent5"/>
                  </a:solidFill>
                </a:rPr>
                <a:t>class 2, not </a:t>
              </a:r>
            </a:p>
            <a:p>
              <a:r>
                <a:rPr lang="en-US" sz="1200" dirty="0">
                  <a:solidFill>
                    <a:schemeClr val="accent5"/>
                  </a:solidFill>
                </a:rPr>
                <a:t>leaked and protected</a:t>
              </a:r>
            </a:p>
          </p:txBody>
        </p:sp>
        <p:cxnSp>
          <p:nvCxnSpPr>
            <p:cNvPr id="185" name="Straight Arrow Connector 184">
              <a:extLst>
                <a:ext uri="{FF2B5EF4-FFF2-40B4-BE49-F238E27FC236}">
                  <a16:creationId xmlns:a16="http://schemas.microsoft.com/office/drawing/2014/main" id="{F7F470BD-E4CD-9080-3D12-048D17249A6E}"/>
                </a:ext>
              </a:extLst>
            </p:cNvPr>
            <p:cNvCxnSpPr>
              <a:cxnSpLocks/>
              <a:endCxn id="180" idx="3"/>
            </p:cNvCxnSpPr>
            <p:nvPr/>
          </p:nvCxnSpPr>
          <p:spPr>
            <a:xfrm>
              <a:off x="8011578" y="3716026"/>
              <a:ext cx="43935" cy="461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95AC430F-8E23-8162-A58D-98C2125763F7}"/>
                </a:ext>
              </a:extLst>
            </p:cNvPr>
            <p:cNvSpPr txBox="1"/>
            <p:nvPr/>
          </p:nvSpPr>
          <p:spPr>
            <a:xfrm>
              <a:off x="6994061" y="3416064"/>
              <a:ext cx="1451808" cy="461665"/>
            </a:xfrm>
            <a:prstGeom prst="rect">
              <a:avLst/>
            </a:prstGeom>
            <a:noFill/>
            <a:ln>
              <a:noFill/>
            </a:ln>
          </p:spPr>
          <p:txBody>
            <a:bodyPr wrap="square" rtlCol="0">
              <a:spAutoFit/>
            </a:bodyPr>
            <a:lstStyle/>
            <a:p>
              <a:r>
                <a:rPr lang="en-US" sz="1200" dirty="0"/>
                <a:t>Misinterpreted fr edge</a:t>
              </a:r>
            </a:p>
          </p:txBody>
        </p:sp>
      </p:grpSp>
      <p:cxnSp>
        <p:nvCxnSpPr>
          <p:cNvPr id="187" name="Curved Connector 186">
            <a:extLst>
              <a:ext uri="{FF2B5EF4-FFF2-40B4-BE49-F238E27FC236}">
                <a16:creationId xmlns:a16="http://schemas.microsoft.com/office/drawing/2014/main" id="{330030E0-9FE1-3442-090B-707817D51E66}"/>
              </a:ext>
            </a:extLst>
          </p:cNvPr>
          <p:cNvCxnSpPr>
            <a:cxnSpLocks/>
          </p:cNvCxnSpPr>
          <p:nvPr/>
        </p:nvCxnSpPr>
        <p:spPr>
          <a:xfrm>
            <a:off x="3136854" y="2822830"/>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8" name="Curved Connector 187">
            <a:extLst>
              <a:ext uri="{FF2B5EF4-FFF2-40B4-BE49-F238E27FC236}">
                <a16:creationId xmlns:a16="http://schemas.microsoft.com/office/drawing/2014/main" id="{183A1482-E739-6B23-5DCF-E9B764E4155D}"/>
              </a:ext>
            </a:extLst>
          </p:cNvPr>
          <p:cNvCxnSpPr>
            <a:cxnSpLocks/>
          </p:cNvCxnSpPr>
          <p:nvPr/>
        </p:nvCxnSpPr>
        <p:spPr>
          <a:xfrm>
            <a:off x="3131688" y="3284563"/>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9" name="Curved Connector 188">
            <a:extLst>
              <a:ext uri="{FF2B5EF4-FFF2-40B4-BE49-F238E27FC236}">
                <a16:creationId xmlns:a16="http://schemas.microsoft.com/office/drawing/2014/main" id="{9BAF10BB-E568-60E6-F3ED-78ED11322D4B}"/>
              </a:ext>
            </a:extLst>
          </p:cNvPr>
          <p:cNvCxnSpPr>
            <a:cxnSpLocks/>
          </p:cNvCxnSpPr>
          <p:nvPr/>
        </p:nvCxnSpPr>
        <p:spPr>
          <a:xfrm>
            <a:off x="3163989" y="3749899"/>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90" name="Curved Connector 189">
            <a:extLst>
              <a:ext uri="{FF2B5EF4-FFF2-40B4-BE49-F238E27FC236}">
                <a16:creationId xmlns:a16="http://schemas.microsoft.com/office/drawing/2014/main" id="{5B169496-3675-A409-4E0D-1B48E09BD13A}"/>
              </a:ext>
            </a:extLst>
          </p:cNvPr>
          <p:cNvCxnSpPr>
            <a:cxnSpLocks/>
          </p:cNvCxnSpPr>
          <p:nvPr/>
        </p:nvCxnSpPr>
        <p:spPr>
          <a:xfrm>
            <a:off x="3179735" y="424709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191" name="TextBox 190">
            <a:extLst>
              <a:ext uri="{FF2B5EF4-FFF2-40B4-BE49-F238E27FC236}">
                <a16:creationId xmlns:a16="http://schemas.microsoft.com/office/drawing/2014/main" id="{FFBB9BE7-6E23-CFD9-EC85-75354DB413CB}"/>
              </a:ext>
            </a:extLst>
          </p:cNvPr>
          <p:cNvSpPr txBox="1"/>
          <p:nvPr/>
        </p:nvSpPr>
        <p:spPr>
          <a:xfrm>
            <a:off x="2769663" y="2908812"/>
            <a:ext cx="368375" cy="276999"/>
          </a:xfrm>
          <a:prstGeom prst="rect">
            <a:avLst/>
          </a:prstGeom>
          <a:noFill/>
        </p:spPr>
        <p:txBody>
          <a:bodyPr wrap="square" rtlCol="0">
            <a:spAutoFit/>
          </a:bodyPr>
          <a:lstStyle/>
          <a:p>
            <a:r>
              <a:rPr lang="en-US" sz="1200" dirty="0">
                <a:solidFill>
                  <a:schemeClr val="accent3"/>
                </a:solidFill>
              </a:rPr>
              <a:t>po</a:t>
            </a:r>
          </a:p>
        </p:txBody>
      </p:sp>
      <p:sp>
        <p:nvSpPr>
          <p:cNvPr id="192" name="TextBox 191">
            <a:extLst>
              <a:ext uri="{FF2B5EF4-FFF2-40B4-BE49-F238E27FC236}">
                <a16:creationId xmlns:a16="http://schemas.microsoft.com/office/drawing/2014/main" id="{6B17D04A-02C8-79C5-3089-175A22F4E52A}"/>
              </a:ext>
            </a:extLst>
          </p:cNvPr>
          <p:cNvSpPr txBox="1"/>
          <p:nvPr/>
        </p:nvSpPr>
        <p:spPr>
          <a:xfrm>
            <a:off x="2760214" y="3379322"/>
            <a:ext cx="368375" cy="276999"/>
          </a:xfrm>
          <a:prstGeom prst="rect">
            <a:avLst/>
          </a:prstGeom>
          <a:noFill/>
        </p:spPr>
        <p:txBody>
          <a:bodyPr wrap="square" rtlCol="0">
            <a:spAutoFit/>
          </a:bodyPr>
          <a:lstStyle/>
          <a:p>
            <a:r>
              <a:rPr lang="en-US" sz="1200" dirty="0">
                <a:solidFill>
                  <a:schemeClr val="accent3"/>
                </a:solidFill>
              </a:rPr>
              <a:t>po</a:t>
            </a:r>
          </a:p>
        </p:txBody>
      </p:sp>
      <p:sp>
        <p:nvSpPr>
          <p:cNvPr id="193" name="TextBox 192">
            <a:extLst>
              <a:ext uri="{FF2B5EF4-FFF2-40B4-BE49-F238E27FC236}">
                <a16:creationId xmlns:a16="http://schemas.microsoft.com/office/drawing/2014/main" id="{E5F6DAB8-EC05-8A99-8B07-11AE4C8599F7}"/>
              </a:ext>
            </a:extLst>
          </p:cNvPr>
          <p:cNvSpPr txBox="1"/>
          <p:nvPr/>
        </p:nvSpPr>
        <p:spPr>
          <a:xfrm>
            <a:off x="2799521" y="3837783"/>
            <a:ext cx="368375" cy="276999"/>
          </a:xfrm>
          <a:prstGeom prst="rect">
            <a:avLst/>
          </a:prstGeom>
          <a:noFill/>
        </p:spPr>
        <p:txBody>
          <a:bodyPr wrap="square" rtlCol="0">
            <a:spAutoFit/>
          </a:bodyPr>
          <a:lstStyle/>
          <a:p>
            <a:r>
              <a:rPr lang="en-US" sz="1200" dirty="0">
                <a:solidFill>
                  <a:schemeClr val="accent3"/>
                </a:solidFill>
              </a:rPr>
              <a:t>po</a:t>
            </a:r>
          </a:p>
        </p:txBody>
      </p:sp>
      <p:sp>
        <p:nvSpPr>
          <p:cNvPr id="194" name="TextBox 193">
            <a:extLst>
              <a:ext uri="{FF2B5EF4-FFF2-40B4-BE49-F238E27FC236}">
                <a16:creationId xmlns:a16="http://schemas.microsoft.com/office/drawing/2014/main" id="{3B5820FA-84A8-41B4-4842-168CD07EEABC}"/>
              </a:ext>
            </a:extLst>
          </p:cNvPr>
          <p:cNvSpPr txBox="1"/>
          <p:nvPr/>
        </p:nvSpPr>
        <p:spPr>
          <a:xfrm>
            <a:off x="2822130" y="4302178"/>
            <a:ext cx="368375" cy="276999"/>
          </a:xfrm>
          <a:prstGeom prst="rect">
            <a:avLst/>
          </a:prstGeom>
          <a:noFill/>
        </p:spPr>
        <p:txBody>
          <a:bodyPr wrap="square" rtlCol="0">
            <a:spAutoFit/>
          </a:bodyPr>
          <a:lstStyle/>
          <a:p>
            <a:r>
              <a:rPr lang="en-US" sz="1200" dirty="0">
                <a:solidFill>
                  <a:schemeClr val="accent3"/>
                </a:solidFill>
              </a:rPr>
              <a:t>po</a:t>
            </a:r>
          </a:p>
        </p:txBody>
      </p:sp>
      <p:sp>
        <p:nvSpPr>
          <p:cNvPr id="195" name="Title 1">
            <a:extLst>
              <a:ext uri="{FF2B5EF4-FFF2-40B4-BE49-F238E27FC236}">
                <a16:creationId xmlns:a16="http://schemas.microsoft.com/office/drawing/2014/main" id="{24ABCB4C-8A20-1C2C-9D8A-57643DDAD1FF}"/>
              </a:ext>
            </a:extLst>
          </p:cNvPr>
          <p:cNvSpPr>
            <a:spLocks noGrp="1"/>
          </p:cNvSpPr>
          <p:nvPr>
            <p:ph type="title"/>
          </p:nvPr>
        </p:nvSpPr>
        <p:spPr>
          <a:xfrm>
            <a:off x="948776" y="501957"/>
            <a:ext cx="7707862" cy="488024"/>
          </a:xfrm>
        </p:spPr>
        <p:txBody>
          <a:bodyPr/>
          <a:lstStyle/>
          <a:p>
            <a:r>
              <a:rPr lang="en-US" dirty="0"/>
              <a:t>Known bug in memory unprotection</a:t>
            </a:r>
          </a:p>
        </p:txBody>
      </p:sp>
      <p:sp>
        <p:nvSpPr>
          <p:cNvPr id="196" name="Title 1">
            <a:extLst>
              <a:ext uri="{FF2B5EF4-FFF2-40B4-BE49-F238E27FC236}">
                <a16:creationId xmlns:a16="http://schemas.microsoft.com/office/drawing/2014/main" id="{0ACCC1A9-639F-EC81-7F94-A57EBBEDB2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2882451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DC34-A87D-9655-283E-E2B46D474C3F}"/>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B060B3C9-3F62-0E40-BA29-71E752CA6C29}"/>
              </a:ext>
            </a:extLst>
          </p:cNvPr>
          <p:cNvSpPr>
            <a:spLocks noGrp="1"/>
          </p:cNvSpPr>
          <p:nvPr>
            <p:ph type="title"/>
          </p:nvPr>
        </p:nvSpPr>
        <p:spPr>
          <a:xfrm>
            <a:off x="948776" y="501957"/>
            <a:ext cx="7707862" cy="488024"/>
          </a:xfrm>
        </p:spPr>
        <p:txBody>
          <a:bodyPr/>
          <a:lstStyle/>
          <a:p>
            <a:r>
              <a:rPr lang="en-US" dirty="0"/>
              <a:t>Secondary STT bug</a:t>
            </a:r>
          </a:p>
        </p:txBody>
      </p:sp>
      <p:sp>
        <p:nvSpPr>
          <p:cNvPr id="196" name="Title 1">
            <a:extLst>
              <a:ext uri="{FF2B5EF4-FFF2-40B4-BE49-F238E27FC236}">
                <a16:creationId xmlns:a16="http://schemas.microsoft.com/office/drawing/2014/main" id="{D964DA38-4249-147A-00EF-077A56292210}"/>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Content Placeholder 2">
            <a:extLst>
              <a:ext uri="{FF2B5EF4-FFF2-40B4-BE49-F238E27FC236}">
                <a16:creationId xmlns:a16="http://schemas.microsoft.com/office/drawing/2014/main" id="{29506428-BA67-7EEC-FDF9-9E870C862B59}"/>
              </a:ext>
            </a:extLst>
          </p:cNvPr>
          <p:cNvSpPr txBox="1">
            <a:spLocks/>
          </p:cNvSpPr>
          <p:nvPr/>
        </p:nvSpPr>
        <p:spPr>
          <a:xfrm>
            <a:off x="955678" y="1051101"/>
            <a:ext cx="7912750" cy="3411445"/>
          </a:xfrm>
        </p:spPr>
        <p:txBody>
          <a:bodyPr/>
          <a:ls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a:lstStyle>
          <a:p>
            <a:r>
              <a:rPr lang="en-US" dirty="0"/>
              <a:t>IN PROGRESS</a:t>
            </a:r>
          </a:p>
          <a:p>
            <a:r>
              <a:rPr lang="en-US" dirty="0"/>
              <a:t>bad execution:</a:t>
            </a:r>
          </a:p>
          <a:p>
            <a:pPr>
              <a:buFont typeface="Arial" panose="020B0604020202020204" pitchFamily="34" charset="0"/>
              <a:buChar char="•"/>
            </a:pPr>
            <a:r>
              <a:rPr lang="en-US" dirty="0"/>
              <a:t> prot m1</a:t>
            </a:r>
          </a:p>
          <a:p>
            <a:pPr>
              <a:buFont typeface="Arial" panose="020B0604020202020204" pitchFamily="34" charset="0"/>
              <a:buChar char="•"/>
            </a:pPr>
            <a:r>
              <a:rPr lang="en-US" dirty="0"/>
              <a:t> spec (true)</a:t>
            </a:r>
          </a:p>
          <a:p>
            <a:pPr>
              <a:buFont typeface="Arial" panose="020B0604020202020204" pitchFamily="34" charset="0"/>
              <a:buChar char="•"/>
            </a:pPr>
            <a:r>
              <a:rPr lang="en-US" dirty="0"/>
              <a:t> load ra from m1</a:t>
            </a:r>
          </a:p>
          <a:p>
            <a:pPr>
              <a:buFont typeface="Arial" panose="020B0604020202020204" pitchFamily="34" charset="0"/>
              <a:buChar char="•"/>
            </a:pPr>
            <a:r>
              <a:rPr lang="en-US" dirty="0"/>
              <a:t> spec (false)</a:t>
            </a:r>
          </a:p>
          <a:p>
            <a:pPr>
              <a:buFont typeface="Arial" panose="020B0604020202020204" pitchFamily="34" charset="0"/>
              <a:buChar char="•"/>
            </a:pPr>
            <a:r>
              <a:rPr lang="en-US" dirty="0"/>
              <a:t> load ra from m2</a:t>
            </a:r>
          </a:p>
          <a:p>
            <a:pPr>
              <a:buFont typeface="Arial" panose="020B0604020202020204" pitchFamily="34" charset="0"/>
              <a:buChar char="•"/>
            </a:pPr>
            <a:r>
              <a:rPr lang="en-US" dirty="0"/>
              <a:t> load rb from m\[ra] *leak ra*</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655038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4BA0-3769-2D17-F5A6-8AA037807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A5BA5-88F5-5914-E72F-3C205245CEC5}"/>
              </a:ext>
            </a:extLst>
          </p:cNvPr>
          <p:cNvSpPr>
            <a:spLocks noGrp="1"/>
          </p:cNvSpPr>
          <p:nvPr>
            <p:ph type="title"/>
          </p:nvPr>
        </p:nvSpPr>
        <p:spPr/>
        <p:txBody>
          <a:bodyPr/>
          <a:lstStyle/>
          <a:p>
            <a:r>
              <a:rPr lang="en-US" dirty="0"/>
              <a:t>Doppelganger Loads — ISCA ’23</a:t>
            </a:r>
          </a:p>
        </p:txBody>
      </p:sp>
      <p:sp>
        <p:nvSpPr>
          <p:cNvPr id="3" name="Content Placeholder 2">
            <a:extLst>
              <a:ext uri="{FF2B5EF4-FFF2-40B4-BE49-F238E27FC236}">
                <a16:creationId xmlns:a16="http://schemas.microsoft.com/office/drawing/2014/main" id="{1E9F5AF7-9149-9784-C093-65E356E8615F}"/>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SDO helps with the MLP problem but doesn’t neatly conceal load address, just load timing behavior</a:t>
            </a:r>
          </a:p>
          <a:p>
            <a:pPr>
              <a:buFont typeface="Arial" panose="020B0604020202020204" pitchFamily="34" charset="0"/>
              <a:buChar char="•"/>
            </a:pPr>
            <a:r>
              <a:rPr lang="en-US" dirty="0"/>
              <a:t>Insight: predict load addresses with </a:t>
            </a:r>
            <a:r>
              <a:rPr lang="en-US" i="1" dirty="0"/>
              <a:t>doppelganger loads </a:t>
            </a:r>
            <a:r>
              <a:rPr lang="en-US" dirty="0"/>
              <a:t>that predict load address and load information from memory without predicating on speculative data</a:t>
            </a:r>
          </a:p>
          <a:p>
            <a:pPr>
              <a:buFont typeface="Arial" panose="020B0604020202020204" pitchFamily="34" charset="0"/>
              <a:buChar char="•"/>
            </a:pPr>
            <a:r>
              <a:rPr lang="en-US" dirty="0"/>
              <a:t>Threat-model transparent!</a:t>
            </a:r>
          </a:p>
        </p:txBody>
      </p:sp>
      <p:sp>
        <p:nvSpPr>
          <p:cNvPr id="4" name="Slide Number Placeholder 3">
            <a:extLst>
              <a:ext uri="{FF2B5EF4-FFF2-40B4-BE49-F238E27FC236}">
                <a16:creationId xmlns:a16="http://schemas.microsoft.com/office/drawing/2014/main" id="{2F7F08F3-9A39-DE20-C902-98AB5DB7BA13}"/>
              </a:ext>
            </a:extLst>
          </p:cNvPr>
          <p:cNvSpPr>
            <a:spLocks noGrp="1"/>
          </p:cNvSpPr>
          <p:nvPr>
            <p:ph type="sldNum" sz="quarter" idx="4"/>
          </p:nvPr>
        </p:nvSpPr>
        <p:spPr/>
        <p:txBody>
          <a:bodyPr/>
          <a:lstStyle/>
          <a:p>
            <a:pPr>
              <a:defRPr/>
            </a:pPr>
            <a:fld id="{C8580F89-A3EA-CF4C-A13C-CD8A0A8D4F14}" type="slidenum">
              <a:rPr lang="en-US" smtClean="0"/>
              <a:pPr>
                <a:defRPr/>
              </a:pPr>
              <a:t>33</a:t>
            </a:fld>
            <a:endParaRPr lang="en-US" dirty="0"/>
          </a:p>
        </p:txBody>
      </p:sp>
      <p:sp>
        <p:nvSpPr>
          <p:cNvPr id="5" name="Title 1">
            <a:extLst>
              <a:ext uri="{FF2B5EF4-FFF2-40B4-BE49-F238E27FC236}">
                <a16:creationId xmlns:a16="http://schemas.microsoft.com/office/drawing/2014/main" id="{65349BD3-05A3-D2A3-4FE1-6229EFE5FD2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059513082"/>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2D59A-9780-8BEB-144B-B1F8F2EE827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7E7DE97-9E5B-DF67-BDDF-FF81FE8F54D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B9567B-9E96-5D52-3CE8-866E62C36BB9}"/>
              </a:ext>
            </a:extLst>
          </p:cNvPr>
          <p:cNvSpPr>
            <a:spLocks noGrp="1"/>
          </p:cNvSpPr>
          <p:nvPr>
            <p:ph type="title"/>
          </p:nvPr>
        </p:nvSpPr>
        <p:spPr/>
        <p:txBody>
          <a:bodyPr/>
          <a:lstStyle/>
          <a:p>
            <a:r>
              <a:rPr lang="en-US" dirty="0"/>
              <a:t>DL-NDA SimSpect specification</a:t>
            </a:r>
          </a:p>
        </p:txBody>
      </p:sp>
      <p:sp>
        <p:nvSpPr>
          <p:cNvPr id="3" name="Content Placeholder 2">
            <a:extLst>
              <a:ext uri="{FF2B5EF4-FFF2-40B4-BE49-F238E27FC236}">
                <a16:creationId xmlns:a16="http://schemas.microsoft.com/office/drawing/2014/main" id="{93810BFD-9C10-B5D7-658F-04675860849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C51C0EB-E2E8-02B2-4602-8DDB7B3AD468}"/>
              </a:ext>
            </a:extLst>
          </p:cNvPr>
          <p:cNvSpPr>
            <a:spLocks noGrp="1"/>
          </p:cNvSpPr>
          <p:nvPr>
            <p:ph type="sldNum" sz="quarter" idx="4"/>
          </p:nvPr>
        </p:nvSpPr>
        <p:spPr/>
        <p:txBody>
          <a:bodyPr/>
          <a:lstStyle/>
          <a:p>
            <a:pPr>
              <a:defRPr/>
            </a:pPr>
            <a:fld id="{C8580F89-A3EA-CF4C-A13C-CD8A0A8D4F14}" type="slidenum">
              <a:rPr lang="en-US" smtClean="0"/>
              <a:pPr>
                <a:defRPr/>
              </a:pPr>
              <a:t>34</a:t>
            </a:fld>
            <a:endParaRPr lang="en-US" dirty="0"/>
          </a:p>
        </p:txBody>
      </p:sp>
      <p:sp>
        <p:nvSpPr>
          <p:cNvPr id="6" name="Title 1">
            <a:extLst>
              <a:ext uri="{FF2B5EF4-FFF2-40B4-BE49-F238E27FC236}">
                <a16:creationId xmlns:a16="http://schemas.microsoft.com/office/drawing/2014/main" id="{17BD148F-3719-DEEB-DD4F-55DA0A03F6B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485916249"/>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B774-9A96-DEBD-E2B7-288F734CEC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4C6CC4F-1AB0-4453-5BF9-83E8BD09E1A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1EB614-7AF4-D458-6BAB-E16F9AAB102C}"/>
              </a:ext>
            </a:extLst>
          </p:cNvPr>
          <p:cNvSpPr>
            <a:spLocks noGrp="1"/>
          </p:cNvSpPr>
          <p:nvPr>
            <p:ph type="title"/>
          </p:nvPr>
        </p:nvSpPr>
        <p:spPr/>
        <p:txBody>
          <a:bodyPr/>
          <a:lstStyle/>
          <a:p>
            <a:r>
              <a:rPr lang="en-US" dirty="0"/>
              <a:t>DL-STT SimSpect specification</a:t>
            </a:r>
          </a:p>
        </p:txBody>
      </p:sp>
      <p:sp>
        <p:nvSpPr>
          <p:cNvPr id="3" name="Content Placeholder 2">
            <a:extLst>
              <a:ext uri="{FF2B5EF4-FFF2-40B4-BE49-F238E27FC236}">
                <a16:creationId xmlns:a16="http://schemas.microsoft.com/office/drawing/2014/main" id="{01734047-C272-714E-1EAC-C34150EED2D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YROT untaint calculus — a. Any speculative access instruction is tainted. b. Other output is tainted if input is tainted. Untainted once YROT nonspeculative. YROT is youngest YROT of args if not AI, or else AI addr. (like DIFT)</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8863CF6-3F46-5F9A-E00A-961384C06CF5}"/>
              </a:ext>
            </a:extLst>
          </p:cNvPr>
          <p:cNvSpPr>
            <a:spLocks noGrp="1"/>
          </p:cNvSpPr>
          <p:nvPr>
            <p:ph type="sldNum" sz="quarter" idx="4"/>
          </p:nvPr>
        </p:nvSpPr>
        <p:spPr/>
        <p:txBody>
          <a:bodyPr/>
          <a:lstStyle/>
          <a:p>
            <a:pPr>
              <a:defRPr/>
            </a:pPr>
            <a:fld id="{C8580F89-A3EA-CF4C-A13C-CD8A0A8D4F14}" type="slidenum">
              <a:rPr lang="en-US" smtClean="0"/>
              <a:pPr>
                <a:defRPr/>
              </a:pPr>
              <a:t>35</a:t>
            </a:fld>
            <a:endParaRPr lang="en-US" dirty="0"/>
          </a:p>
        </p:txBody>
      </p:sp>
      <p:sp>
        <p:nvSpPr>
          <p:cNvPr id="8" name="Title 1">
            <a:extLst>
              <a:ext uri="{FF2B5EF4-FFF2-40B4-BE49-F238E27FC236}">
                <a16:creationId xmlns:a16="http://schemas.microsoft.com/office/drawing/2014/main" id="{756515E7-3AA6-B63F-B167-732C94CC05C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1772795"/>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CFCFA-B5BF-68D4-C886-E47B8F87D9A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314641-58EF-BA93-E3AC-63E15DFB49FD}"/>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56E8E5-14DB-8BE7-2B11-25B754299F0E}"/>
              </a:ext>
            </a:extLst>
          </p:cNvPr>
          <p:cNvSpPr>
            <a:spLocks noGrp="1"/>
          </p:cNvSpPr>
          <p:nvPr>
            <p:ph type="title"/>
          </p:nvPr>
        </p:nvSpPr>
        <p:spPr/>
        <p:txBody>
          <a:bodyPr/>
          <a:lstStyle/>
          <a:p>
            <a:r>
              <a:rPr lang="en-US" dirty="0"/>
              <a:t>DL-DoM SimSpect specification</a:t>
            </a:r>
          </a:p>
        </p:txBody>
      </p:sp>
      <p:sp>
        <p:nvSpPr>
          <p:cNvPr id="3" name="Content Placeholder 2">
            <a:extLst>
              <a:ext uri="{FF2B5EF4-FFF2-40B4-BE49-F238E27FC236}">
                <a16:creationId xmlns:a16="http://schemas.microsoft.com/office/drawing/2014/main" id="{8A1BA78C-DE8E-4142-FF02-A860A10F357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registers and memory</a:t>
            </a:r>
          </a:p>
          <a:p>
            <a:pPr>
              <a:buFont typeface="Arial" panose="020B0604020202020204" pitchFamily="34" charset="0"/>
              <a:buChar char="•"/>
            </a:pPr>
            <a:r>
              <a:rPr lang="en-US" b="1" dirty="0"/>
              <a:t>Leakage contract: </a:t>
            </a:r>
            <a:r>
              <a:rPr lang="en-US" dirty="0"/>
              <a:t>Protects against load-address transmission only</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D889512-D5B0-134F-A005-C4C827AD2AB8}"/>
              </a:ext>
            </a:extLst>
          </p:cNvPr>
          <p:cNvSpPr>
            <a:spLocks noGrp="1"/>
          </p:cNvSpPr>
          <p:nvPr>
            <p:ph type="sldNum" sz="quarter" idx="4"/>
          </p:nvPr>
        </p:nvSpPr>
        <p:spPr/>
        <p:txBody>
          <a:bodyPr/>
          <a:lstStyle/>
          <a:p>
            <a:pPr>
              <a:defRPr/>
            </a:pPr>
            <a:fld id="{C8580F89-A3EA-CF4C-A13C-CD8A0A8D4F14}" type="slidenum">
              <a:rPr lang="en-US" smtClean="0"/>
              <a:pPr>
                <a:defRPr/>
              </a:pPr>
              <a:t>36</a:t>
            </a:fld>
            <a:endParaRPr lang="en-US" dirty="0"/>
          </a:p>
        </p:txBody>
      </p:sp>
      <p:sp>
        <p:nvSpPr>
          <p:cNvPr id="6" name="Title 1">
            <a:extLst>
              <a:ext uri="{FF2B5EF4-FFF2-40B4-BE49-F238E27FC236}">
                <a16:creationId xmlns:a16="http://schemas.microsoft.com/office/drawing/2014/main" id="{0BD3EF4B-C07C-93C2-D53E-B246BA23079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5748351"/>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38CE-E9D8-C272-AE74-7736CC653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EE4BF-EB91-CAF6-EE85-314E667AF6C5}"/>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C4F8479-A3DE-7887-B7D9-49C9AEA315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Under construction</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A190861-9ADB-A09A-0672-D2E289D1A181}"/>
              </a:ext>
            </a:extLst>
          </p:cNvPr>
          <p:cNvSpPr>
            <a:spLocks noGrp="1"/>
          </p:cNvSpPr>
          <p:nvPr>
            <p:ph type="sldNum" sz="quarter" idx="4"/>
          </p:nvPr>
        </p:nvSpPr>
        <p:spPr/>
        <p:txBody>
          <a:bodyPr/>
          <a:lstStyle/>
          <a:p>
            <a:pPr>
              <a:defRPr/>
            </a:pPr>
            <a:fld id="{C8580F89-A3EA-CF4C-A13C-CD8A0A8D4F14}" type="slidenum">
              <a:rPr lang="en-US" smtClean="0"/>
              <a:pPr>
                <a:defRPr/>
              </a:pPr>
              <a:t>37</a:t>
            </a:fld>
            <a:endParaRPr lang="en-US" dirty="0"/>
          </a:p>
        </p:txBody>
      </p:sp>
      <p:sp>
        <p:nvSpPr>
          <p:cNvPr id="5" name="Title 1">
            <a:extLst>
              <a:ext uri="{FF2B5EF4-FFF2-40B4-BE49-F238E27FC236}">
                <a16:creationId xmlns:a16="http://schemas.microsoft.com/office/drawing/2014/main" id="{BFA41D05-E008-E645-484D-7560F9BA671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Protean</a:t>
            </a:r>
          </a:p>
        </p:txBody>
      </p:sp>
    </p:spTree>
    <p:extLst>
      <p:ext uri="{BB962C8B-B14F-4D97-AF65-F5344CB8AC3E}">
        <p14:creationId xmlns:p14="http://schemas.microsoft.com/office/powerpoint/2010/main" val="4288711921"/>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DB2B-4C26-7DF8-7C04-F30BF4029155}"/>
              </a:ext>
            </a:extLst>
          </p:cNvPr>
          <p:cNvSpPr>
            <a:spLocks noGrp="1"/>
          </p:cNvSpPr>
          <p:nvPr>
            <p:ph type="title"/>
          </p:nvPr>
        </p:nvSpPr>
        <p:spPr/>
        <p:txBody>
          <a:bodyPr/>
          <a:lstStyle/>
          <a:p>
            <a:r>
              <a:rPr lang="en-US" dirty="0"/>
              <a:t>Non-applicable defenses</a:t>
            </a:r>
          </a:p>
        </p:txBody>
      </p:sp>
      <p:sp>
        <p:nvSpPr>
          <p:cNvPr id="3" name="Content Placeholder 2">
            <a:extLst>
              <a:ext uri="{FF2B5EF4-FFF2-40B4-BE49-F238E27FC236}">
                <a16:creationId xmlns:a16="http://schemas.microsoft.com/office/drawing/2014/main" id="{73525325-C251-D3BA-44B2-52671AA4E0FD}"/>
              </a:ext>
            </a:extLst>
          </p:cNvPr>
          <p:cNvSpPr>
            <a:spLocks noGrp="1"/>
          </p:cNvSpPr>
          <p:nvPr>
            <p:ph sz="quarter" idx="10"/>
          </p:nvPr>
        </p:nvSpPr>
        <p:spPr/>
        <p:txBody>
          <a:bodyPr/>
          <a:lstStyle/>
          <a:p>
            <a:r>
              <a:rPr lang="en-US" dirty="0"/>
              <a:t>Todo</a:t>
            </a:r>
          </a:p>
        </p:txBody>
      </p:sp>
      <p:sp>
        <p:nvSpPr>
          <p:cNvPr id="4" name="Slide Number Placeholder 3">
            <a:extLst>
              <a:ext uri="{FF2B5EF4-FFF2-40B4-BE49-F238E27FC236}">
                <a16:creationId xmlns:a16="http://schemas.microsoft.com/office/drawing/2014/main" id="{25A1B41A-D12E-BCBD-6D49-6514D283B904}"/>
              </a:ext>
            </a:extLst>
          </p:cNvPr>
          <p:cNvSpPr>
            <a:spLocks noGrp="1"/>
          </p:cNvSpPr>
          <p:nvPr>
            <p:ph type="sldNum" sz="quarter" idx="4"/>
          </p:nvPr>
        </p:nvSpPr>
        <p:spPr/>
        <p:txBody>
          <a:bodyPr/>
          <a:lstStyle/>
          <a:p>
            <a:pPr>
              <a:defRPr/>
            </a:pPr>
            <a:fld id="{C8580F89-A3EA-CF4C-A13C-CD8A0A8D4F14}" type="slidenum">
              <a:rPr lang="en-US" smtClean="0"/>
              <a:pPr>
                <a:defRPr/>
              </a:pPr>
              <a:t>38</a:t>
            </a:fld>
            <a:endParaRPr lang="en-US" dirty="0"/>
          </a:p>
        </p:txBody>
      </p:sp>
    </p:spTree>
    <p:extLst>
      <p:ext uri="{BB962C8B-B14F-4D97-AF65-F5344CB8AC3E}">
        <p14:creationId xmlns:p14="http://schemas.microsoft.com/office/powerpoint/2010/main" val="3230990393"/>
      </p:ext>
    </p:extLst>
  </p:cSld>
  <p:clrMapOvr>
    <a:masterClrMapping/>
  </p:clrMapOvr>
  <p:transition spd="slow">
    <p:fade/>
  </p:transition>
</p:sld>
</file>

<file path=ppt/theme/theme1.xml><?xml version="1.0" encoding="utf-8"?>
<a:theme xmlns:a="http://schemas.openxmlformats.org/drawingml/2006/main" name="SU_Template_TopBar">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SU_Template_TopBar</Template>
  <TotalTime>14070</TotalTime>
  <Words>2875</Words>
  <Application>Microsoft Macintosh PowerPoint</Application>
  <PresentationFormat>On-screen Show (16:9)</PresentationFormat>
  <Paragraphs>408</Paragraphs>
  <Slides>38</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Source Sans Pro</vt:lpstr>
      <vt:lpstr>Source Sans Pro Semibold</vt:lpstr>
      <vt:lpstr>Wingdings</vt:lpstr>
      <vt:lpstr>SU_Template_TopBar</vt:lpstr>
      <vt:lpstr>SimSpect defense specification reference</vt:lpstr>
      <vt:lpstr>Contents</vt:lpstr>
      <vt:lpstr>Simple alloy model</vt:lpstr>
      <vt:lpstr>Notes:</vt:lpstr>
      <vt:lpstr>Goals</vt:lpstr>
      <vt:lpstr>Model</vt:lpstr>
      <vt:lpstr>Speculative Taint Tracking — MICRO ’19</vt:lpstr>
      <vt:lpstr>SimSpect specification</vt:lpstr>
      <vt:lpstr>Mechanisms to exercise</vt:lpstr>
      <vt:lpstr>Known bugs</vt:lpstr>
      <vt:lpstr>SpecShield — PACT ’19</vt:lpstr>
      <vt:lpstr>SpecShield-STL SimSpect specification</vt:lpstr>
      <vt:lpstr>SpecShield-ERP SimSpect specification</vt:lpstr>
      <vt:lpstr>SpecShield-ERP+ SimSpect specification</vt:lpstr>
      <vt:lpstr>Non-speculative Data Access — MICRO ’19</vt:lpstr>
      <vt:lpstr>NDA-S SimSpect specification</vt:lpstr>
      <vt:lpstr>NDA-P SimSpect specification</vt:lpstr>
      <vt:lpstr>Delay-on-Miss — ISCA ’19</vt:lpstr>
      <vt:lpstr>SimSpect specification</vt:lpstr>
      <vt:lpstr>Speculative Data-Oblivious Execution — ISCA ’20</vt:lpstr>
      <vt:lpstr>SimSpect specification</vt:lpstr>
      <vt:lpstr>Speculative Privacy Tracking — MICRO ’21</vt:lpstr>
      <vt:lpstr>SimSpect specification</vt:lpstr>
      <vt:lpstr>Mechanisms to exercise</vt:lpstr>
      <vt:lpstr>Known bugs</vt:lpstr>
      <vt:lpstr>RevealConceal — Micro ’23</vt:lpstr>
      <vt:lpstr>ReCon-STT SimSpect specification</vt:lpstr>
      <vt:lpstr>ReCon-NDA SimSpect specification</vt:lpstr>
      <vt:lpstr>Known bugs</vt:lpstr>
      <vt:lpstr>STT load order bug</vt:lpstr>
      <vt:lpstr>Known bug in memory unprotection</vt:lpstr>
      <vt:lpstr>Secondary STT bug</vt:lpstr>
      <vt:lpstr>Doppelganger Loads — ISCA ’23</vt:lpstr>
      <vt:lpstr>DL-NDA SimSpect specification</vt:lpstr>
      <vt:lpstr>DL-STT SimSpect specification</vt:lpstr>
      <vt:lpstr>DL-DoM SimSpect specification</vt:lpstr>
      <vt:lpstr>Mechanisms to exercise</vt:lpstr>
      <vt:lpstr>Non-applicable defenses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Eaton</dc:creator>
  <dc:description>2012 PowerPoint template redesign</dc:description>
  <cp:lastModifiedBy>Anna Eaton</cp:lastModifiedBy>
  <cp:revision>19</cp:revision>
  <dcterms:created xsi:type="dcterms:W3CDTF">2025-03-12T09:15:11Z</dcterms:created>
  <dcterms:modified xsi:type="dcterms:W3CDTF">2025-11-21T20:48:09Z</dcterms:modified>
</cp:coreProperties>
</file>